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40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70" r:id="rId13"/>
  </p:sldIdLst>
  <p:sldSz cx="14630400" cy="8229600"/>
  <p:notesSz cx="8229600" cy="14630400"/>
  <p:embeddedFontLst>
    <p:embeddedFont>
      <p:font typeface="Platypi Medium" panose="020B0604020202020204" charset="0"/>
      <p:regular r:id="rId15"/>
    </p:embeddedFont>
    <p:embeddedFont>
      <p:font typeface="Source Serif 4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45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0BA5-4BE2-2772-33CE-E0BB54AD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3B140-C19B-7CD3-8C5B-A5F27F3AC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B4DB5-AA34-1796-7A24-3C1AE85C7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E3D64-E323-874C-1153-3628258A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17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4AF3-D347-1368-8241-4CC51D79C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46F6F-867B-ED4C-B863-EC11ED90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FC13-4ED7-1CB0-3E01-5A4828C1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B08B2-B9A5-5D22-4B46-8C156B7E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BC6D-F878-0C10-DF25-E0995D04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827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17337-60AF-34F1-2137-973CF01B9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F711-5B9C-6BBF-1F36-EAE69A2D7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7BFD-F446-2B8C-844F-22925F8B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8227-246C-AD35-62F3-F1CBB95A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AF1FB-D05B-1FCD-C6B9-57F254A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618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C035-D4EB-F111-DE49-1A02643E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18AB5-8524-A7E1-A0B6-37F9A1ADC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D2471-779B-AFF9-6343-A0DB15B6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887E6-C88E-2BB8-6E86-36024048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C1BF-A1CC-151D-F01E-35C24774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6210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DDD4-AA64-E9E8-0BFE-6C9214DD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60F8-A3E2-26FE-EBFF-B0925FE3B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B2073-2BAE-5A82-3B18-84C3707BD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33F8-4804-6758-EA62-99A07E0B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5965B-08BB-C93A-35B6-9BC36008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DC5F1-9404-9DC1-0877-6DB0CBD6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15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39FF-F144-4D36-404A-12EDB40A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7F21-CFA1-7055-7D41-26519704E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C576F-439C-F568-09D0-AB9B39B27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F3626-C0F9-3CE0-4E2A-18E4F3D9E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C8D10-C2DC-CE4B-10DB-1E0DF8086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BD6A0-8CD1-6D6A-7D50-27914127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17205-D154-FACC-37D2-2B76DD81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BDA2-C6BC-43D5-D558-4B7B7263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996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43C2-E27E-048B-893B-B8F86306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57B38-D07D-3579-27E5-61E169F7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BB575-8C78-7294-51B6-7ACECD07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54E40-CB6A-B901-57F1-67550401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625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935A2-15DD-9655-BCFD-F32349C7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7F721-66AF-DB51-DD72-4904151A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47743-7B66-11DC-4999-E962D20E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217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8257-8353-609F-859D-EA0A90FF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093B-1300-89B3-DCAA-AC0EB690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25572-58C1-7685-D60F-432B75928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5576F-E850-0F93-6674-21B3526D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561F3-5045-762A-4AC7-49593C95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32803-D92C-B0F3-0607-8DC2E74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2167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6A95-46A1-FDCB-E0B6-849F75DE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65924-44BB-1636-2CF2-BA77DAE23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3F96E-B2D5-E35D-BAD1-ABD256281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8DED3-544F-EABE-FDDF-55EA59F9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160C9-2EFA-414F-0F47-D8DAEF85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FAC1B-8BDE-C43E-5054-F97A7C7F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1847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44DD-20FE-10B5-8F4D-AFC6C0AF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71B2A-7380-D292-F8C2-EC42E4A9B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8D4B5-714C-E3CB-50B8-30F76A33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53DDC-B32C-1EDA-357D-652CE037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6A22D-BABA-E16C-1524-4B01966C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2403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24282-488F-D176-52BD-4DB5EC9A6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FD1E-BAEA-496C-2C6D-704142030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4D4F8-6F06-055D-5E41-0947A23E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92B0A-D2BB-4757-5F31-7DDD22C8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73C95-4428-148E-60CA-C7053B40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034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569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436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391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572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122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273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15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16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51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0F814-2991-31EE-3CAD-03000A5B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6149-3EFC-3469-A735-23452885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726FC-558D-51F6-FB9B-96552D29E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079CF-5213-032C-611C-6A69995F3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C9FA-F502-2B18-2810-AEF4DFF8D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07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  <p:sldLayoutId id="2147483958" r:id="rId18"/>
    <p:sldLayoutId id="2147483959" r:id="rId19"/>
    <p:sldLayoutId id="2147483960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7EBC4C0-DCE8-4FF2-B856-81E78436B350}"/>
              </a:ext>
            </a:extLst>
          </p:cNvPr>
          <p:cNvGrpSpPr/>
          <p:nvPr/>
        </p:nvGrpSpPr>
        <p:grpSpPr>
          <a:xfrm>
            <a:off x="558880" y="2933700"/>
            <a:ext cx="8096129" cy="2286000"/>
            <a:chOff x="558880" y="2933700"/>
            <a:chExt cx="8096129" cy="2286000"/>
          </a:xfrm>
        </p:grpSpPr>
        <p:sp>
          <p:nvSpPr>
            <p:cNvPr id="3" name="Text 0"/>
            <p:cNvSpPr/>
            <p:nvPr/>
          </p:nvSpPr>
          <p:spPr>
            <a:xfrm>
              <a:off x="558880" y="2933700"/>
              <a:ext cx="7861220" cy="895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550"/>
                </a:lnSpc>
                <a:buNone/>
              </a:pPr>
              <a:r>
                <a:rPr lang="en-US" sz="660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AIRFLY INSIGHTS</a:t>
              </a:r>
              <a:endParaRPr lang="en-US" sz="660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793790" y="4094917"/>
              <a:ext cx="7861219" cy="11247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8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Data Visualization and Analysis of Airline Operations</a:t>
              </a:r>
              <a:endParaRPr lang="en-US" sz="28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6F2B81-0B6A-3096-CF5B-6AE5C9837CB4}"/>
              </a:ext>
            </a:extLst>
          </p:cNvPr>
          <p:cNvGrpSpPr/>
          <p:nvPr/>
        </p:nvGrpSpPr>
        <p:grpSpPr>
          <a:xfrm>
            <a:off x="1810107" y="641350"/>
            <a:ext cx="11067693" cy="6045200"/>
            <a:chOff x="1810107" y="641350"/>
            <a:chExt cx="11067693" cy="6045200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A96955DC-4DCF-53F6-B8FB-B297D77E6889}"/>
                </a:ext>
              </a:extLst>
            </p:cNvPr>
            <p:cNvSpPr txBox="1">
              <a:spLocks/>
            </p:cNvSpPr>
            <p:nvPr/>
          </p:nvSpPr>
          <p:spPr>
            <a:xfrm>
              <a:off x="2513330" y="641350"/>
              <a:ext cx="6637020" cy="84875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6000" b="1"/>
                <a:t>Table of Content</a:t>
              </a:r>
              <a:endParaRPr lang="en-IN" sz="6000" b="1" dirty="0"/>
            </a:p>
          </p:txBody>
        </p:sp>
        <p:sp>
          <p:nvSpPr>
            <p:cNvPr id="6" name="Shape 14">
              <a:extLst>
                <a:ext uri="{FF2B5EF4-FFF2-40B4-BE49-F238E27FC236}">
                  <a16:creationId xmlns:a16="http://schemas.microsoft.com/office/drawing/2014/main" id="{AAD179AF-7683-B546-B6FE-6A77DC506FAC}"/>
                </a:ext>
              </a:extLst>
            </p:cNvPr>
            <p:cNvSpPr/>
            <p:nvPr/>
          </p:nvSpPr>
          <p:spPr>
            <a:xfrm>
              <a:off x="1810107" y="1864995"/>
              <a:ext cx="11067693" cy="4821555"/>
            </a:xfrm>
            <a:prstGeom prst="roundRect">
              <a:avLst>
                <a:gd name="adj" fmla="val 1210"/>
              </a:avLst>
            </a:prstGeom>
            <a:solidFill>
              <a:srgbClr val="F9F7F7"/>
            </a:solidFill>
            <a:ln/>
          </p:spPr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DBC20F7E-4A55-536B-4BC1-C8B3C6399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939" y="2169555"/>
              <a:ext cx="4069080" cy="3890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Project Overview </a:t>
              </a:r>
            </a:p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Business Objective </a:t>
              </a:r>
            </a:p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Dataset &amp; Workflow </a:t>
              </a:r>
            </a:p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Data Preparation </a:t>
              </a:r>
            </a:p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EDA &amp; Delay Analysis </a:t>
              </a:r>
            </a:p>
            <a:p>
              <a:pPr marL="0"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800" dirty="0">
                  <a:latin typeface="Arial" panose="020B0604020202020204" pitchFamily="34" charset="0"/>
                </a:rPr>
                <a:t>Route &amp; Airport Insights</a:t>
              </a:r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F7C29026-1981-D172-C759-B4B135C3C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7311" y="2169554"/>
              <a:ext cx="5772150" cy="3890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indent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defRPr sz="2800"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en-US" altLang="en-US" dirty="0"/>
                <a:t>Seasonal and Cancellation Trends</a:t>
              </a:r>
            </a:p>
            <a:p>
              <a:r>
                <a:rPr lang="en-US" altLang="en-US" dirty="0"/>
                <a:t>Dashboard Overview </a:t>
              </a:r>
            </a:p>
            <a:p>
              <a:r>
                <a:rPr lang="en-US" altLang="en-US" dirty="0"/>
                <a:t>Key Insights </a:t>
              </a:r>
            </a:p>
            <a:p>
              <a:r>
                <a:rPr lang="en-US" altLang="en-US" dirty="0"/>
                <a:t>Recommendations &amp; Future Scope </a:t>
              </a:r>
            </a:p>
            <a:p>
              <a:r>
                <a:rPr lang="en-US" altLang="en-US" dirty="0"/>
                <a:t>Conclusion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461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7C4CEA6-94F2-8F2A-5931-FD9AA65473A8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55F71EC5-79B6-00CF-DF38-3C6F4CA01C1E}"/>
              </a:ext>
            </a:extLst>
          </p:cNvPr>
          <p:cNvSpPr txBox="1">
            <a:spLocks/>
          </p:cNvSpPr>
          <p:nvPr/>
        </p:nvSpPr>
        <p:spPr>
          <a:xfrm>
            <a:off x="594598" y="616596"/>
            <a:ext cx="4629149" cy="77280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000" b="1" dirty="0"/>
              <a:t>Project Overview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EBDD7220-945F-DF97-5F19-1E0424DF0AA1}"/>
              </a:ext>
            </a:extLst>
          </p:cNvPr>
          <p:cNvSpPr/>
          <p:nvPr/>
        </p:nvSpPr>
        <p:spPr>
          <a:xfrm>
            <a:off x="1222286" y="4972164"/>
            <a:ext cx="12461577" cy="184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D4E5A7-AD4B-C040-F092-07222F6BC5B3}"/>
              </a:ext>
            </a:extLst>
          </p:cNvPr>
          <p:cNvSpPr txBox="1"/>
          <p:nvPr/>
        </p:nvSpPr>
        <p:spPr>
          <a:xfrm>
            <a:off x="170659" y="3644247"/>
            <a:ext cx="6558953" cy="6883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Business  Objectives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D1360047-FF20-9A03-DBA9-54CA3E22B5E7}"/>
              </a:ext>
            </a:extLst>
          </p:cNvPr>
          <p:cNvSpPr/>
          <p:nvPr/>
        </p:nvSpPr>
        <p:spPr>
          <a:xfrm>
            <a:off x="947983" y="1790509"/>
            <a:ext cx="12071729" cy="1280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 dirty="0"/>
              <a:t>The project objective is to analyze large-scale airline flight data to uncover operational trends, delay patterns, route congestion, and cancellation reasons using data visualization and business intelligence techniques.</a:t>
            </a:r>
            <a:endParaRPr lang="en-IN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3592BD-F78F-318A-42E3-359821CCBE58}"/>
              </a:ext>
            </a:extLst>
          </p:cNvPr>
          <p:cNvSpPr txBox="1"/>
          <p:nvPr/>
        </p:nvSpPr>
        <p:spPr>
          <a:xfrm>
            <a:off x="775477" y="4499908"/>
            <a:ext cx="122442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airline industry produces a large amount of flight data every day, such as schedules, delays, cancellations, and airport traffic details.</a:t>
            </a:r>
            <a:br>
              <a:rPr lang="en-US" sz="2400" dirty="0"/>
            </a:br>
            <a:r>
              <a:rPr lang="en-US" sz="2400" dirty="0"/>
              <a:t>Without proper analysis, it becomes difficult to understand delay patterns, airport congestion, and seasonal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main objective of this project is to analyze this raw flight data and convert it into meaningful insights that can help improve </a:t>
            </a:r>
            <a:r>
              <a:rPr lang="en-US" sz="2400" b="1" dirty="0"/>
              <a:t>on-time performance, reduce cancellations, optimize routes, and improve passenger experience</a:t>
            </a:r>
            <a:r>
              <a:rPr lang="en-US" sz="2400" dirty="0"/>
              <a:t>.</a:t>
            </a:r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0E7ED44-0E43-66FA-E8CF-838F7FA6CB07}"/>
              </a:ext>
            </a:extLst>
          </p:cNvPr>
          <p:cNvGrpSpPr/>
          <p:nvPr/>
        </p:nvGrpSpPr>
        <p:grpSpPr>
          <a:xfrm>
            <a:off x="793790" y="729496"/>
            <a:ext cx="13042821" cy="6873359"/>
            <a:chOff x="793790" y="729496"/>
            <a:chExt cx="13042821" cy="6873359"/>
          </a:xfrm>
        </p:grpSpPr>
        <p:sp>
          <p:nvSpPr>
            <p:cNvPr id="2" name="Text 0"/>
            <p:cNvSpPr/>
            <p:nvPr/>
          </p:nvSpPr>
          <p:spPr>
            <a:xfrm>
              <a:off x="793790" y="729496"/>
              <a:ext cx="4536519" cy="5669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355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Dataset Overview</a:t>
              </a:r>
              <a:endParaRPr lang="en-US" sz="35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1216462" y="1677472"/>
              <a:ext cx="3381256" cy="5987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700"/>
                </a:lnSpc>
                <a:buNone/>
              </a:pPr>
              <a:r>
                <a:rPr lang="en-US" sz="47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5.8M</a:t>
              </a:r>
              <a:endParaRPr lang="en-US" sz="47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772960" y="2475786"/>
              <a:ext cx="2268260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Flight Records</a:t>
              </a:r>
              <a:endParaRPr lang="en-US" sz="17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2846308"/>
              <a:ext cx="4226600" cy="5224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050"/>
                </a:lnSpc>
                <a:buNone/>
              </a:pP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2015 U.S. Airlines Flights dataset with 31 operational features per record</a:t>
              </a:r>
              <a:endParaRPr lang="en-US" sz="1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624512" y="1677472"/>
              <a:ext cx="3381256" cy="5987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700"/>
                </a:lnSpc>
                <a:buNone/>
              </a:pPr>
              <a:r>
                <a:rPr lang="en-US" sz="47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2.4GB</a:t>
              </a:r>
              <a:endParaRPr lang="en-US" sz="47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181011" y="2475786"/>
              <a:ext cx="2268260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Raw Data Size</a:t>
              </a:r>
              <a:endParaRPr lang="en-US" sz="17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01841" y="2846308"/>
              <a:ext cx="4226600" cy="5224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050"/>
                </a:lnSpc>
                <a:buNone/>
              </a:pP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Original memory footprint before preprocessing and optimization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32563" y="1677472"/>
              <a:ext cx="3381375" cy="5987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700"/>
                </a:lnSpc>
                <a:buNone/>
              </a:pPr>
              <a:r>
                <a:rPr lang="en-US" sz="47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745MB</a:t>
              </a:r>
              <a:endParaRPr lang="en-US" sz="47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589062" y="2475786"/>
              <a:ext cx="2268260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Optimized Size</a:t>
              </a:r>
              <a:endParaRPr lang="en-US" sz="17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609892" y="2846308"/>
              <a:ext cx="4226719" cy="5224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050"/>
                </a:lnSpc>
                <a:buNone/>
              </a:pP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Final analytical dataset after cleaning, feature engineering, and datatype tuning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11888" y="3655100"/>
              <a:ext cx="3229332" cy="431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201B18"/>
                  </a:solidFill>
                  <a:latin typeface="Platypi Medium" pitchFamily="34" charset="0"/>
                  <a:cs typeface="Platypi Medium" pitchFamily="34" charset="-120"/>
                </a:rPr>
                <a:t>Key Features</a:t>
              </a:r>
              <a:endParaRPr lang="en-US" sz="17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93790" y="4086343"/>
              <a:ext cx="13042821" cy="3516512"/>
            </a:xfrm>
            <a:prstGeom prst="roundRect">
              <a:avLst>
                <a:gd name="adj" fmla="val 1369"/>
              </a:avLst>
            </a:prstGeom>
            <a:solidFill>
              <a:srgbClr val="F9F7F7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1027390" y="4114800"/>
              <a:ext cx="11164610" cy="33853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AIRLINE </a:t>
              </a:r>
              <a:endParaRPr lang="en-US" dirty="0"/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ORIGIN_AIRPORT &amp; DESTINATION_AIRPORT (airports)</a:t>
              </a:r>
              <a:endParaRPr lang="en-US" dirty="0"/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FLIGHT_NUMBER, TAIL_NUMBER</a:t>
              </a:r>
              <a:endParaRPr lang="en-US" dirty="0"/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DISTANCE (miles)</a:t>
              </a:r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DEPARTURE_DELAY &amp; ARRIVAL_DELAY (minutes)</a:t>
              </a:r>
              <a:endParaRPr lang="en-US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LATE_AIRCRAFT_DELAY, AIR_SYSTEM_DELAY, WEATHER_DELAY, SECURITY_DELAY</a:t>
              </a:r>
              <a:endParaRPr lang="en-US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CANCELLATION_REASON (Weather, Carrier, NAS, Security)</a:t>
              </a:r>
              <a:endParaRPr lang="en-US" dirty="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ARR_STATUS (Early, On-Time, Delayed, Cancelled, Diverted)</a:t>
              </a:r>
              <a:endParaRPr lang="en-US" dirty="0"/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endParaRPr lang="en-US" dirty="0"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19497B41-7651-33FE-317C-4838AC545015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792" y="346645"/>
            <a:ext cx="9808364" cy="792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Workflow: Milestone Overview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625768" y="1585917"/>
            <a:ext cx="2348951" cy="362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019107" y="1529857"/>
            <a:ext cx="3781743" cy="7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40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Data Foundation and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Cleaning</a:t>
            </a:r>
          </a:p>
        </p:txBody>
      </p:sp>
      <p:sp>
        <p:nvSpPr>
          <p:cNvPr id="7" name="Text 3"/>
          <p:cNvSpPr/>
          <p:nvPr/>
        </p:nvSpPr>
        <p:spPr>
          <a:xfrm>
            <a:off x="3085128" y="2902685"/>
            <a:ext cx="4020522" cy="72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 Exploration and Delay Analysis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9691" y="5093815"/>
            <a:ext cx="520286" cy="5202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91506" y="4490484"/>
            <a:ext cx="4123693" cy="7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Route</a:t>
            </a: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,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Cancellation</a:t>
            </a: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 and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Seasonal</a:t>
            </a: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Insights</a:t>
            </a:r>
          </a:p>
        </p:txBody>
      </p:sp>
      <p:sp>
        <p:nvSpPr>
          <p:cNvPr id="13" name="Text 7"/>
          <p:cNvSpPr/>
          <p:nvPr/>
        </p:nvSpPr>
        <p:spPr>
          <a:xfrm>
            <a:off x="3191506" y="6102088"/>
            <a:ext cx="3914143" cy="520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Report</a:t>
            </a:r>
            <a:r>
              <a:rPr lang="en-US" sz="2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and</a:t>
            </a:r>
            <a:r>
              <a:rPr lang="en-US" sz="2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en-US" sz="24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Dashboard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0156" y="5093815"/>
            <a:ext cx="520286" cy="520286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2C3AE75B-013C-8CE9-9987-25F90DFA01AB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1017057A-276D-7E8B-93B3-D6111438D998}"/>
              </a:ext>
            </a:extLst>
          </p:cNvPr>
          <p:cNvSpPr/>
          <p:nvPr/>
        </p:nvSpPr>
        <p:spPr>
          <a:xfrm rot="5400000">
            <a:off x="1230148" y="1164223"/>
            <a:ext cx="1502721" cy="1567815"/>
          </a:xfrm>
          <a:prstGeom prst="chevron">
            <a:avLst>
              <a:gd name="adj" fmla="val 260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527C6078-207D-04E2-BF77-4973C1A8E5A9}"/>
              </a:ext>
            </a:extLst>
          </p:cNvPr>
          <p:cNvSpPr/>
          <p:nvPr/>
        </p:nvSpPr>
        <p:spPr>
          <a:xfrm rot="5400000">
            <a:off x="1230147" y="2600682"/>
            <a:ext cx="1502721" cy="1567815"/>
          </a:xfrm>
          <a:prstGeom prst="chevron">
            <a:avLst>
              <a:gd name="adj" fmla="val 260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CAEC3EDD-898A-4276-B2C3-50CAB907AFB1}"/>
              </a:ext>
            </a:extLst>
          </p:cNvPr>
          <p:cNvSpPr/>
          <p:nvPr/>
        </p:nvSpPr>
        <p:spPr>
          <a:xfrm rot="5400000">
            <a:off x="1230149" y="4161238"/>
            <a:ext cx="1502721" cy="1567815"/>
          </a:xfrm>
          <a:prstGeom prst="chevron">
            <a:avLst>
              <a:gd name="adj" fmla="val 260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BB9990D2-2FDD-C10A-501A-74075571FF77}"/>
              </a:ext>
            </a:extLst>
          </p:cNvPr>
          <p:cNvSpPr/>
          <p:nvPr/>
        </p:nvSpPr>
        <p:spPr>
          <a:xfrm rot="5400000">
            <a:off x="1261322" y="5721794"/>
            <a:ext cx="1502721" cy="1567815"/>
          </a:xfrm>
          <a:prstGeom prst="chevron">
            <a:avLst>
              <a:gd name="adj" fmla="val 260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38D61B6-1535-F915-7C32-277B4B67FBA8}"/>
              </a:ext>
            </a:extLst>
          </p:cNvPr>
          <p:cNvGrpSpPr/>
          <p:nvPr/>
        </p:nvGrpSpPr>
        <p:grpSpPr>
          <a:xfrm>
            <a:off x="732354" y="759143"/>
            <a:ext cx="13111876" cy="5937051"/>
            <a:chOff x="732354" y="759143"/>
            <a:chExt cx="13111876" cy="5937051"/>
          </a:xfrm>
        </p:grpSpPr>
        <p:sp>
          <p:nvSpPr>
            <p:cNvPr id="4" name="Text 2"/>
            <p:cNvSpPr/>
            <p:nvPr/>
          </p:nvSpPr>
          <p:spPr>
            <a:xfrm>
              <a:off x="732354" y="759143"/>
              <a:ext cx="8583096" cy="716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700"/>
                </a:lnSpc>
                <a:buNone/>
              </a:pPr>
              <a:r>
                <a:rPr lang="en-US" sz="480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Data Foundation &amp; Cleaning</a:t>
              </a:r>
              <a:endParaRPr lang="en-US" sz="48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2373630"/>
              <a:ext cx="3618786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800" dirty="0"/>
                <a:t>Data </a:t>
              </a:r>
              <a:r>
                <a:rPr lang="en-US" sz="2800" dirty="0" err="1"/>
                <a:t>Aquisition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2838688"/>
              <a:ext cx="6286262" cy="1598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Load CSVs using pandas (5.8M records)</a:t>
              </a:r>
              <a:endParaRPr lang="en-US" sz="1500" dirty="0"/>
            </a:p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Explore schema, column types, memory size, and null distribution</a:t>
              </a:r>
            </a:p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 err="1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</a:rPr>
                <a:t>Overiewed</a:t>
              </a: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</a:rPr>
                <a:t> the Statistical summary </a:t>
              </a:r>
              <a:endParaRPr lang="en-US" sz="1500" dirty="0"/>
            </a:p>
            <a:p>
              <a:pPr algn="l">
                <a:lnSpc>
                  <a:spcPts val="2200"/>
                </a:lnSpc>
                <a:buSzPct val="100000"/>
              </a:pP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32354" y="4698206"/>
              <a:ext cx="560653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350"/>
                </a:lnSpc>
              </a:pPr>
              <a:r>
                <a:rPr lang="en-US" sz="2800" dirty="0"/>
                <a:t>Preprocessing &amp; Feature Engineering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732354" y="5383292"/>
              <a:ext cx="6286262" cy="13129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Handle nulls in delay and cancellation columns</a:t>
              </a:r>
              <a:endParaRPr lang="en-US" sz="1500" dirty="0"/>
            </a:p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Derive new features: Month, Day of Week, Hour, Route</a:t>
              </a:r>
              <a:endParaRPr lang="en-US" sz="1500" dirty="0"/>
            </a:p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Reformat datetime columns (HHMM → usable format)</a:t>
              </a:r>
              <a:endParaRPr lang="en-US" sz="1500" dirty="0"/>
            </a:p>
            <a:p>
              <a:pPr marL="342900" indent="-342900" algn="l">
                <a:lnSpc>
                  <a:spcPts val="2200"/>
                </a:lnSpc>
                <a:buSzPct val="100000"/>
                <a:buChar char="•"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Optimize data types (category, int8, int32, float32)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557968" y="2373630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350"/>
                </a:lnSpc>
              </a:pPr>
              <a:r>
                <a:rPr lang="en-US" sz="2800" dirty="0"/>
                <a:t>Key Achievements</a:t>
              </a:r>
            </a:p>
          </p:txBody>
        </p:sp>
        <p:sp>
          <p:nvSpPr>
            <p:cNvPr id="12" name="Shape 10"/>
            <p:cNvSpPr/>
            <p:nvPr/>
          </p:nvSpPr>
          <p:spPr>
            <a:xfrm>
              <a:off x="7557968" y="2859167"/>
              <a:ext cx="3061216" cy="1421130"/>
            </a:xfrm>
            <a:prstGeom prst="roundRect">
              <a:avLst>
                <a:gd name="adj" fmla="val 2035"/>
              </a:avLst>
            </a:prstGeom>
            <a:solidFill>
              <a:srgbClr val="F9F7F7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750731" y="3051929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69% Size Reduction</a:t>
              </a:r>
              <a:endParaRPr lang="en-US" sz="1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50731" y="3516987"/>
              <a:ext cx="2675692" cy="570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From 2.4 GB raw to 745.2 MB optimized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0783014" y="2859167"/>
              <a:ext cx="3061216" cy="1421130"/>
            </a:xfrm>
            <a:prstGeom prst="roundRect">
              <a:avLst>
                <a:gd name="adj" fmla="val 2035"/>
              </a:avLst>
            </a:prstGeom>
            <a:solidFill>
              <a:srgbClr val="F9F7F7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975777" y="3051929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Add New Features</a:t>
              </a:r>
              <a:endParaRPr lang="en-US" sz="1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0975777" y="3516987"/>
              <a:ext cx="2675692" cy="570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Arrival Status,  Routes, Part of Day, </a:t>
              </a:r>
              <a:r>
                <a:rPr lang="en-US" sz="1500" dirty="0" err="1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etc</a:t>
              </a: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</a:t>
              </a:r>
              <a:endParaRPr lang="en-US" sz="15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557968" y="4444127"/>
              <a:ext cx="3061216" cy="1421130"/>
            </a:xfrm>
            <a:prstGeom prst="roundRect">
              <a:avLst>
                <a:gd name="adj" fmla="val 2035"/>
              </a:avLst>
            </a:prstGeom>
            <a:solidFill>
              <a:srgbClr val="F9F7F7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750731" y="4636889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Zero Nulls</a:t>
              </a:r>
              <a:endParaRPr lang="en-US" sz="18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750731" y="5101947"/>
              <a:ext cx="2675692" cy="570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Clean final dataset with no missing values</a:t>
              </a:r>
              <a:endParaRPr lang="en-US" sz="15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0783014" y="4444127"/>
              <a:ext cx="3061216" cy="1421130"/>
            </a:xfrm>
            <a:prstGeom prst="roundRect">
              <a:avLst>
                <a:gd name="adj" fmla="val 2035"/>
              </a:avLst>
            </a:prstGeom>
            <a:solidFill>
              <a:srgbClr val="F9F7F7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10975777" y="4636889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35 Columns</a:t>
              </a:r>
              <a:endParaRPr lang="en-US" sz="18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0975777" y="5101947"/>
              <a:ext cx="2675692" cy="570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5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All optimized and ready for downstream analysis</a:t>
              </a:r>
              <a:endParaRPr lang="en-US" sz="1500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AEDE968-8818-3430-A96A-1E5B1978E8EB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4C083491-A767-5020-058C-C890C70F1907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0C3793-49DB-2233-929C-DD8D8317D9E7}"/>
              </a:ext>
            </a:extLst>
          </p:cNvPr>
          <p:cNvGrpSpPr/>
          <p:nvPr/>
        </p:nvGrpSpPr>
        <p:grpSpPr>
          <a:xfrm>
            <a:off x="610910" y="534711"/>
            <a:ext cx="13806130" cy="6848952"/>
            <a:chOff x="610910" y="534711"/>
            <a:chExt cx="13806130" cy="6848952"/>
          </a:xfrm>
        </p:grpSpPr>
        <p:sp>
          <p:nvSpPr>
            <p:cNvPr id="4" name="Text 2"/>
            <p:cNvSpPr/>
            <p:nvPr/>
          </p:nvSpPr>
          <p:spPr>
            <a:xfrm>
              <a:off x="610910" y="534711"/>
              <a:ext cx="13806130" cy="6267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440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EDA(Univariate and Bivariate)&amp; Delay Analysis</a:t>
              </a:r>
              <a:endParaRPr lang="en-US" sz="4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44157" y="1990368"/>
              <a:ext cx="2268260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000" b="1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Key Insights</a:t>
              </a:r>
              <a:endParaRPr lang="en-US" sz="2000" b="1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6217EE-2A58-E4E6-B730-FB1CEF7E540F}"/>
                </a:ext>
              </a:extLst>
            </p:cNvPr>
            <p:cNvGrpSpPr/>
            <p:nvPr/>
          </p:nvGrpSpPr>
          <p:grpSpPr>
            <a:xfrm>
              <a:off x="7521297" y="2437089"/>
              <a:ext cx="6465671" cy="2069073"/>
              <a:chOff x="7521297" y="2437090"/>
              <a:chExt cx="6322933" cy="1359694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7544157" y="2437090"/>
                <a:ext cx="6300073" cy="1359694"/>
              </a:xfrm>
              <a:prstGeom prst="roundRect">
                <a:avLst>
                  <a:gd name="adj" fmla="val 8070"/>
                </a:avLst>
              </a:prstGeom>
              <a:solidFill>
                <a:srgbClr val="FFFFFF"/>
              </a:solidFill>
              <a:ln w="22860">
                <a:solidFill>
                  <a:srgbClr val="D8D4D4"/>
                </a:solidFill>
                <a:prstDash val="solid"/>
              </a:ln>
            </p:spPr>
          </p:sp>
          <p:sp>
            <p:nvSpPr>
              <p:cNvPr id="11" name="Shape 9"/>
              <p:cNvSpPr/>
              <p:nvPr/>
            </p:nvSpPr>
            <p:spPr>
              <a:xfrm>
                <a:off x="7521297" y="2437090"/>
                <a:ext cx="91440" cy="1359694"/>
              </a:xfrm>
              <a:prstGeom prst="roundRect">
                <a:avLst>
                  <a:gd name="adj" fmla="val 29767"/>
                </a:avLst>
              </a:prstGeom>
              <a:solidFill>
                <a:srgbClr val="3E2513"/>
              </a:solidFill>
              <a:ln/>
            </p:spPr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95438FA-6891-A73E-8889-C8F80E5BAF1D}"/>
                </a:ext>
              </a:extLst>
            </p:cNvPr>
            <p:cNvGrpSpPr/>
            <p:nvPr/>
          </p:nvGrpSpPr>
          <p:grpSpPr>
            <a:xfrm>
              <a:off x="7614801" y="4725356"/>
              <a:ext cx="6372167" cy="2658307"/>
              <a:chOff x="7513975" y="4063542"/>
              <a:chExt cx="6208633" cy="2820829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DBA8998-12D9-C265-212B-1C1953F55DF2}"/>
                  </a:ext>
                </a:extLst>
              </p:cNvPr>
              <p:cNvGrpSpPr/>
              <p:nvPr/>
            </p:nvGrpSpPr>
            <p:grpSpPr>
              <a:xfrm>
                <a:off x="7513975" y="4063542"/>
                <a:ext cx="6208633" cy="2820829"/>
                <a:chOff x="7521297" y="3941921"/>
                <a:chExt cx="6300073" cy="1098471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7521297" y="3941921"/>
                  <a:ext cx="6300073" cy="1098471"/>
                </a:xfrm>
                <a:prstGeom prst="roundRect">
                  <a:avLst>
                    <a:gd name="adj" fmla="val 9989"/>
                  </a:avLst>
                </a:prstGeom>
                <a:solidFill>
                  <a:srgbClr val="FFFFFF"/>
                </a:solidFill>
                <a:ln w="22860">
                  <a:solidFill>
                    <a:srgbClr val="D8D4D4"/>
                  </a:solidFill>
                  <a:prstDash val="solid"/>
                </a:ln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15" name="Shape 13"/>
                <p:cNvSpPr/>
                <p:nvPr/>
              </p:nvSpPr>
              <p:spPr>
                <a:xfrm>
                  <a:off x="7521297" y="3941921"/>
                  <a:ext cx="91440" cy="1098471"/>
                </a:xfrm>
                <a:prstGeom prst="roundRect">
                  <a:avLst>
                    <a:gd name="adj" fmla="val 29767"/>
                  </a:avLst>
                </a:prstGeom>
                <a:solidFill>
                  <a:srgbClr val="3E2513"/>
                </a:solidFill>
                <a:ln/>
              </p:spPr>
            </p:sp>
          </p:grpSp>
          <p:sp>
            <p:nvSpPr>
              <p:cNvPr id="28" name="Text 6">
                <a:extLst>
                  <a:ext uri="{FF2B5EF4-FFF2-40B4-BE49-F238E27FC236}">
                    <a16:creationId xmlns:a16="http://schemas.microsoft.com/office/drawing/2014/main" id="{1C6DE7B6-06F4-E9AA-81F6-FE15C6D71344}"/>
                  </a:ext>
                </a:extLst>
              </p:cNvPr>
              <p:cNvSpPr/>
              <p:nvPr/>
            </p:nvSpPr>
            <p:spPr>
              <a:xfrm>
                <a:off x="7682490" y="4432816"/>
                <a:ext cx="5676698" cy="208228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050"/>
                  </a:lnSpc>
                  <a:buSzPct val="100000"/>
                  <a:buChar char="•"/>
                </a:pPr>
                <a:r>
                  <a:rPr lang="en-US" sz="1600" b="1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Carrier Delays:</a:t>
                </a:r>
                <a:r>
                  <a:rPr lang="en-US" sz="1600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 Frontier Airlines highest at 27 min avg</a:t>
                </a:r>
                <a:endParaRPr lang="en-US" sz="1600" dirty="0"/>
              </a:p>
              <a:p>
                <a:pPr marL="342900" indent="-342900" algn="l">
                  <a:lnSpc>
                    <a:spcPts val="2050"/>
                  </a:lnSpc>
                  <a:buSzPct val="100000"/>
                  <a:buChar char="•"/>
                </a:pPr>
                <a:r>
                  <a:rPr lang="en-US" sz="1600" b="1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Weather Delays:</a:t>
                </a:r>
                <a:r>
                  <a:rPr lang="en-US" sz="1600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 JFK, ORD, DFW most severely affected</a:t>
                </a:r>
                <a:endParaRPr lang="en-US" sz="1600" dirty="0"/>
              </a:p>
              <a:p>
                <a:pPr marL="342900" indent="-342900" algn="l">
                  <a:lnSpc>
                    <a:spcPts val="2050"/>
                  </a:lnSpc>
                  <a:buSzPct val="100000"/>
                  <a:buChar char="•"/>
                </a:pPr>
                <a:r>
                  <a:rPr lang="en-US" sz="1600" b="1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Temporal Patterns:</a:t>
                </a:r>
                <a:r>
                  <a:rPr lang="en-US" sz="1600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 Evening flights average 13.8 min delay</a:t>
                </a:r>
                <a:endParaRPr lang="en-US" sz="1600" dirty="0"/>
              </a:p>
              <a:p>
                <a:pPr marL="342900" indent="-342900" algn="l">
                  <a:lnSpc>
                    <a:spcPts val="2050"/>
                  </a:lnSpc>
                  <a:buSzPct val="100000"/>
                  <a:buChar char="•"/>
                </a:pPr>
                <a:r>
                  <a:rPr lang="en-US" sz="1600" b="1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Worst Route:</a:t>
                </a:r>
                <a:r>
                  <a:rPr lang="en-US" sz="1600" dirty="0">
                    <a:solidFill>
                      <a:srgbClr val="504C49"/>
                    </a:solidFill>
                    <a:latin typeface="Source Serif 4" pitchFamily="34" charset="0"/>
                    <a:ea typeface="Source Serif 4" pitchFamily="34" charset="-122"/>
                    <a:cs typeface="Source Serif 4" pitchFamily="34" charset="-120"/>
                  </a:rPr>
                  <a:t> JAD→TTN averages 387 min delay</a:t>
                </a:r>
                <a:endParaRPr lang="en-US" sz="1600" dirty="0"/>
              </a:p>
            </p:txBody>
          </p:sp>
        </p:grp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5F34CB9D-8947-CE15-5361-514048404133}"/>
                </a:ext>
              </a:extLst>
            </p:cNvPr>
            <p:cNvSpPr/>
            <p:nvPr/>
          </p:nvSpPr>
          <p:spPr>
            <a:xfrm>
              <a:off x="7778335" y="2654230"/>
              <a:ext cx="5916987" cy="1634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4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Top Airlines:</a:t>
              </a: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Southwest (1.26M), Delta (876K), American (726K)</a:t>
              </a:r>
              <a:endParaRPr lang="en-US" sz="1400" dirty="0"/>
            </a:p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4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Top Routes:</a:t>
              </a: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SFO→LAX (13,744), LAX→SFO (13,457), JFK→LAX (12,016)</a:t>
              </a:r>
              <a:endParaRPr lang="en-US" sz="1400" dirty="0"/>
            </a:p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4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Busiest Months:</a:t>
              </a: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July &amp; August peak; February lowest</a:t>
              </a:r>
              <a:endParaRPr lang="en-US" sz="1400" dirty="0"/>
            </a:p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4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Top Airports:</a:t>
              </a:r>
              <a:r>
                <a:rPr lang="en-US" sz="14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ATL, ORD, and DFW lead in total flight counts</a:t>
              </a:r>
              <a:endParaRPr lang="en-US" sz="1400" dirty="0"/>
            </a:p>
          </p:txBody>
        </p: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47EFF3F6-6AA9-4ADE-CA62-3050CDCACCD0}"/>
                </a:ext>
              </a:extLst>
            </p:cNvPr>
            <p:cNvSpPr txBox="1">
              <a:spLocks/>
            </p:cNvSpPr>
            <p:nvPr/>
          </p:nvSpPr>
          <p:spPr>
            <a:xfrm>
              <a:off x="746647" y="1825625"/>
              <a:ext cx="6270904" cy="3247729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2800" b="1" dirty="0"/>
                <a:t>Exploratory Data Analysis</a:t>
              </a:r>
            </a:p>
            <a:p>
              <a:r>
                <a:rPr lang="en-US" sz="2000" dirty="0"/>
                <a:t>Analyzed flight distribution by </a:t>
              </a:r>
              <a:r>
                <a:rPr lang="en-US" sz="2000" b="1" dirty="0"/>
                <a:t>airline, origin airport, and route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Visualized </a:t>
              </a:r>
              <a:r>
                <a:rPr lang="en-US" sz="2000" b="1" dirty="0"/>
                <a:t>arrival and departure delay spread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Compared </a:t>
              </a:r>
              <a:r>
                <a:rPr lang="en-US" sz="2000" b="1" dirty="0"/>
                <a:t>on-time vs delayed vs cancelled flights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Identified top busy airports and frequently used routes </a:t>
              </a:r>
            </a:p>
            <a:p>
              <a:r>
                <a:rPr lang="en-US" sz="2000" dirty="0"/>
                <a:t>Performed </a:t>
              </a:r>
              <a:r>
                <a:rPr lang="en-US" sz="2000" b="1" dirty="0"/>
                <a:t>univariate and bivariate delay analysis</a:t>
              </a:r>
              <a:endParaRPr lang="en-US" sz="2000" dirty="0"/>
            </a:p>
            <a:p>
              <a:endParaRPr lang="en-IN" sz="2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A065EF4-F542-546F-84A2-380751007EB9}"/>
                </a:ext>
              </a:extLst>
            </p:cNvPr>
            <p:cNvSpPr txBox="1"/>
            <p:nvPr/>
          </p:nvSpPr>
          <p:spPr>
            <a:xfrm>
              <a:off x="748598" y="4936329"/>
              <a:ext cx="6268953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Delay Analysis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Measured average </a:t>
              </a:r>
              <a:r>
                <a:rPr lang="en-US" sz="2000" b="1" dirty="0"/>
                <a:t>departure and arrival delay</a:t>
              </a:r>
              <a:r>
                <a:rPr lang="en-US" sz="2000" dirty="0"/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Compared delay performance across airlines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Identified most delay-prone routes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Analyzed airport congestion impact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Evaluated </a:t>
              </a:r>
              <a:r>
                <a:rPr lang="en-US" sz="2000" b="1" dirty="0"/>
                <a:t>monthly and seasonal delay patterns</a:t>
              </a:r>
              <a:endParaRPr lang="en-US" sz="2000" dirty="0"/>
            </a:p>
            <a:p>
              <a:endParaRPr lang="en-IN" sz="2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>
            <a:extLst>
              <a:ext uri="{FF2B5EF4-FFF2-40B4-BE49-F238E27FC236}">
                <a16:creationId xmlns:a16="http://schemas.microsoft.com/office/drawing/2014/main" id="{E8220406-9DCD-FEF6-B7AA-02B88284ECBE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396E9C-FDE3-E675-B73A-AA4ADB6C8E80}"/>
              </a:ext>
            </a:extLst>
          </p:cNvPr>
          <p:cNvGrpSpPr/>
          <p:nvPr/>
        </p:nvGrpSpPr>
        <p:grpSpPr>
          <a:xfrm>
            <a:off x="790576" y="494830"/>
            <a:ext cx="13196392" cy="6367207"/>
            <a:chOff x="790576" y="494830"/>
            <a:chExt cx="13196392" cy="6367207"/>
          </a:xfrm>
        </p:grpSpPr>
        <p:sp>
          <p:nvSpPr>
            <p:cNvPr id="4" name="Text 1"/>
            <p:cNvSpPr/>
            <p:nvPr/>
          </p:nvSpPr>
          <p:spPr>
            <a:xfrm>
              <a:off x="830391" y="764430"/>
              <a:ext cx="1192000" cy="2034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endParaRPr lang="en-US" sz="1400" b="1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58837" y="559881"/>
              <a:ext cx="12058809" cy="5893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350"/>
                </a:lnSpc>
                <a:buNone/>
              </a:pPr>
              <a:r>
                <a:rPr lang="en-US" sz="480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Route &amp; Airport Level Analysis</a:t>
              </a:r>
              <a:endParaRPr lang="en-US" sz="4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3EABFBE-78F7-0173-066D-7FCC541D8178}"/>
                </a:ext>
              </a:extLst>
            </p:cNvPr>
            <p:cNvSpPr txBox="1"/>
            <p:nvPr/>
          </p:nvSpPr>
          <p:spPr>
            <a:xfrm>
              <a:off x="12268521" y="494830"/>
              <a:ext cx="1503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545CE2D-DDFE-4887-22EF-07DE5918F5C0}"/>
                </a:ext>
              </a:extLst>
            </p:cNvPr>
            <p:cNvGrpSpPr/>
            <p:nvPr/>
          </p:nvGrpSpPr>
          <p:grpSpPr>
            <a:xfrm>
              <a:off x="7521297" y="2437089"/>
              <a:ext cx="6465671" cy="3057384"/>
              <a:chOff x="7521297" y="2437090"/>
              <a:chExt cx="6322933" cy="1359694"/>
            </a:xfrm>
          </p:grpSpPr>
          <p:sp>
            <p:nvSpPr>
              <p:cNvPr id="19" name="Shape 8">
                <a:extLst>
                  <a:ext uri="{FF2B5EF4-FFF2-40B4-BE49-F238E27FC236}">
                    <a16:creationId xmlns:a16="http://schemas.microsoft.com/office/drawing/2014/main" id="{0FB1BA94-D302-982B-DF97-7A1D2B9BFEDE}"/>
                  </a:ext>
                </a:extLst>
              </p:cNvPr>
              <p:cNvSpPr/>
              <p:nvPr/>
            </p:nvSpPr>
            <p:spPr>
              <a:xfrm>
                <a:off x="7544157" y="2437090"/>
                <a:ext cx="6300073" cy="1359694"/>
              </a:xfrm>
              <a:prstGeom prst="roundRect">
                <a:avLst>
                  <a:gd name="adj" fmla="val 8070"/>
                </a:avLst>
              </a:prstGeom>
              <a:solidFill>
                <a:srgbClr val="FFFFFF"/>
              </a:solidFill>
              <a:ln w="22860">
                <a:solidFill>
                  <a:srgbClr val="D8D4D4"/>
                </a:solidFill>
                <a:prstDash val="solid"/>
              </a:ln>
            </p:spPr>
          </p:sp>
          <p:sp>
            <p:nvSpPr>
              <p:cNvPr id="24" name="Shape 9">
                <a:extLst>
                  <a:ext uri="{FF2B5EF4-FFF2-40B4-BE49-F238E27FC236}">
                    <a16:creationId xmlns:a16="http://schemas.microsoft.com/office/drawing/2014/main" id="{D66D2BB6-2A8C-59DB-2D9C-BD461D574A28}"/>
                  </a:ext>
                </a:extLst>
              </p:cNvPr>
              <p:cNvSpPr/>
              <p:nvPr/>
            </p:nvSpPr>
            <p:spPr>
              <a:xfrm>
                <a:off x="7521297" y="2437090"/>
                <a:ext cx="91440" cy="1359694"/>
              </a:xfrm>
              <a:prstGeom prst="roundRect">
                <a:avLst>
                  <a:gd name="adj" fmla="val 29767"/>
                </a:avLst>
              </a:prstGeom>
              <a:solidFill>
                <a:srgbClr val="3E2513"/>
              </a:solidFill>
              <a:ln/>
            </p:spPr>
          </p:sp>
        </p:grp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2846D7B7-AD68-F0DF-0602-A5CE718AF079}"/>
                </a:ext>
              </a:extLst>
            </p:cNvPr>
            <p:cNvSpPr/>
            <p:nvPr/>
          </p:nvSpPr>
          <p:spPr>
            <a:xfrm>
              <a:off x="7691816" y="2722169"/>
              <a:ext cx="5845049" cy="2402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SFO-LAX:</a:t>
              </a:r>
              <a:r>
                <a:rPr lang="en-US" sz="16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Busiest corridor (13,744 flights); LAX-JFK bidirectional (12,015+ each way)</a:t>
              </a:r>
              <a:endParaRPr lang="en-US" sz="1600" dirty="0"/>
            </a:p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Airport-airline delay heatmaps: 20 airports × 14 airlines</a:t>
              </a:r>
              <a:endParaRPr lang="en-US" sz="1600" dirty="0"/>
            </a:p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Geographic map: bubble size = volume, color = avg delay</a:t>
              </a:r>
              <a:endParaRPr lang="en-US" sz="1600" dirty="0"/>
            </a:p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Delay hotspots:</a:t>
              </a:r>
              <a:r>
                <a:rPr lang="en-US" sz="160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JFK, ORD, DFW flagged across all metrics</a:t>
              </a:r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4C8BF7-676A-45DF-B856-B4F111168394}"/>
                </a:ext>
              </a:extLst>
            </p:cNvPr>
            <p:cNvSpPr txBox="1"/>
            <p:nvPr/>
          </p:nvSpPr>
          <p:spPr>
            <a:xfrm>
              <a:off x="7521297" y="1847850"/>
              <a:ext cx="3394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Key Insights</a:t>
              </a:r>
            </a:p>
          </p:txBody>
        </p:sp>
        <p:sp>
          <p:nvSpPr>
            <p:cNvPr id="44" name="Content Placeholder 2">
              <a:extLst>
                <a:ext uri="{FF2B5EF4-FFF2-40B4-BE49-F238E27FC236}">
                  <a16:creationId xmlns:a16="http://schemas.microsoft.com/office/drawing/2014/main" id="{D1641BEA-229A-4919-B6E8-619BCA899E08}"/>
                </a:ext>
              </a:extLst>
            </p:cNvPr>
            <p:cNvSpPr txBox="1">
              <a:spLocks/>
            </p:cNvSpPr>
            <p:nvPr/>
          </p:nvSpPr>
          <p:spPr>
            <a:xfrm>
              <a:off x="790576" y="1469447"/>
              <a:ext cx="6201648" cy="285519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2400" b="1" dirty="0"/>
                <a:t>Route-Level Analysis</a:t>
              </a:r>
            </a:p>
            <a:p>
              <a:r>
                <a:rPr lang="en-US" sz="2000" dirty="0"/>
                <a:t>Analyzed </a:t>
              </a:r>
              <a:r>
                <a:rPr lang="en-US" sz="2000" b="1" dirty="0"/>
                <a:t>high-frequency flight routes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Identified routes with </a:t>
              </a:r>
              <a:r>
                <a:rPr lang="en-US" sz="2000" b="1" dirty="0"/>
                <a:t>highest average delays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Compared cancellation trends across major routes </a:t>
              </a:r>
            </a:p>
            <a:p>
              <a:r>
                <a:rPr lang="en-US" sz="2000" dirty="0"/>
                <a:t>Evaluated route performance by </a:t>
              </a:r>
              <a:r>
                <a:rPr lang="en-US" sz="2000" b="1" dirty="0"/>
                <a:t>on-time % and delay %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Highlighted busiest </a:t>
              </a:r>
              <a:r>
                <a:rPr lang="en-US" sz="2000" b="1" dirty="0"/>
                <a:t>origin → destination pairs</a:t>
              </a:r>
              <a:endParaRPr lang="en-US" sz="2000" dirty="0"/>
            </a:p>
            <a:p>
              <a:pPr marL="0" indent="0">
                <a:buFont typeface="Arial" pitchFamily="34" charset="0"/>
                <a:buNone/>
              </a:pPr>
              <a:endParaRPr lang="en-IN" sz="2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93BE4E3-1222-C92E-2625-22E99AE6EC12}"/>
                </a:ext>
              </a:extLst>
            </p:cNvPr>
            <p:cNvSpPr txBox="1"/>
            <p:nvPr/>
          </p:nvSpPr>
          <p:spPr>
            <a:xfrm>
              <a:off x="790576" y="4245936"/>
              <a:ext cx="6108144" cy="2616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Airport-Level Analysis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Measured airport traffic volume and operational load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Compared </a:t>
              </a:r>
              <a:r>
                <a:rPr lang="en-US" sz="2000" b="1" dirty="0"/>
                <a:t>delay %, cancellation %, and on-time %</a:t>
              </a:r>
              <a:r>
                <a:rPr lang="en-US" sz="2000" dirty="0"/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Identified hub airports with congestion issues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Evaluated airport contribution to network-wide delays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Compared origin vs destination airport performance</a:t>
              </a:r>
            </a:p>
            <a:p>
              <a:endParaRPr lang="en-IN" sz="20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E65D-2317-6EC0-577C-768E9B285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>
            <a:extLst>
              <a:ext uri="{FF2B5EF4-FFF2-40B4-BE49-F238E27FC236}">
                <a16:creationId xmlns:a16="http://schemas.microsoft.com/office/drawing/2014/main" id="{C12D27F8-A8BE-0C80-3EAF-047A6020D9A3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6E459B-A98B-595E-89B0-4B3C9FB5E7C2}"/>
              </a:ext>
            </a:extLst>
          </p:cNvPr>
          <p:cNvGrpSpPr/>
          <p:nvPr/>
        </p:nvGrpSpPr>
        <p:grpSpPr>
          <a:xfrm>
            <a:off x="830391" y="494830"/>
            <a:ext cx="13156577" cy="5936527"/>
            <a:chOff x="830391" y="494830"/>
            <a:chExt cx="13156577" cy="5936527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D1D1EC4C-5CFA-786E-C154-DEB9797F8865}"/>
                </a:ext>
              </a:extLst>
            </p:cNvPr>
            <p:cNvSpPr/>
            <p:nvPr/>
          </p:nvSpPr>
          <p:spPr>
            <a:xfrm>
              <a:off x="830391" y="764430"/>
              <a:ext cx="1192000" cy="2034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endParaRPr lang="en-US" sz="1400" b="1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9B6B28A3-0CFE-ADA7-C7E6-34EDBB957949}"/>
                </a:ext>
              </a:extLst>
            </p:cNvPr>
            <p:cNvSpPr/>
            <p:nvPr/>
          </p:nvSpPr>
          <p:spPr>
            <a:xfrm>
              <a:off x="858837" y="559881"/>
              <a:ext cx="12058809" cy="5893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350"/>
                </a:lnSpc>
                <a:buNone/>
              </a:pPr>
              <a:r>
                <a:rPr lang="en-US" sz="480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Seasonal &amp; Cancellation Analysis</a:t>
              </a:r>
              <a:endParaRPr lang="en-US" sz="4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F3C1BD-60E5-9233-38A1-A7C6CE6C1029}"/>
                </a:ext>
              </a:extLst>
            </p:cNvPr>
            <p:cNvSpPr txBox="1"/>
            <p:nvPr/>
          </p:nvSpPr>
          <p:spPr>
            <a:xfrm>
              <a:off x="12268521" y="494830"/>
              <a:ext cx="1503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A4C877-90E0-A169-E45B-B5E10992E8FE}"/>
                </a:ext>
              </a:extLst>
            </p:cNvPr>
            <p:cNvGrpSpPr/>
            <p:nvPr/>
          </p:nvGrpSpPr>
          <p:grpSpPr>
            <a:xfrm>
              <a:off x="7521297" y="2437089"/>
              <a:ext cx="6465671" cy="3057384"/>
              <a:chOff x="7521297" y="2437090"/>
              <a:chExt cx="6322933" cy="1359694"/>
            </a:xfrm>
          </p:grpSpPr>
          <p:sp>
            <p:nvSpPr>
              <p:cNvPr id="19" name="Shape 8">
                <a:extLst>
                  <a:ext uri="{FF2B5EF4-FFF2-40B4-BE49-F238E27FC236}">
                    <a16:creationId xmlns:a16="http://schemas.microsoft.com/office/drawing/2014/main" id="{F22E8C39-F9AC-8C52-3482-6EF9CBCF3AA2}"/>
                  </a:ext>
                </a:extLst>
              </p:cNvPr>
              <p:cNvSpPr/>
              <p:nvPr/>
            </p:nvSpPr>
            <p:spPr>
              <a:xfrm>
                <a:off x="7544157" y="2437090"/>
                <a:ext cx="6300073" cy="1359694"/>
              </a:xfrm>
              <a:prstGeom prst="roundRect">
                <a:avLst>
                  <a:gd name="adj" fmla="val 8070"/>
                </a:avLst>
              </a:prstGeom>
              <a:solidFill>
                <a:srgbClr val="FFFFFF"/>
              </a:solidFill>
              <a:ln w="22860">
                <a:solidFill>
                  <a:srgbClr val="D8D4D4"/>
                </a:solidFill>
                <a:prstDash val="solid"/>
              </a:ln>
            </p:spPr>
          </p:sp>
          <p:sp>
            <p:nvSpPr>
              <p:cNvPr id="24" name="Shape 9">
                <a:extLst>
                  <a:ext uri="{FF2B5EF4-FFF2-40B4-BE49-F238E27FC236}">
                    <a16:creationId xmlns:a16="http://schemas.microsoft.com/office/drawing/2014/main" id="{F15DEB07-FDAA-4BDA-BCFF-0D7DDFBE202F}"/>
                  </a:ext>
                </a:extLst>
              </p:cNvPr>
              <p:cNvSpPr/>
              <p:nvPr/>
            </p:nvSpPr>
            <p:spPr>
              <a:xfrm>
                <a:off x="7521297" y="2437090"/>
                <a:ext cx="91440" cy="1359694"/>
              </a:xfrm>
              <a:prstGeom prst="roundRect">
                <a:avLst>
                  <a:gd name="adj" fmla="val 29767"/>
                </a:avLst>
              </a:prstGeom>
              <a:solidFill>
                <a:srgbClr val="3E2513"/>
              </a:solidFill>
              <a:ln/>
            </p:spPr>
          </p:sp>
        </p:grp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93D83A00-17F1-FF0B-A449-3279605A0B7E}"/>
                </a:ext>
              </a:extLst>
            </p:cNvPr>
            <p:cNvSpPr/>
            <p:nvPr/>
          </p:nvSpPr>
          <p:spPr>
            <a:xfrm>
              <a:off x="7819377" y="3008123"/>
              <a:ext cx="5805183" cy="2024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Winter peak:</a:t>
              </a: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40,562 cancellations (Feb alone: 20,517)</a:t>
              </a:r>
              <a:endParaRPr lang="en-US" dirty="0"/>
            </a:p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Fall lowest:</a:t>
              </a: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9,128 cancellations — most reliable season</a:t>
              </a:r>
              <a:endParaRPr lang="en-US" dirty="0"/>
            </a:p>
            <a:p>
              <a:pPr marL="342900" indent="-342900" algn="l">
                <a:lnSpc>
                  <a:spcPts val="2000"/>
                </a:lnSpc>
                <a:buSzPct val="100000"/>
                <a:buChar char="•"/>
              </a:pPr>
              <a:r>
                <a:rPr lang="en-US" b="1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December &amp; January:</a:t>
              </a:r>
              <a:r>
                <a:rPr lang="en-US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 Holiday period adds 20,045 combined cancellations</a:t>
              </a:r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EB23F6-3CC5-C334-7F09-69DC01556521}"/>
                </a:ext>
              </a:extLst>
            </p:cNvPr>
            <p:cNvSpPr txBox="1"/>
            <p:nvPr/>
          </p:nvSpPr>
          <p:spPr>
            <a:xfrm>
              <a:off x="7521297" y="1847850"/>
              <a:ext cx="3394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Key Insights</a:t>
              </a:r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8EF158D7-6484-D97F-C008-8C4F74457B85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1154477"/>
              <a:ext cx="6127260" cy="3091459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2400" b="1" dirty="0"/>
                <a:t>Seasonal Trends</a:t>
              </a:r>
            </a:p>
            <a:p>
              <a:r>
                <a:rPr lang="en-US" sz="2000" dirty="0"/>
                <a:t>Analyzed monthly and seasonal flight performance patterns </a:t>
              </a:r>
            </a:p>
            <a:p>
              <a:r>
                <a:rPr lang="en-US" sz="2000" dirty="0"/>
                <a:t>Compared delay trends across </a:t>
              </a:r>
              <a:r>
                <a:rPr lang="en-US" sz="2000" b="1" dirty="0"/>
                <a:t>summer, winter, and holiday periods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Identified peak traffic seasons with higher congestion </a:t>
              </a:r>
            </a:p>
            <a:p>
              <a:r>
                <a:rPr lang="en-US" sz="2000" dirty="0"/>
                <a:t>Measured seasonal variation in </a:t>
              </a:r>
              <a:r>
                <a:rPr lang="en-US" sz="2000" b="1" dirty="0"/>
                <a:t>on-time performance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Evaluated weather impact on delay frequency</a:t>
              </a:r>
            </a:p>
            <a:p>
              <a:endParaRPr lang="en-IN" sz="2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5A6FD-FA1F-0266-0A64-DAD16E7C35F7}"/>
                </a:ext>
              </a:extLst>
            </p:cNvPr>
            <p:cNvSpPr txBox="1"/>
            <p:nvPr/>
          </p:nvSpPr>
          <p:spPr>
            <a:xfrm>
              <a:off x="858837" y="4169199"/>
              <a:ext cx="6013119" cy="2262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Cancellation Trends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Compared cancelled vs completed flight volume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Identified months with the </a:t>
              </a:r>
              <a:r>
                <a:rPr lang="en-US" b="1" dirty="0"/>
                <a:t>highest cancellation rate</a:t>
              </a:r>
              <a:r>
                <a:rPr lang="en-US" dirty="0"/>
                <a:t>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Analyzed airport-level weather-related cancellations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Evaluated airline-wise cancellation performance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Measured seasonal spikes in cancellation probability</a:t>
              </a:r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22261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2A1200D-AB99-6D19-9BC7-229F1957A9C1}"/>
              </a:ext>
            </a:extLst>
          </p:cNvPr>
          <p:cNvGrpSpPr/>
          <p:nvPr/>
        </p:nvGrpSpPr>
        <p:grpSpPr>
          <a:xfrm>
            <a:off x="836611" y="381000"/>
            <a:ext cx="13374689" cy="6120607"/>
            <a:chOff x="836611" y="381000"/>
            <a:chExt cx="13374689" cy="612060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A8F3C6-A4B7-EC21-227C-D034D1624C41}"/>
                </a:ext>
              </a:extLst>
            </p:cNvPr>
            <p:cNvSpPr txBox="1"/>
            <p:nvPr/>
          </p:nvSpPr>
          <p:spPr>
            <a:xfrm>
              <a:off x="1352550" y="381000"/>
              <a:ext cx="8953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b="1" dirty="0"/>
                <a:t>Power BI Dashboard Overview</a:t>
              </a:r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FD38CC96-566A-D73E-8C96-599AEA8A728E}"/>
                </a:ext>
              </a:extLst>
            </p:cNvPr>
            <p:cNvSpPr txBox="1">
              <a:spLocks/>
            </p:cNvSpPr>
            <p:nvPr/>
          </p:nvSpPr>
          <p:spPr>
            <a:xfrm>
              <a:off x="836611" y="1658425"/>
              <a:ext cx="7773988" cy="4843182"/>
            </a:xfrm>
            <a:prstGeom prst="rect">
              <a:avLst/>
            </a:prstGeom>
          </p:spPr>
          <p:txBody>
            <a:bodyPr>
              <a:normAutofit fontScale="2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9600" b="1" dirty="0"/>
                <a:t> Dashboard Highlights</a:t>
              </a:r>
            </a:p>
            <a:p>
              <a:r>
                <a:rPr lang="en-US" sz="9600" dirty="0"/>
                <a:t>Designed an interactive </a:t>
              </a:r>
              <a:r>
                <a:rPr lang="en-US" sz="9600" b="1" dirty="0"/>
                <a:t>Power BI dashboard</a:t>
              </a:r>
              <a:r>
                <a:rPr lang="en-US" sz="9600" dirty="0"/>
                <a:t> for airline performance monitoring </a:t>
              </a:r>
            </a:p>
            <a:p>
              <a:r>
                <a:rPr lang="en-US" sz="9600" dirty="0"/>
                <a:t>Included KPI cards for: </a:t>
              </a:r>
            </a:p>
            <a:p>
              <a:pPr lvl="1"/>
              <a:r>
                <a:rPr lang="en-US" sz="9600" b="1" dirty="0"/>
                <a:t>Total Flights</a:t>
              </a:r>
              <a:r>
                <a:rPr lang="en-US" sz="9600" dirty="0"/>
                <a:t> </a:t>
              </a:r>
            </a:p>
            <a:p>
              <a:pPr lvl="1"/>
              <a:r>
                <a:rPr lang="en-US" sz="9600" b="1" dirty="0"/>
                <a:t>Delay %</a:t>
              </a:r>
              <a:r>
                <a:rPr lang="en-US" sz="9600" dirty="0"/>
                <a:t> </a:t>
              </a:r>
            </a:p>
            <a:p>
              <a:pPr lvl="1"/>
              <a:r>
                <a:rPr lang="en-US" sz="9600" b="1" dirty="0"/>
                <a:t>Cancellation Rate</a:t>
              </a:r>
              <a:r>
                <a:rPr lang="en-US" sz="9600" dirty="0"/>
                <a:t> </a:t>
              </a:r>
            </a:p>
            <a:p>
              <a:pPr lvl="1"/>
              <a:r>
                <a:rPr lang="en-US" sz="9600" b="1" dirty="0"/>
                <a:t>On-Time %</a:t>
              </a:r>
              <a:r>
                <a:rPr lang="en-US" sz="9600" dirty="0"/>
                <a:t> </a:t>
              </a:r>
            </a:p>
            <a:p>
              <a:r>
                <a:rPr lang="en-US" sz="9600" dirty="0"/>
                <a:t>Added slicers for </a:t>
              </a:r>
              <a:r>
                <a:rPr lang="en-US" sz="9600" b="1" dirty="0"/>
                <a:t>Airline, Airport, Route, and Month</a:t>
              </a:r>
              <a:r>
                <a:rPr lang="en-US" sz="9600" dirty="0"/>
                <a:t> </a:t>
              </a:r>
            </a:p>
            <a:p>
              <a:r>
                <a:rPr lang="en-US" sz="9600" dirty="0"/>
                <a:t>Visualized route and airport performance using </a:t>
              </a:r>
              <a:r>
                <a:rPr lang="en-US" sz="9600" b="1" dirty="0"/>
                <a:t>bar charts, matrix, and line charts</a:t>
              </a:r>
              <a:r>
                <a:rPr lang="en-US" sz="9600" dirty="0"/>
                <a:t> </a:t>
              </a:r>
            </a:p>
            <a:p>
              <a:r>
                <a:rPr lang="en-US" sz="9600" dirty="0"/>
                <a:t>Built delay and cancellation trend analysis visuals </a:t>
              </a:r>
            </a:p>
            <a:p>
              <a:r>
                <a:rPr lang="en-US" sz="9600" dirty="0"/>
                <a:t>Enabled drill-down analysis for airline and airport-level insights</a:t>
              </a:r>
            </a:p>
            <a:p>
              <a:endParaRPr lang="en-IN" sz="1600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DF834E8-5413-71C5-932D-AAA6A26DB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0599" y="1780661"/>
              <a:ext cx="5600701" cy="4225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397" y="615911"/>
            <a:ext cx="686133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endParaRPr lang="en-US" sz="37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A88046-F299-BB97-1820-3A68D934F634}"/>
              </a:ext>
            </a:extLst>
          </p:cNvPr>
          <p:cNvSpPr/>
          <p:nvPr/>
        </p:nvSpPr>
        <p:spPr>
          <a:xfrm>
            <a:off x="12740640" y="7602856"/>
            <a:ext cx="1767840" cy="62674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CA3A281-06B3-BC20-1C18-86C990075EF4}"/>
              </a:ext>
            </a:extLst>
          </p:cNvPr>
          <p:cNvSpPr txBox="1">
            <a:spLocks/>
          </p:cNvSpPr>
          <p:nvPr/>
        </p:nvSpPr>
        <p:spPr>
          <a:xfrm>
            <a:off x="568167" y="215142"/>
            <a:ext cx="10515600" cy="8334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/>
              <a:t>Recommendations &amp; Future Scope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BF5B693-506D-39A7-F9CC-9E3479359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351" y="1917275"/>
            <a:ext cx="6196399" cy="439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2800" b="1" dirty="0"/>
              <a:t>Strategic Recommendations</a:t>
            </a:r>
          </a:p>
          <a:p>
            <a:pPr marL="0" indent="0" algn="just">
              <a:buFont typeface="Arial" pitchFamily="34" charset="0"/>
              <a:buNone/>
            </a:pPr>
            <a:endParaRPr lang="en-US" sz="2800" b="1" dirty="0"/>
          </a:p>
          <a:p>
            <a:pPr algn="just"/>
            <a:r>
              <a:rPr lang="en-US" sz="2000" dirty="0"/>
              <a:t>Improve turnaround efficiency at </a:t>
            </a:r>
            <a:r>
              <a:rPr lang="en-US" sz="2000" b="1" dirty="0"/>
              <a:t>high-delay hub airports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/>
              <a:t>Add seasonal buffer schedules during </a:t>
            </a:r>
            <a:r>
              <a:rPr lang="en-US" sz="2000" b="1" dirty="0"/>
              <a:t>winter and holiday months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/>
              <a:t>Strengthen weather-risk monitoring for sensitive airports </a:t>
            </a:r>
          </a:p>
          <a:p>
            <a:pPr algn="just"/>
            <a:r>
              <a:rPr lang="en-US" sz="2000" dirty="0"/>
              <a:t>Optimize staffing and gate allocation during peak hours </a:t>
            </a:r>
          </a:p>
          <a:p>
            <a:pPr algn="just"/>
            <a:r>
              <a:rPr lang="en-US" sz="2000" dirty="0"/>
              <a:t>Use route-level KPIs for proactive delay management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CE9212-366A-61F2-CBC5-21F22D49858B}"/>
              </a:ext>
            </a:extLst>
          </p:cNvPr>
          <p:cNvSpPr txBox="1"/>
          <p:nvPr/>
        </p:nvSpPr>
        <p:spPr>
          <a:xfrm>
            <a:off x="7315200" y="2072710"/>
            <a:ext cx="5962650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Future Scope</a:t>
            </a:r>
          </a:p>
          <a:p>
            <a:pPr algn="just">
              <a:lnSpc>
                <a:spcPct val="150000"/>
              </a:lnSpc>
            </a:pPr>
            <a:endParaRPr lang="en-US" sz="20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 </a:t>
            </a:r>
            <a:r>
              <a:rPr lang="en-US" sz="2000" b="1" dirty="0"/>
              <a:t>real-time flight monitoring dashboards</a:t>
            </a:r>
            <a:r>
              <a:rPr lang="en-US" sz="2000" dirty="0"/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Integrate live </a:t>
            </a:r>
            <a:r>
              <a:rPr lang="en-US" sz="2000" b="1" dirty="0"/>
              <a:t>weather and ATC data sources</a:t>
            </a:r>
            <a:r>
              <a:rPr lang="en-US" sz="2000" dirty="0"/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ML-based delay prediction models</a:t>
            </a:r>
            <a:r>
              <a:rPr lang="en-US" sz="2000" dirty="0"/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airport-wise anomaly detection alerts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Expand analysis to passenger satisfaction and cost impact</a:t>
            </a:r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24D22F-6057-9F82-0040-EFC9734C3BF2}"/>
              </a:ext>
            </a:extLst>
          </p:cNvPr>
          <p:cNvSpPr txBox="1">
            <a:spLocks/>
          </p:cNvSpPr>
          <p:nvPr/>
        </p:nvSpPr>
        <p:spPr>
          <a:xfrm>
            <a:off x="1103312" y="2052918"/>
            <a:ext cx="11545888" cy="30715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Successfully transformed </a:t>
            </a:r>
            <a:r>
              <a:rPr lang="en-US" b="1" dirty="0"/>
              <a:t>5.8M+ airline records into actionable operational insights</a:t>
            </a:r>
            <a:r>
              <a:rPr lang="en-US" dirty="0"/>
              <a:t>, identified major delay and cancellation drivers, and extended the analysis into </a:t>
            </a:r>
            <a:r>
              <a:rPr lang="en-US" b="1" dirty="0"/>
              <a:t>Power BI dashboards for stakeholder decision-making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9AFB3B-CC18-F378-9346-646119A1201C}"/>
              </a:ext>
            </a:extLst>
          </p:cNvPr>
          <p:cNvSpPr txBox="1">
            <a:spLocks/>
          </p:cNvSpPr>
          <p:nvPr/>
        </p:nvSpPr>
        <p:spPr>
          <a:xfrm>
            <a:off x="542925" y="858372"/>
            <a:ext cx="4972050" cy="11474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728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1020</Words>
  <Application>Microsoft Office PowerPoint</Application>
  <PresentationFormat>Custom</PresentationFormat>
  <Paragraphs>158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Platypi Medium</vt:lpstr>
      <vt:lpstr>Arial</vt:lpstr>
      <vt:lpstr>Source Serif 4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Ritesh Kumar Ranjan</cp:lastModifiedBy>
  <cp:revision>5</cp:revision>
  <dcterms:created xsi:type="dcterms:W3CDTF">2026-03-31T05:47:32Z</dcterms:created>
  <dcterms:modified xsi:type="dcterms:W3CDTF">2026-04-07T10:52:24Z</dcterms:modified>
</cp:coreProperties>
</file>