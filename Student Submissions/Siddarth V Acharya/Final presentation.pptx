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6.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71" r:id="rId2"/>
    <p:sldMasterId id="2147483680" r:id="rId3"/>
    <p:sldMasterId id="2147483691" r:id="rId4"/>
    <p:sldMasterId id="2147483699" r:id="rId5"/>
    <p:sldMasterId id="2147483708" r:id="rId6"/>
    <p:sldMasterId id="2147483715" r:id="rId7"/>
  </p:sldMasterIdLst>
  <p:notesMasterIdLst>
    <p:notesMasterId r:id="rId41"/>
  </p:notesMasterIdLst>
  <p:sldIdLst>
    <p:sldId id="259" r:id="rId8"/>
    <p:sldId id="262" r:id="rId9"/>
    <p:sldId id="268" r:id="rId10"/>
    <p:sldId id="271" r:id="rId11"/>
    <p:sldId id="280" r:id="rId12"/>
    <p:sldId id="283" r:id="rId13"/>
    <p:sldId id="289" r:id="rId14"/>
    <p:sldId id="292" r:id="rId15"/>
    <p:sldId id="295" r:id="rId16"/>
    <p:sldId id="298" r:id="rId17"/>
    <p:sldId id="301" r:id="rId18"/>
    <p:sldId id="304" r:id="rId19"/>
    <p:sldId id="310" r:id="rId20"/>
    <p:sldId id="313" r:id="rId21"/>
    <p:sldId id="316" r:id="rId22"/>
    <p:sldId id="319" r:id="rId23"/>
    <p:sldId id="322" r:id="rId24"/>
    <p:sldId id="325" r:id="rId25"/>
    <p:sldId id="331" r:id="rId26"/>
    <p:sldId id="340" r:id="rId27"/>
    <p:sldId id="343" r:id="rId28"/>
    <p:sldId id="346" r:id="rId29"/>
    <p:sldId id="349" r:id="rId30"/>
    <p:sldId id="355" r:id="rId31"/>
    <p:sldId id="358" r:id="rId32"/>
    <p:sldId id="361" r:id="rId33"/>
    <p:sldId id="364" r:id="rId34"/>
    <p:sldId id="367" r:id="rId35"/>
    <p:sldId id="376" r:id="rId36"/>
    <p:sldId id="379" r:id="rId37"/>
    <p:sldId id="382" r:id="rId38"/>
    <p:sldId id="385" r:id="rId39"/>
    <p:sldId id="388" r:id="rId40"/>
  </p:sldIdLst>
  <p:sldSz cx="14630400" cy="8229600"/>
  <p:notesSz cx="6858000" cy="9144000"/>
  <p:embeddedFontLst>
    <p:embeddedFont>
      <p:font typeface="Consolas" panose="020B0609020204030204" pitchFamily="49" charset="0"/>
      <p:regular r:id="rId42"/>
      <p:bold r:id="rId43"/>
      <p:italic r:id="rId44"/>
      <p:boldItalic r:id="rId45"/>
    </p:embeddedFont>
    <p:embeddedFont>
      <p:font typeface="Crimson Pro Semi Bold" panose="020B0604020202020204" charset="0"/>
      <p:regular r:id="rId46"/>
    </p:embeddedFont>
    <p:embeddedFont>
      <p:font typeface="Heebo" pitchFamily="2" charset="-79"/>
      <p:regular r:id="rId47"/>
      <p:bold r:id="rId48"/>
    </p:embeddedFont>
  </p:embeddedFontLst>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69" d="100"/>
          <a:sy n="69" d="100"/>
        </p:scale>
        <p:origin x="662" y="67"/>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5.fntdata"/><Relationship Id="rId20" Type="http://schemas.openxmlformats.org/officeDocument/2006/relationships/slide" Target="slides/slide13.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26A224DA-BA98-49BD-BD04-96DE5A401B73}" type="datetimeFigureOut">
              <a:rPr lang="en-US" smtClean="0"/>
              <a:t>4/2/2026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1A4B0912-C51B-471D-B156-F8FD69ED7726}" type="datetimeFigureOut">
              <a:rPr lang="en-US" smtClean="0"/>
              <a:t>4/2/2026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054B6B8F-FE83-4427-801A-8B4F5A266102}" type="datetimeFigureOut">
              <a:rPr lang="en-US" smtClean="0"/>
              <a:t>4/2/2026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DB431FB1-B9F0-4910-881E-DF5C7306F052}" type="datetimeFigureOut">
              <a:rPr lang="en-US" smtClean="0"/>
              <a:t>4/2/2026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6128E33B-4BED-4767-AF7B-19B9C1996AC3}" type="datetimeFigureOut">
              <a:rPr lang="en-US" smtClean="0"/>
              <a:t>4/2/2026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6930D8D5-1B08-4B07-9628-3B975FC54483}" type="datetimeFigureOut">
              <a:rPr lang="en-US" smtClean="0"/>
              <a:t>4/2/2026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125CED50-C269-4B71-A616-DBD2992AAFFB}" type="datetimeFigureOut">
              <a:rPr lang="en-US" smtClean="0"/>
              <a:t>4/2/2026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9D894EFD-1F34-42BA-BD36-D9AB326E6D69}" type="datetimeFigureOut">
              <a:rPr lang="en-US" smtClean="0"/>
              <a:t>4/2/2026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4CC352A-D1AD-4C01-A2EE-4911A656F6A3}" type="datetimeFigureOut">
              <a:rPr lang="en-US" smtClean="0"/>
              <a:t>4/2/2026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F8150B23-5577-4EE2-8244-3317A83B2B15}" type="datetimeFigureOut">
              <a:rPr lang="en-US" smtClean="0"/>
              <a:t>4/2/2026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6EB4A0AD-8871-4602-B0EF-B4C4E7CA5844}" type="datetimeFigureOut">
              <a:rPr lang="en-US" smtClean="0"/>
              <a:t>4/2/2026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p:spPr>
        <p:txBody>
          <a:bodyPr/>
          <a:lstStyle/>
          <a:p>
            <a:endParaRPr/>
          </a:p>
        </p:txBody>
      </p:sp>
      <p:sp>
        <p:nvSpPr>
          <p:cNvPr id="3" name="Shape 1"/>
          <p:cNvSpPr/>
          <p:nvPr/>
        </p:nvSpPr>
        <p:spPr>
          <a:xfrm>
            <a:off x="0" y="0"/>
            <a:ext cx="14630400" cy="8229600"/>
          </a:xfrm>
          <a:prstGeom prst="rect">
            <a:avLst/>
          </a:prstGeom>
          <a:solidFill>
            <a:srgbClr val="FFFFFF"/>
          </a:solidFill>
        </p:spPr>
        <p:txBody>
          <a:bodyPr/>
          <a:lstStyle/>
          <a:p>
            <a:endParaRPr/>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4.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58.xml"/><Relationship Id="rId7" Type="http://schemas.openxmlformats.org/officeDocument/2006/relationships/theme" Target="../theme/theme7.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7.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0.xml"/><Relationship Id="rId1" Type="http://schemas.openxmlformats.org/officeDocument/2006/relationships/slideLayout" Target="../slideLayouts/slideLayout43.xml"/><Relationship Id="rId5" Type="http://schemas.openxmlformats.org/officeDocument/2006/relationships/image" Target="../media/image9.svg"/><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3.xml"/><Relationship Id="rId1" Type="http://schemas.openxmlformats.org/officeDocument/2006/relationships/slideLayout" Target="../slideLayouts/slideLayout46.xml"/><Relationship Id="rId5" Type="http://schemas.openxmlformats.org/officeDocument/2006/relationships/image" Target="../media/image17.svg"/><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7.xml"/><Relationship Id="rId1" Type="http://schemas.openxmlformats.org/officeDocument/2006/relationships/slideLayout" Target="../slideLayouts/slideLayout52.xml"/><Relationship Id="rId5" Type="http://schemas.openxmlformats.org/officeDocument/2006/relationships/image" Target="../media/image18.svg"/><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7.xml"/></Relationships>
</file>

<file path=ppt/slides/_rels/slide3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30.xml"/><Relationship Id="rId1" Type="http://schemas.openxmlformats.org/officeDocument/2006/relationships/slideLayout" Target="../slideLayouts/slideLayout58.xml"/><Relationship Id="rId5" Type="http://schemas.openxmlformats.org/officeDocument/2006/relationships/image" Target="../media/image21.svg"/><Relationship Id="rId4" Type="http://schemas.openxmlformats.org/officeDocument/2006/relationships/image" Target="../media/image20.sv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59.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32.xml"/><Relationship Id="rId1" Type="http://schemas.openxmlformats.org/officeDocument/2006/relationships/slideLayout" Target="../slideLayouts/slideLayout60.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080028"/>
            <a:ext cx="11799094"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AirFly Insights: Visualizing Global Aviation Trends</a:t>
            </a:r>
            <a:endParaRPr lang="en-US" sz="4450"/>
          </a:p>
        </p:txBody>
      </p:sp>
      <p:sp>
        <p:nvSpPr>
          <p:cNvPr id="3" name="Text 1"/>
          <p:cNvSpPr/>
          <p:nvPr/>
        </p:nvSpPr>
        <p:spPr>
          <a:xfrm>
            <a:off x="793790" y="3879533"/>
            <a:ext cx="10453330"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Data-Driven Analysis of Flight Delays and Cancellations</a:t>
            </a:r>
            <a:endParaRPr lang="en-US" sz="3550"/>
          </a:p>
        </p:txBody>
      </p:sp>
      <p:sp>
        <p:nvSpPr>
          <p:cNvPr id="4" name="Text 2"/>
          <p:cNvSpPr/>
          <p:nvPr/>
        </p:nvSpPr>
        <p:spPr>
          <a:xfrm>
            <a:off x="793790" y="4786670"/>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Transforming raw flight data into strategic intelligence for airline operations and aviation analytics</a:t>
            </a:r>
            <a:endParaRPr lang="en-US" sz="1750" dirty="0"/>
          </a:p>
        </p:txBody>
      </p:sp>
      <p:sp>
        <p:nvSpPr>
          <p:cNvPr id="5" name="Rectangle 4">
            <a:extLst>
              <a:ext uri="{FF2B5EF4-FFF2-40B4-BE49-F238E27FC236}">
                <a16:creationId xmlns:a16="http://schemas.microsoft.com/office/drawing/2014/main" id="{7C030A8F-20D7-A47E-8FEA-5654FDB7AA4C}"/>
              </a:ext>
            </a:extLst>
          </p:cNvPr>
          <p:cNvSpPr/>
          <p:nvPr/>
        </p:nvSpPr>
        <p:spPr>
          <a:xfrm>
            <a:off x="12499776" y="7304856"/>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2">
            <a:extLst>
              <a:ext uri="{FF2B5EF4-FFF2-40B4-BE49-F238E27FC236}">
                <a16:creationId xmlns:a16="http://schemas.microsoft.com/office/drawing/2014/main" id="{5C465DAA-F978-1E1F-0883-BD61923DCB68}"/>
              </a:ext>
            </a:extLst>
          </p:cNvPr>
          <p:cNvSpPr/>
          <p:nvPr/>
        </p:nvSpPr>
        <p:spPr>
          <a:xfrm>
            <a:off x="11618061" y="7643192"/>
            <a:ext cx="3024336" cy="362903"/>
          </a:xfrm>
          <a:prstGeom prst="rect">
            <a:avLst/>
          </a:prstGeom>
          <a:noFill/>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Made by Siddarth V Acharya</a:t>
            </a:r>
            <a:endParaRPr lang="en-US" sz="175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154317"/>
            <a:ext cx="5670590"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Executive Overview</a:t>
            </a:r>
            <a:endParaRPr lang="en-US" sz="4450"/>
          </a:p>
        </p:txBody>
      </p:sp>
      <p:sp>
        <p:nvSpPr>
          <p:cNvPr id="3" name="Shape 1"/>
          <p:cNvSpPr/>
          <p:nvPr/>
        </p:nvSpPr>
        <p:spPr>
          <a:xfrm>
            <a:off x="793790" y="3316724"/>
            <a:ext cx="4196358" cy="2758559"/>
          </a:xfrm>
          <a:prstGeom prst="roundRect">
            <a:avLst>
              <a:gd name="adj" fmla="val 1233"/>
            </a:avLst>
          </a:prstGeom>
          <a:solidFill>
            <a:srgbClr val="F2EEEE"/>
          </a:solidFill>
        </p:spPr>
        <p:txBody>
          <a:bodyPr/>
          <a:lstStyle/>
          <a:p>
            <a:endParaRPr/>
          </a:p>
        </p:txBody>
      </p:sp>
      <p:sp>
        <p:nvSpPr>
          <p:cNvPr id="4" name="Text 2"/>
          <p:cNvSpPr/>
          <p:nvPr/>
        </p:nvSpPr>
        <p:spPr>
          <a:xfrm>
            <a:off x="1020604" y="354353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Strategic Mission</a:t>
            </a:r>
            <a:endParaRPr lang="en-US" sz="2200"/>
          </a:p>
        </p:txBody>
      </p:sp>
      <p:sp>
        <p:nvSpPr>
          <p:cNvPr id="5" name="Text 3"/>
          <p:cNvSpPr/>
          <p:nvPr/>
        </p:nvSpPr>
        <p:spPr>
          <a:xfrm>
            <a:off x="1020604" y="4033957"/>
            <a:ext cx="3742730" cy="1814513"/>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Convert 60+ million flight records into operational intelligence that helps airlines optimize scheduling, reduce costs, and improve passenger satisfaction</a:t>
            </a:r>
            <a:endParaRPr lang="en-US" sz="1750"/>
          </a:p>
        </p:txBody>
      </p:sp>
      <p:sp>
        <p:nvSpPr>
          <p:cNvPr id="6" name="Shape 4"/>
          <p:cNvSpPr/>
          <p:nvPr/>
        </p:nvSpPr>
        <p:spPr>
          <a:xfrm>
            <a:off x="5216962" y="3316724"/>
            <a:ext cx="4196358" cy="2758559"/>
          </a:xfrm>
          <a:prstGeom prst="roundRect">
            <a:avLst>
              <a:gd name="adj" fmla="val 1233"/>
            </a:avLst>
          </a:prstGeom>
          <a:solidFill>
            <a:srgbClr val="F2EEEE"/>
          </a:solidFill>
        </p:spPr>
        <p:txBody>
          <a:bodyPr/>
          <a:lstStyle/>
          <a:p>
            <a:endParaRPr/>
          </a:p>
        </p:txBody>
      </p:sp>
      <p:sp>
        <p:nvSpPr>
          <p:cNvPr id="7" name="Text 5"/>
          <p:cNvSpPr/>
          <p:nvPr/>
        </p:nvSpPr>
        <p:spPr>
          <a:xfrm>
            <a:off x="5443776" y="354353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Business Impact</a:t>
            </a:r>
            <a:endParaRPr lang="en-US" sz="2200"/>
          </a:p>
        </p:txBody>
      </p:sp>
      <p:sp>
        <p:nvSpPr>
          <p:cNvPr id="8" name="Text 6"/>
          <p:cNvSpPr/>
          <p:nvPr/>
        </p:nvSpPr>
        <p:spPr>
          <a:xfrm>
            <a:off x="5443776" y="4033957"/>
            <a:ext cx="374273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Identify delay patterns, predict disruptions, and understand the cascading effects that ripple through flight networks and impact revenue</a:t>
            </a:r>
            <a:endParaRPr lang="en-US" sz="1750"/>
          </a:p>
        </p:txBody>
      </p:sp>
      <p:sp>
        <p:nvSpPr>
          <p:cNvPr id="9" name="Shape 7"/>
          <p:cNvSpPr/>
          <p:nvPr/>
        </p:nvSpPr>
        <p:spPr>
          <a:xfrm>
            <a:off x="9640133" y="3316724"/>
            <a:ext cx="4196358" cy="2758559"/>
          </a:xfrm>
          <a:prstGeom prst="roundRect">
            <a:avLst>
              <a:gd name="adj" fmla="val 1233"/>
            </a:avLst>
          </a:prstGeom>
          <a:solidFill>
            <a:srgbClr val="F2EEEE"/>
          </a:solidFill>
        </p:spPr>
        <p:txBody>
          <a:bodyPr/>
          <a:lstStyle/>
          <a:p>
            <a:endParaRPr/>
          </a:p>
        </p:txBody>
      </p:sp>
      <p:sp>
        <p:nvSpPr>
          <p:cNvPr id="10" name="Text 8"/>
          <p:cNvSpPr/>
          <p:nvPr/>
        </p:nvSpPr>
        <p:spPr>
          <a:xfrm>
            <a:off x="9866948" y="354353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Data Foundation</a:t>
            </a:r>
            <a:endParaRPr lang="en-US" sz="2200"/>
          </a:p>
        </p:txBody>
      </p:sp>
      <p:sp>
        <p:nvSpPr>
          <p:cNvPr id="11" name="Text 9"/>
          <p:cNvSpPr/>
          <p:nvPr/>
        </p:nvSpPr>
        <p:spPr>
          <a:xfrm>
            <a:off x="9866948" y="4033957"/>
            <a:ext cx="3742730" cy="1814513"/>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Leverage comprehensive DOT flight delay data spanning 2015, including carrier codes, routes, departure times, and detailed delay classifications</a:t>
            </a:r>
            <a:endParaRPr lang="en-US" sz="1750"/>
          </a:p>
        </p:txBody>
      </p:sp>
      <p:sp>
        <p:nvSpPr>
          <p:cNvPr id="12" name="Rectangle 11">
            <a:extLst>
              <a:ext uri="{FF2B5EF4-FFF2-40B4-BE49-F238E27FC236}">
                <a16:creationId xmlns:a16="http://schemas.microsoft.com/office/drawing/2014/main" id="{4474CA3E-C9C9-140C-FA28-0C692D779E95}"/>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04593"/>
            <a:ext cx="5670590"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Project Milestones</a:t>
            </a:r>
            <a:endParaRPr lang="en-US" sz="4450"/>
          </a:p>
        </p:txBody>
      </p:sp>
      <p:sp>
        <p:nvSpPr>
          <p:cNvPr id="3" name="Text 1"/>
          <p:cNvSpPr/>
          <p:nvPr/>
        </p:nvSpPr>
        <p:spPr>
          <a:xfrm>
            <a:off x="793790" y="2667000"/>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01</a:t>
            </a:r>
            <a:endParaRPr lang="en-US" sz="1750"/>
          </a:p>
        </p:txBody>
      </p:sp>
      <p:sp>
        <p:nvSpPr>
          <p:cNvPr id="4" name="Shape 2"/>
          <p:cNvSpPr/>
          <p:nvPr/>
        </p:nvSpPr>
        <p:spPr>
          <a:xfrm>
            <a:off x="793790" y="3022044"/>
            <a:ext cx="6407944" cy="30480"/>
          </a:xfrm>
          <a:prstGeom prst="rect">
            <a:avLst/>
          </a:prstGeom>
          <a:solidFill>
            <a:srgbClr val="2150FE"/>
          </a:solidFill>
        </p:spPr>
        <p:txBody>
          <a:bodyPr/>
          <a:lstStyle/>
          <a:p>
            <a:endParaRPr/>
          </a:p>
        </p:txBody>
      </p:sp>
      <p:sp>
        <p:nvSpPr>
          <p:cNvPr id="5" name="Text 3"/>
          <p:cNvSpPr/>
          <p:nvPr/>
        </p:nvSpPr>
        <p:spPr>
          <a:xfrm>
            <a:off x="793790" y="3196352"/>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Data Foundation</a:t>
            </a:r>
            <a:endParaRPr lang="en-US" sz="2200"/>
          </a:p>
        </p:txBody>
      </p:sp>
      <p:sp>
        <p:nvSpPr>
          <p:cNvPr id="6" name="Text 4"/>
          <p:cNvSpPr/>
          <p:nvPr/>
        </p:nvSpPr>
        <p:spPr>
          <a:xfrm>
            <a:off x="793790" y="3686770"/>
            <a:ext cx="6407944"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Establish robust data infrastructure, clean and validate 60M+ records, and create efficient query systems</a:t>
            </a:r>
            <a:endParaRPr lang="en-US" sz="1750"/>
          </a:p>
        </p:txBody>
      </p:sp>
      <p:sp>
        <p:nvSpPr>
          <p:cNvPr id="7" name="Text 5"/>
          <p:cNvSpPr/>
          <p:nvPr/>
        </p:nvSpPr>
        <p:spPr>
          <a:xfrm>
            <a:off x="7428548" y="2667000"/>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02</a:t>
            </a:r>
            <a:endParaRPr lang="en-US" sz="1750"/>
          </a:p>
        </p:txBody>
      </p:sp>
      <p:sp>
        <p:nvSpPr>
          <p:cNvPr id="8" name="Shape 6"/>
          <p:cNvSpPr/>
          <p:nvPr/>
        </p:nvSpPr>
        <p:spPr>
          <a:xfrm>
            <a:off x="7428548" y="3022044"/>
            <a:ext cx="6408063" cy="30480"/>
          </a:xfrm>
          <a:prstGeom prst="rect">
            <a:avLst/>
          </a:prstGeom>
          <a:solidFill>
            <a:srgbClr val="2150FE"/>
          </a:solidFill>
        </p:spPr>
        <p:txBody>
          <a:bodyPr/>
          <a:lstStyle/>
          <a:p>
            <a:endParaRPr/>
          </a:p>
        </p:txBody>
      </p:sp>
      <p:sp>
        <p:nvSpPr>
          <p:cNvPr id="9" name="Text 7"/>
          <p:cNvSpPr/>
          <p:nvPr/>
        </p:nvSpPr>
        <p:spPr>
          <a:xfrm>
            <a:off x="7428548" y="3196352"/>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Visual Exploration</a:t>
            </a:r>
            <a:endParaRPr lang="en-US" sz="2200"/>
          </a:p>
        </p:txBody>
      </p:sp>
      <p:sp>
        <p:nvSpPr>
          <p:cNvPr id="10" name="Text 8"/>
          <p:cNvSpPr/>
          <p:nvPr/>
        </p:nvSpPr>
        <p:spPr>
          <a:xfrm>
            <a:off x="7428548" y="3686770"/>
            <a:ext cx="6408063"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Develop interactive dashboards and visualizations that reveal patterns across carriers, routes, and time periods</a:t>
            </a:r>
            <a:endParaRPr lang="en-US" sz="1750"/>
          </a:p>
        </p:txBody>
      </p:sp>
      <p:sp>
        <p:nvSpPr>
          <p:cNvPr id="11" name="Text 9"/>
          <p:cNvSpPr/>
          <p:nvPr/>
        </p:nvSpPr>
        <p:spPr>
          <a:xfrm>
            <a:off x="793790" y="4809411"/>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03</a:t>
            </a:r>
            <a:endParaRPr lang="en-US" sz="1750"/>
          </a:p>
        </p:txBody>
      </p:sp>
      <p:sp>
        <p:nvSpPr>
          <p:cNvPr id="12" name="Shape 10"/>
          <p:cNvSpPr/>
          <p:nvPr/>
        </p:nvSpPr>
        <p:spPr>
          <a:xfrm>
            <a:off x="793790" y="5164455"/>
            <a:ext cx="6407944" cy="30480"/>
          </a:xfrm>
          <a:prstGeom prst="rect">
            <a:avLst/>
          </a:prstGeom>
          <a:solidFill>
            <a:srgbClr val="2150FE"/>
          </a:solidFill>
        </p:spPr>
        <p:txBody>
          <a:bodyPr/>
          <a:lstStyle/>
          <a:p>
            <a:endParaRPr/>
          </a:p>
        </p:txBody>
      </p:sp>
      <p:sp>
        <p:nvSpPr>
          <p:cNvPr id="13" name="Text 11"/>
          <p:cNvSpPr/>
          <p:nvPr/>
        </p:nvSpPr>
        <p:spPr>
          <a:xfrm>
            <a:off x="793790" y="5338763"/>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Insight Discovery</a:t>
            </a:r>
            <a:endParaRPr lang="en-US" sz="2200"/>
          </a:p>
        </p:txBody>
      </p:sp>
      <p:sp>
        <p:nvSpPr>
          <p:cNvPr id="14" name="Text 12"/>
          <p:cNvSpPr/>
          <p:nvPr/>
        </p:nvSpPr>
        <p:spPr>
          <a:xfrm>
            <a:off x="793790" y="5829181"/>
            <a:ext cx="6407944"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Apply statistical analysis and machine learning to identify root causes and predict future disruption risks</a:t>
            </a:r>
            <a:endParaRPr lang="en-US" sz="1750"/>
          </a:p>
        </p:txBody>
      </p:sp>
      <p:sp>
        <p:nvSpPr>
          <p:cNvPr id="15" name="Text 13"/>
          <p:cNvSpPr/>
          <p:nvPr/>
        </p:nvSpPr>
        <p:spPr>
          <a:xfrm>
            <a:off x="7428548" y="4809411"/>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04</a:t>
            </a:r>
            <a:endParaRPr lang="en-US" sz="1750"/>
          </a:p>
        </p:txBody>
      </p:sp>
      <p:sp>
        <p:nvSpPr>
          <p:cNvPr id="16" name="Shape 14"/>
          <p:cNvSpPr/>
          <p:nvPr/>
        </p:nvSpPr>
        <p:spPr>
          <a:xfrm>
            <a:off x="7428548" y="5164455"/>
            <a:ext cx="6408063" cy="30480"/>
          </a:xfrm>
          <a:prstGeom prst="rect">
            <a:avLst/>
          </a:prstGeom>
          <a:solidFill>
            <a:srgbClr val="2150FE"/>
          </a:solidFill>
        </p:spPr>
        <p:txBody>
          <a:bodyPr/>
          <a:lstStyle/>
          <a:p>
            <a:endParaRPr/>
          </a:p>
        </p:txBody>
      </p:sp>
      <p:sp>
        <p:nvSpPr>
          <p:cNvPr id="17" name="Text 15"/>
          <p:cNvSpPr/>
          <p:nvPr/>
        </p:nvSpPr>
        <p:spPr>
          <a:xfrm>
            <a:off x="7428548" y="5338763"/>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Reporting</a:t>
            </a:r>
            <a:endParaRPr lang="en-US" sz="2200"/>
          </a:p>
        </p:txBody>
      </p:sp>
      <p:sp>
        <p:nvSpPr>
          <p:cNvPr id="18" name="Text 16"/>
          <p:cNvSpPr/>
          <p:nvPr/>
        </p:nvSpPr>
        <p:spPr>
          <a:xfrm>
            <a:off x="7428548" y="5829181"/>
            <a:ext cx="6408063"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Deliver executive summaries, operational dashboards, and strategic recommendations to stakeholders</a:t>
            </a:r>
            <a:endParaRPr lang="en-US" sz="1750"/>
          </a:p>
        </p:txBody>
      </p:sp>
      <p:sp>
        <p:nvSpPr>
          <p:cNvPr id="19" name="Rectangle 18">
            <a:extLst>
              <a:ext uri="{FF2B5EF4-FFF2-40B4-BE49-F238E27FC236}">
                <a16:creationId xmlns:a16="http://schemas.microsoft.com/office/drawing/2014/main" id="{D6444FDC-600A-1952-6F53-FCBFCD97C006}"/>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80924"/>
            <a:ext cx="9016841"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Dataset Overview: US DOT Flight Data</a:t>
            </a:r>
            <a:endParaRPr lang="en-US" sz="4450"/>
          </a:p>
        </p:txBody>
      </p:sp>
      <p:sp>
        <p:nvSpPr>
          <p:cNvPr id="3" name="Text 1"/>
          <p:cNvSpPr/>
          <p:nvPr/>
        </p:nvSpPr>
        <p:spPr>
          <a:xfrm>
            <a:off x="793790" y="2956679"/>
            <a:ext cx="4158615" cy="748427"/>
          </a:xfrm>
          <a:prstGeom prst="rect">
            <a:avLst/>
          </a:prstGeom>
          <a:noFill/>
        </p:spPr>
        <p:txBody>
          <a:bodyPr wrap="none" lIns="0" tIns="0" rIns="0" bIns="0" rtlCol="0" anchor="t"/>
          <a:lstStyle/>
          <a:p>
            <a:pPr marL="0" indent="0" algn="ctr">
              <a:lnSpc>
                <a:spcPts val="5850"/>
              </a:lnSpc>
              <a:buNone/>
            </a:pPr>
            <a:r>
              <a:rPr lang="en-US" sz="5850">
                <a:solidFill>
                  <a:srgbClr val="4C4C4D"/>
                </a:solidFill>
                <a:latin typeface="Crimson Pro Semi Bold" pitchFamily="34" charset="0"/>
                <a:ea typeface="Crimson Pro Semi Bold" pitchFamily="34" charset="-122"/>
                <a:cs typeface="Crimson Pro Semi Bold" pitchFamily="34" charset="-120"/>
              </a:rPr>
              <a:t>60M+</a:t>
            </a:r>
            <a:endParaRPr lang="en-US" sz="5850"/>
          </a:p>
        </p:txBody>
      </p:sp>
      <p:sp>
        <p:nvSpPr>
          <p:cNvPr id="4" name="Text 2"/>
          <p:cNvSpPr/>
          <p:nvPr/>
        </p:nvSpPr>
        <p:spPr>
          <a:xfrm>
            <a:off x="1455420" y="3988475"/>
            <a:ext cx="2835235" cy="354330"/>
          </a:xfrm>
          <a:prstGeom prst="rect">
            <a:avLst/>
          </a:prstGeom>
          <a:noFill/>
        </p:spPr>
        <p:txBody>
          <a:bodyPr wrap="none" lIns="0" tIns="0" rIns="0" bIns="0" rtlCol="0" anchor="t"/>
          <a:lstStyle/>
          <a:p>
            <a:pPr marL="0" indent="0" algn="ctr">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Flight Records</a:t>
            </a:r>
            <a:endParaRPr lang="en-US" sz="2200"/>
          </a:p>
        </p:txBody>
      </p:sp>
      <p:sp>
        <p:nvSpPr>
          <p:cNvPr id="5" name="Text 3"/>
          <p:cNvSpPr/>
          <p:nvPr/>
        </p:nvSpPr>
        <p:spPr>
          <a:xfrm>
            <a:off x="793790" y="4478893"/>
            <a:ext cx="4158615" cy="1088708"/>
          </a:xfrm>
          <a:prstGeom prst="rect">
            <a:avLst/>
          </a:prstGeom>
          <a:noFill/>
        </p:spPr>
        <p:txBody>
          <a:bodyPr wrap="square" lIns="0" tIns="0" rIns="0" bIns="0" rtlCol="0" anchor="t"/>
          <a:lstStyle/>
          <a:p>
            <a:pPr marL="0" indent="0" algn="ctr">
              <a:lnSpc>
                <a:spcPts val="2850"/>
              </a:lnSpc>
              <a:buNone/>
            </a:pPr>
            <a:r>
              <a:rPr lang="en-US" sz="1750">
                <a:solidFill>
                  <a:srgbClr val="4C4C4D"/>
                </a:solidFill>
                <a:latin typeface="Heebo" pitchFamily="34" charset="0"/>
                <a:ea typeface="Heebo" pitchFamily="34" charset="-122"/>
                <a:cs typeface="Heebo" pitchFamily="34" charset="-120"/>
              </a:rPr>
              <a:t>Comprehensive coverage of domestic and international operations throughout 2015</a:t>
            </a:r>
            <a:endParaRPr lang="en-US" sz="1750"/>
          </a:p>
        </p:txBody>
      </p:sp>
      <p:sp>
        <p:nvSpPr>
          <p:cNvPr id="6" name="Text 4"/>
          <p:cNvSpPr/>
          <p:nvPr/>
        </p:nvSpPr>
        <p:spPr>
          <a:xfrm>
            <a:off x="5235893" y="2956679"/>
            <a:ext cx="4158615" cy="748427"/>
          </a:xfrm>
          <a:prstGeom prst="rect">
            <a:avLst/>
          </a:prstGeom>
          <a:noFill/>
        </p:spPr>
        <p:txBody>
          <a:bodyPr wrap="none" lIns="0" tIns="0" rIns="0" bIns="0" rtlCol="0" anchor="t"/>
          <a:lstStyle/>
          <a:p>
            <a:pPr marL="0" indent="0" algn="ctr">
              <a:lnSpc>
                <a:spcPts val="5850"/>
              </a:lnSpc>
              <a:buNone/>
            </a:pPr>
            <a:r>
              <a:rPr lang="en-US" sz="5850">
                <a:solidFill>
                  <a:srgbClr val="4C4C4D"/>
                </a:solidFill>
                <a:latin typeface="Crimson Pro Semi Bold" pitchFamily="34" charset="0"/>
                <a:ea typeface="Crimson Pro Semi Bold" pitchFamily="34" charset="-122"/>
                <a:cs typeface="Crimson Pro Semi Bold" pitchFamily="34" charset="-120"/>
              </a:rPr>
              <a:t>300K+</a:t>
            </a:r>
            <a:endParaRPr lang="en-US" sz="5850"/>
          </a:p>
        </p:txBody>
      </p:sp>
      <p:sp>
        <p:nvSpPr>
          <p:cNvPr id="7" name="Text 5"/>
          <p:cNvSpPr/>
          <p:nvPr/>
        </p:nvSpPr>
        <p:spPr>
          <a:xfrm>
            <a:off x="5897523" y="3988475"/>
            <a:ext cx="2835235" cy="354330"/>
          </a:xfrm>
          <a:prstGeom prst="rect">
            <a:avLst/>
          </a:prstGeom>
          <a:noFill/>
        </p:spPr>
        <p:txBody>
          <a:bodyPr wrap="none" lIns="0" tIns="0" rIns="0" bIns="0" rtlCol="0" anchor="t"/>
          <a:lstStyle/>
          <a:p>
            <a:pPr marL="0" indent="0" algn="ctr">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Daily Flights</a:t>
            </a:r>
            <a:endParaRPr lang="en-US" sz="2200"/>
          </a:p>
        </p:txBody>
      </p:sp>
      <p:sp>
        <p:nvSpPr>
          <p:cNvPr id="8" name="Text 6"/>
          <p:cNvSpPr/>
          <p:nvPr/>
        </p:nvSpPr>
        <p:spPr>
          <a:xfrm>
            <a:off x="5235893" y="4478893"/>
            <a:ext cx="4158615" cy="725805"/>
          </a:xfrm>
          <a:prstGeom prst="rect">
            <a:avLst/>
          </a:prstGeom>
          <a:noFill/>
        </p:spPr>
        <p:txBody>
          <a:bodyPr wrap="square" lIns="0" tIns="0" rIns="0" bIns="0" rtlCol="0" anchor="t"/>
          <a:lstStyle/>
          <a:p>
            <a:pPr marL="0" indent="0" algn="ctr">
              <a:lnSpc>
                <a:spcPts val="2850"/>
              </a:lnSpc>
              <a:buNone/>
            </a:pPr>
            <a:r>
              <a:rPr lang="en-US" sz="1750">
                <a:solidFill>
                  <a:srgbClr val="4C4C4D"/>
                </a:solidFill>
                <a:latin typeface="Heebo" pitchFamily="34" charset="0"/>
                <a:ea typeface="Heebo" pitchFamily="34" charset="-122"/>
                <a:cs typeface="Heebo" pitchFamily="34" charset="-120"/>
              </a:rPr>
              <a:t>Average daily operations across major US airports and carriers</a:t>
            </a:r>
            <a:endParaRPr lang="en-US" sz="1750"/>
          </a:p>
        </p:txBody>
      </p:sp>
      <p:sp>
        <p:nvSpPr>
          <p:cNvPr id="9" name="Text 7"/>
          <p:cNvSpPr/>
          <p:nvPr/>
        </p:nvSpPr>
        <p:spPr>
          <a:xfrm>
            <a:off x="9677995" y="2956679"/>
            <a:ext cx="4158615" cy="748427"/>
          </a:xfrm>
          <a:prstGeom prst="rect">
            <a:avLst/>
          </a:prstGeom>
          <a:noFill/>
        </p:spPr>
        <p:txBody>
          <a:bodyPr wrap="none" lIns="0" tIns="0" rIns="0" bIns="0" rtlCol="0" anchor="t"/>
          <a:lstStyle/>
          <a:p>
            <a:pPr marL="0" indent="0" algn="ctr">
              <a:lnSpc>
                <a:spcPts val="5850"/>
              </a:lnSpc>
              <a:buNone/>
            </a:pPr>
            <a:r>
              <a:rPr lang="en-US" sz="5850">
                <a:solidFill>
                  <a:srgbClr val="4C4C4D"/>
                </a:solidFill>
                <a:latin typeface="Crimson Pro Semi Bold" pitchFamily="34" charset="0"/>
                <a:ea typeface="Crimson Pro Semi Bold" pitchFamily="34" charset="-122"/>
                <a:cs typeface="Crimson Pro Semi Bold" pitchFamily="34" charset="-120"/>
              </a:rPr>
              <a:t>100%</a:t>
            </a:r>
            <a:endParaRPr lang="en-US" sz="5850"/>
          </a:p>
        </p:txBody>
      </p:sp>
      <p:sp>
        <p:nvSpPr>
          <p:cNvPr id="10" name="Text 8"/>
          <p:cNvSpPr/>
          <p:nvPr/>
        </p:nvSpPr>
        <p:spPr>
          <a:xfrm>
            <a:off x="10339626" y="3988475"/>
            <a:ext cx="2835235" cy="354330"/>
          </a:xfrm>
          <a:prstGeom prst="rect">
            <a:avLst/>
          </a:prstGeom>
          <a:noFill/>
        </p:spPr>
        <p:txBody>
          <a:bodyPr wrap="none" lIns="0" tIns="0" rIns="0" bIns="0" rtlCol="0" anchor="t"/>
          <a:lstStyle/>
          <a:p>
            <a:pPr marL="0" indent="0" algn="ctr">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Complete Dataset</a:t>
            </a:r>
            <a:endParaRPr lang="en-US" sz="2200"/>
          </a:p>
        </p:txBody>
      </p:sp>
      <p:sp>
        <p:nvSpPr>
          <p:cNvPr id="11" name="Text 9"/>
          <p:cNvSpPr/>
          <p:nvPr/>
        </p:nvSpPr>
        <p:spPr>
          <a:xfrm>
            <a:off x="9677995" y="4478893"/>
            <a:ext cx="4158615" cy="725805"/>
          </a:xfrm>
          <a:prstGeom prst="rect">
            <a:avLst/>
          </a:prstGeom>
          <a:noFill/>
        </p:spPr>
        <p:txBody>
          <a:bodyPr wrap="square" lIns="0" tIns="0" rIns="0" bIns="0" rtlCol="0" anchor="t"/>
          <a:lstStyle/>
          <a:p>
            <a:pPr marL="0" indent="0" algn="ctr">
              <a:lnSpc>
                <a:spcPts val="2850"/>
              </a:lnSpc>
              <a:buNone/>
            </a:pPr>
            <a:r>
              <a:rPr lang="en-US" sz="1750">
                <a:solidFill>
                  <a:srgbClr val="4C4C4D"/>
                </a:solidFill>
                <a:latin typeface="Heebo" pitchFamily="34" charset="0"/>
                <a:ea typeface="Heebo" pitchFamily="34" charset="-122"/>
                <a:cs typeface="Heebo" pitchFamily="34" charset="-120"/>
              </a:rPr>
              <a:t>Full year of historical data with carrier codes, routes, delays, and cancellations</a:t>
            </a:r>
            <a:endParaRPr lang="en-US" sz="1750"/>
          </a:p>
        </p:txBody>
      </p:sp>
      <p:sp>
        <p:nvSpPr>
          <p:cNvPr id="12" name="Text 10"/>
          <p:cNvSpPr/>
          <p:nvPr/>
        </p:nvSpPr>
        <p:spPr>
          <a:xfrm>
            <a:off x="793790" y="5822752"/>
            <a:ext cx="13042821" cy="725805"/>
          </a:xfrm>
          <a:prstGeom prst="rect">
            <a:avLst/>
          </a:prstGeom>
          <a:noFill/>
        </p:spPr>
        <p:txBody>
          <a:bodyPr wrap="square" lIns="0" tIns="0" rIns="0" bIns="0" rtlCol="0" anchor="t"/>
          <a:lstStyle/>
          <a:p>
            <a:pPr marL="0" indent="0" algn="l">
              <a:lnSpc>
                <a:spcPts val="2850"/>
              </a:lnSpc>
              <a:buNone/>
            </a:pPr>
            <a:r>
              <a:rPr lang="en-US" sz="1750" b="1">
                <a:solidFill>
                  <a:srgbClr val="4C4C4D"/>
                </a:solidFill>
                <a:latin typeface="Heebo" pitchFamily="34" charset="0"/>
                <a:ea typeface="Heebo" pitchFamily="34" charset="-122"/>
                <a:cs typeface="Heebo" pitchFamily="34" charset="-120"/>
              </a:rPr>
              <a:t>Source:</a:t>
            </a:r>
            <a:r>
              <a:rPr lang="en-US" sz="1750">
                <a:solidFill>
                  <a:srgbClr val="4C4C4D"/>
                </a:solidFill>
                <a:latin typeface="Heebo" pitchFamily="34" charset="0"/>
                <a:ea typeface="Heebo" pitchFamily="34" charset="-122"/>
                <a:cs typeface="Heebo" pitchFamily="34" charset="-120"/>
              </a:rPr>
              <a:t> Kaggle US Department of Transportation Flight Delays and Cancellations dataset, covering January-December 2015 with granular delay cause codes and complete routing information.</a:t>
            </a:r>
            <a:endParaRPr lang="en-US" sz="1750"/>
          </a:p>
        </p:txBody>
      </p:sp>
      <p:sp>
        <p:nvSpPr>
          <p:cNvPr id="13" name="Rectangle 12">
            <a:extLst>
              <a:ext uri="{FF2B5EF4-FFF2-40B4-BE49-F238E27FC236}">
                <a16:creationId xmlns:a16="http://schemas.microsoft.com/office/drawing/2014/main" id="{45BA20DE-0075-3C15-72E2-4FA466025875}"/>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29734"/>
            <a:ext cx="6242328"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Technical Implementation</a:t>
            </a:r>
            <a:endParaRPr lang="en-US" sz="4450"/>
          </a:p>
        </p:txBody>
      </p:sp>
      <p:pic>
        <p:nvPicPr>
          <p:cNvPr id="3" name="Image 0" descr="preencoded.png"/>
          <p:cNvPicPr>
            <a:picLocks noChangeAspect="1"/>
          </p:cNvPicPr>
          <p:nvPr/>
        </p:nvPicPr>
        <p:blipFill>
          <a:blip r:embed="rId3"/>
          <a:stretch>
            <a:fillRect/>
          </a:stretch>
        </p:blipFill>
        <p:spPr>
          <a:xfrm>
            <a:off x="793790" y="2232303"/>
            <a:ext cx="6407944" cy="1143000"/>
          </a:xfrm>
          <a:prstGeom prst="rect">
            <a:avLst/>
          </a:prstGeom>
        </p:spPr>
      </p:pic>
      <p:sp>
        <p:nvSpPr>
          <p:cNvPr id="4" name="Text 1"/>
          <p:cNvSpPr/>
          <p:nvPr/>
        </p:nvSpPr>
        <p:spPr>
          <a:xfrm>
            <a:off x="1020604" y="313955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Data Ingestion</a:t>
            </a:r>
            <a:endParaRPr lang="en-US" sz="2200"/>
          </a:p>
        </p:txBody>
      </p:sp>
      <p:sp>
        <p:nvSpPr>
          <p:cNvPr id="5" name="Text 2"/>
          <p:cNvSpPr/>
          <p:nvPr/>
        </p:nvSpPr>
        <p:spPr>
          <a:xfrm>
            <a:off x="1020604" y="3629978"/>
            <a:ext cx="5954316"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Load and validate raw flight records, handle missing values, and establish data quality controls</a:t>
            </a:r>
            <a:endParaRPr lang="en-US" sz="1750"/>
          </a:p>
        </p:txBody>
      </p:sp>
      <p:pic>
        <p:nvPicPr>
          <p:cNvPr id="6" name="Image 1" descr="preencoded.png"/>
          <p:cNvPicPr>
            <a:picLocks noChangeAspect="1"/>
          </p:cNvPicPr>
          <p:nvPr/>
        </p:nvPicPr>
        <p:blipFill>
          <a:blip r:embed="rId3"/>
          <a:stretch>
            <a:fillRect/>
          </a:stretch>
        </p:blipFill>
        <p:spPr>
          <a:xfrm>
            <a:off x="7428548" y="1892141"/>
            <a:ext cx="6408063" cy="1143000"/>
          </a:xfrm>
          <a:prstGeom prst="rect">
            <a:avLst/>
          </a:prstGeom>
        </p:spPr>
      </p:pic>
      <p:sp>
        <p:nvSpPr>
          <p:cNvPr id="7" name="Text 3"/>
          <p:cNvSpPr/>
          <p:nvPr/>
        </p:nvSpPr>
        <p:spPr>
          <a:xfrm>
            <a:off x="7655362" y="279939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Transformation</a:t>
            </a:r>
            <a:endParaRPr lang="en-US" sz="2200"/>
          </a:p>
        </p:txBody>
      </p:sp>
      <p:sp>
        <p:nvSpPr>
          <p:cNvPr id="8" name="Text 4"/>
          <p:cNvSpPr/>
          <p:nvPr/>
        </p:nvSpPr>
        <p:spPr>
          <a:xfrm>
            <a:off x="7655362" y="3289816"/>
            <a:ext cx="5954435"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Enrich records with geographic data, calculate delay metrics, and categorize disruption types</a:t>
            </a:r>
            <a:endParaRPr lang="en-US" sz="1750"/>
          </a:p>
        </p:txBody>
      </p:sp>
      <p:pic>
        <p:nvPicPr>
          <p:cNvPr id="9" name="Image 2" descr="preencoded.png"/>
          <p:cNvPicPr>
            <a:picLocks noChangeAspect="1"/>
          </p:cNvPicPr>
          <p:nvPr/>
        </p:nvPicPr>
        <p:blipFill>
          <a:blip r:embed="rId3"/>
          <a:stretch>
            <a:fillRect/>
          </a:stretch>
        </p:blipFill>
        <p:spPr>
          <a:xfrm>
            <a:off x="793790" y="5149572"/>
            <a:ext cx="6407944" cy="1143000"/>
          </a:xfrm>
          <a:prstGeom prst="rect">
            <a:avLst/>
          </a:prstGeom>
        </p:spPr>
      </p:pic>
      <p:sp>
        <p:nvSpPr>
          <p:cNvPr id="10" name="Text 5"/>
          <p:cNvSpPr/>
          <p:nvPr/>
        </p:nvSpPr>
        <p:spPr>
          <a:xfrm>
            <a:off x="1020604" y="60568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Storage</a:t>
            </a:r>
            <a:endParaRPr lang="en-US" sz="2200"/>
          </a:p>
        </p:txBody>
      </p:sp>
      <p:sp>
        <p:nvSpPr>
          <p:cNvPr id="11" name="Text 6"/>
          <p:cNvSpPr/>
          <p:nvPr/>
        </p:nvSpPr>
        <p:spPr>
          <a:xfrm>
            <a:off x="1020604" y="6547247"/>
            <a:ext cx="5954316"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Create optimized database structures with indexes for efficient querying and reporting</a:t>
            </a:r>
            <a:endParaRPr lang="en-US" sz="1750"/>
          </a:p>
        </p:txBody>
      </p:sp>
      <p:pic>
        <p:nvPicPr>
          <p:cNvPr id="12" name="Image 3" descr="preencoded.png"/>
          <p:cNvPicPr>
            <a:picLocks noChangeAspect="1"/>
          </p:cNvPicPr>
          <p:nvPr/>
        </p:nvPicPr>
        <p:blipFill>
          <a:blip r:embed="rId3"/>
          <a:stretch>
            <a:fillRect/>
          </a:stretch>
        </p:blipFill>
        <p:spPr>
          <a:xfrm>
            <a:off x="7428548" y="4809411"/>
            <a:ext cx="6408063" cy="1143000"/>
          </a:xfrm>
          <a:prstGeom prst="rect">
            <a:avLst/>
          </a:prstGeom>
        </p:spPr>
      </p:pic>
      <p:sp>
        <p:nvSpPr>
          <p:cNvPr id="13" name="Text 7"/>
          <p:cNvSpPr/>
          <p:nvPr/>
        </p:nvSpPr>
        <p:spPr>
          <a:xfrm>
            <a:off x="7655362" y="5716667"/>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Visualization</a:t>
            </a:r>
            <a:endParaRPr lang="en-US" sz="2200"/>
          </a:p>
        </p:txBody>
      </p:sp>
      <p:sp>
        <p:nvSpPr>
          <p:cNvPr id="14" name="Text 8"/>
          <p:cNvSpPr/>
          <p:nvPr/>
        </p:nvSpPr>
        <p:spPr>
          <a:xfrm>
            <a:off x="7655362" y="6207085"/>
            <a:ext cx="5954435"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Build interactive dashboards that make complex patterns accessible to non-technical stakeholders</a:t>
            </a:r>
            <a:endParaRPr lang="en-US" sz="1750"/>
          </a:p>
        </p:txBody>
      </p:sp>
      <p:sp>
        <p:nvSpPr>
          <p:cNvPr id="15" name="Rectangle 14">
            <a:extLst>
              <a:ext uri="{FF2B5EF4-FFF2-40B4-BE49-F238E27FC236}">
                <a16:creationId xmlns:a16="http://schemas.microsoft.com/office/drawing/2014/main" id="{EFA2327A-B040-29F5-87D5-951C5840B119}"/>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31181"/>
            <a:ext cx="6746677"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Key Metrics &amp; Analysis Areas</a:t>
            </a:r>
            <a:endParaRPr lang="en-US" sz="4450"/>
          </a:p>
        </p:txBody>
      </p:sp>
      <p:sp>
        <p:nvSpPr>
          <p:cNvPr id="3" name="Shape 1"/>
          <p:cNvSpPr/>
          <p:nvPr/>
        </p:nvSpPr>
        <p:spPr>
          <a:xfrm>
            <a:off x="793790" y="2993588"/>
            <a:ext cx="510302" cy="510302"/>
          </a:xfrm>
          <a:prstGeom prst="roundRect">
            <a:avLst>
              <a:gd name="adj" fmla="val 6667"/>
            </a:avLst>
          </a:prstGeom>
          <a:solidFill>
            <a:srgbClr val="F2EEEE"/>
          </a:solidFill>
        </p:spPr>
        <p:txBody>
          <a:bodyPr/>
          <a:lstStyle/>
          <a:p>
            <a:endParaRPr/>
          </a:p>
        </p:txBody>
      </p:sp>
      <p:sp>
        <p:nvSpPr>
          <p:cNvPr id="4" name="Text 2"/>
          <p:cNvSpPr/>
          <p:nvPr/>
        </p:nvSpPr>
        <p:spPr>
          <a:xfrm>
            <a:off x="1530906" y="3071455"/>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On-Time Performance</a:t>
            </a:r>
            <a:endParaRPr lang="en-US" sz="2200"/>
          </a:p>
        </p:txBody>
      </p:sp>
      <p:sp>
        <p:nvSpPr>
          <p:cNvPr id="5" name="Text 3"/>
          <p:cNvSpPr/>
          <p:nvPr/>
        </p:nvSpPr>
        <p:spPr>
          <a:xfrm>
            <a:off x="1530906" y="3561874"/>
            <a:ext cx="5642491"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Percentage of flights arriving within 15 minutes of scheduled time, broken down by carrier, route, and time period</a:t>
            </a:r>
            <a:endParaRPr lang="en-US" sz="1750"/>
          </a:p>
        </p:txBody>
      </p:sp>
      <p:sp>
        <p:nvSpPr>
          <p:cNvPr id="6" name="Shape 4"/>
          <p:cNvSpPr/>
          <p:nvPr/>
        </p:nvSpPr>
        <p:spPr>
          <a:xfrm>
            <a:off x="7456884" y="2993588"/>
            <a:ext cx="510302" cy="510302"/>
          </a:xfrm>
          <a:prstGeom prst="roundRect">
            <a:avLst>
              <a:gd name="adj" fmla="val 6667"/>
            </a:avLst>
          </a:prstGeom>
          <a:solidFill>
            <a:srgbClr val="F2EEEE"/>
          </a:solidFill>
        </p:spPr>
        <p:txBody>
          <a:bodyPr/>
          <a:lstStyle/>
          <a:p>
            <a:endParaRPr/>
          </a:p>
        </p:txBody>
      </p:sp>
      <p:sp>
        <p:nvSpPr>
          <p:cNvPr id="7" name="Text 5"/>
          <p:cNvSpPr/>
          <p:nvPr/>
        </p:nvSpPr>
        <p:spPr>
          <a:xfrm>
            <a:off x="8194000" y="3071455"/>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Delay Distribution</a:t>
            </a:r>
            <a:endParaRPr lang="en-US" sz="2200"/>
          </a:p>
        </p:txBody>
      </p:sp>
      <p:sp>
        <p:nvSpPr>
          <p:cNvPr id="8" name="Text 6"/>
          <p:cNvSpPr/>
          <p:nvPr/>
        </p:nvSpPr>
        <p:spPr>
          <a:xfrm>
            <a:off x="8194000" y="3561874"/>
            <a:ext cx="5642610"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Duration and frequency of delays categorized by cause: weather, carrier, late arrivals, security, and other factors</a:t>
            </a:r>
            <a:endParaRPr lang="en-US" sz="1750"/>
          </a:p>
        </p:txBody>
      </p:sp>
      <p:sp>
        <p:nvSpPr>
          <p:cNvPr id="9" name="Shape 7"/>
          <p:cNvSpPr/>
          <p:nvPr/>
        </p:nvSpPr>
        <p:spPr>
          <a:xfrm>
            <a:off x="793790" y="5104209"/>
            <a:ext cx="510302" cy="510302"/>
          </a:xfrm>
          <a:prstGeom prst="roundRect">
            <a:avLst>
              <a:gd name="adj" fmla="val 6667"/>
            </a:avLst>
          </a:prstGeom>
          <a:solidFill>
            <a:srgbClr val="F2EEEE"/>
          </a:solidFill>
        </p:spPr>
        <p:txBody>
          <a:bodyPr/>
          <a:lstStyle/>
          <a:p>
            <a:endParaRPr/>
          </a:p>
        </p:txBody>
      </p:sp>
      <p:sp>
        <p:nvSpPr>
          <p:cNvPr id="10" name="Text 8"/>
          <p:cNvSpPr/>
          <p:nvPr/>
        </p:nvSpPr>
        <p:spPr>
          <a:xfrm>
            <a:off x="1530906" y="5182076"/>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Cancellation Rates</a:t>
            </a:r>
            <a:endParaRPr lang="en-US" sz="2200"/>
          </a:p>
        </p:txBody>
      </p:sp>
      <p:sp>
        <p:nvSpPr>
          <p:cNvPr id="11" name="Text 9"/>
          <p:cNvSpPr/>
          <p:nvPr/>
        </p:nvSpPr>
        <p:spPr>
          <a:xfrm>
            <a:off x="1530906" y="5672495"/>
            <a:ext cx="5642491"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Total cancellations by carrier and reason, with analysis of seasonal patterns and operational impact</a:t>
            </a:r>
            <a:endParaRPr lang="en-US" sz="1750"/>
          </a:p>
        </p:txBody>
      </p:sp>
      <p:sp>
        <p:nvSpPr>
          <p:cNvPr id="12" name="Shape 10"/>
          <p:cNvSpPr/>
          <p:nvPr/>
        </p:nvSpPr>
        <p:spPr>
          <a:xfrm>
            <a:off x="7456884" y="5104209"/>
            <a:ext cx="510302" cy="510302"/>
          </a:xfrm>
          <a:prstGeom prst="roundRect">
            <a:avLst>
              <a:gd name="adj" fmla="val 6667"/>
            </a:avLst>
          </a:prstGeom>
          <a:solidFill>
            <a:srgbClr val="F2EEEE"/>
          </a:solidFill>
        </p:spPr>
        <p:txBody>
          <a:bodyPr/>
          <a:lstStyle/>
          <a:p>
            <a:endParaRPr/>
          </a:p>
        </p:txBody>
      </p:sp>
      <p:sp>
        <p:nvSpPr>
          <p:cNvPr id="13" name="Text 11"/>
          <p:cNvSpPr/>
          <p:nvPr/>
        </p:nvSpPr>
        <p:spPr>
          <a:xfrm>
            <a:off x="8194000" y="5182076"/>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Airport Performance</a:t>
            </a:r>
            <a:endParaRPr lang="en-US" sz="2200"/>
          </a:p>
        </p:txBody>
      </p:sp>
      <p:sp>
        <p:nvSpPr>
          <p:cNvPr id="14" name="Text 12"/>
          <p:cNvSpPr/>
          <p:nvPr/>
        </p:nvSpPr>
        <p:spPr>
          <a:xfrm>
            <a:off x="8194000" y="5672495"/>
            <a:ext cx="5642610"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Hub and origin airport rankings by delay and cancellation rates to identify operational bottlenecks</a:t>
            </a:r>
            <a:endParaRPr lang="en-US" sz="1750"/>
          </a:p>
        </p:txBody>
      </p:sp>
      <p:sp>
        <p:nvSpPr>
          <p:cNvPr id="15" name="Rectangle 14">
            <a:extLst>
              <a:ext uri="{FF2B5EF4-FFF2-40B4-BE49-F238E27FC236}">
                <a16:creationId xmlns:a16="http://schemas.microsoft.com/office/drawing/2014/main" id="{EF05280D-C0A1-C88B-C382-0FA64AEF5B53}"/>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352086"/>
            <a:ext cx="9021247"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Flight Delay Data Pipeline: Milestone 1</a:t>
            </a:r>
            <a:endParaRPr lang="en-US" sz="4450"/>
          </a:p>
        </p:txBody>
      </p:sp>
      <p:sp>
        <p:nvSpPr>
          <p:cNvPr id="3" name="Text 1"/>
          <p:cNvSpPr/>
          <p:nvPr/>
        </p:nvSpPr>
        <p:spPr>
          <a:xfrm>
            <a:off x="793790" y="4514493"/>
            <a:ext cx="13042821"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Converting Big Data into a Clean, Analysis-Ready Dataset</a:t>
            </a:r>
            <a:endParaRPr lang="en-US" sz="1750"/>
          </a:p>
        </p:txBody>
      </p:sp>
      <p:sp>
        <p:nvSpPr>
          <p:cNvPr id="4" name="Rectangle 3">
            <a:extLst>
              <a:ext uri="{FF2B5EF4-FFF2-40B4-BE49-F238E27FC236}">
                <a16:creationId xmlns:a16="http://schemas.microsoft.com/office/drawing/2014/main" id="{DDFF12AA-BE00-118D-9D13-4DB7C6222F76}"/>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47919"/>
            <a:ext cx="8597622"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Milestone 1: Data Acquisition &amp; Preprocessing</a:t>
            </a:r>
            <a:endParaRPr lang="en-US" sz="3550"/>
          </a:p>
        </p:txBody>
      </p:sp>
      <p:sp>
        <p:nvSpPr>
          <p:cNvPr id="3" name="Text 1"/>
          <p:cNvSpPr/>
          <p:nvPr/>
        </p:nvSpPr>
        <p:spPr>
          <a:xfrm>
            <a:off x="793790" y="2468523"/>
            <a:ext cx="13042821"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The foundation of reliable flight delay prediction rests on transforming raw, massive datasets into structured, optimized data. This milestone establishes the data pipeline that converts "Big Data" into a "Clean Dataset" ready for analysis.</a:t>
            </a:r>
            <a:endParaRPr lang="en-US" sz="1750"/>
          </a:p>
        </p:txBody>
      </p:sp>
      <p:sp>
        <p:nvSpPr>
          <p:cNvPr id="4" name="Text 2"/>
          <p:cNvSpPr/>
          <p:nvPr/>
        </p:nvSpPr>
        <p:spPr>
          <a:xfrm>
            <a:off x="793790" y="3449479"/>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01</a:t>
            </a:r>
            <a:endParaRPr lang="en-US" sz="1750"/>
          </a:p>
        </p:txBody>
      </p:sp>
      <p:sp>
        <p:nvSpPr>
          <p:cNvPr id="5" name="Shape 3"/>
          <p:cNvSpPr/>
          <p:nvPr/>
        </p:nvSpPr>
        <p:spPr>
          <a:xfrm>
            <a:off x="793790" y="3804523"/>
            <a:ext cx="6407944" cy="30480"/>
          </a:xfrm>
          <a:prstGeom prst="rect">
            <a:avLst/>
          </a:prstGeom>
          <a:solidFill>
            <a:srgbClr val="2150FE"/>
          </a:solidFill>
        </p:spPr>
        <p:txBody>
          <a:bodyPr/>
          <a:lstStyle/>
          <a:p>
            <a:endParaRPr/>
          </a:p>
        </p:txBody>
      </p:sp>
      <p:sp>
        <p:nvSpPr>
          <p:cNvPr id="6" name="Text 4"/>
          <p:cNvSpPr/>
          <p:nvPr/>
        </p:nvSpPr>
        <p:spPr>
          <a:xfrm>
            <a:off x="793790" y="3978831"/>
            <a:ext cx="3091339"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Automated Data Ingestion</a:t>
            </a:r>
            <a:endParaRPr lang="en-US" sz="2200"/>
          </a:p>
        </p:txBody>
      </p:sp>
      <p:sp>
        <p:nvSpPr>
          <p:cNvPr id="7" name="Text 5"/>
          <p:cNvSpPr/>
          <p:nvPr/>
        </p:nvSpPr>
        <p:spPr>
          <a:xfrm>
            <a:off x="793790" y="4469249"/>
            <a:ext cx="6407944"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Streamlined dataset acquisition</a:t>
            </a:r>
            <a:endParaRPr lang="en-US" sz="1750"/>
          </a:p>
        </p:txBody>
      </p:sp>
      <p:sp>
        <p:nvSpPr>
          <p:cNvPr id="8" name="Text 6"/>
          <p:cNvSpPr/>
          <p:nvPr/>
        </p:nvSpPr>
        <p:spPr>
          <a:xfrm>
            <a:off x="7428548" y="3449479"/>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02</a:t>
            </a:r>
            <a:endParaRPr lang="en-US" sz="1750"/>
          </a:p>
        </p:txBody>
      </p:sp>
      <p:sp>
        <p:nvSpPr>
          <p:cNvPr id="9" name="Shape 7"/>
          <p:cNvSpPr/>
          <p:nvPr/>
        </p:nvSpPr>
        <p:spPr>
          <a:xfrm>
            <a:off x="7428548" y="3804523"/>
            <a:ext cx="6408063" cy="30480"/>
          </a:xfrm>
          <a:prstGeom prst="rect">
            <a:avLst/>
          </a:prstGeom>
          <a:solidFill>
            <a:srgbClr val="2150FE"/>
          </a:solidFill>
        </p:spPr>
        <p:txBody>
          <a:bodyPr/>
          <a:lstStyle/>
          <a:p>
            <a:endParaRPr/>
          </a:p>
        </p:txBody>
      </p:sp>
      <p:sp>
        <p:nvSpPr>
          <p:cNvPr id="10" name="Text 8"/>
          <p:cNvSpPr/>
          <p:nvPr/>
        </p:nvSpPr>
        <p:spPr>
          <a:xfrm>
            <a:off x="7428548" y="397883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Memory Optimization</a:t>
            </a:r>
            <a:endParaRPr lang="en-US" sz="2200"/>
          </a:p>
        </p:txBody>
      </p:sp>
      <p:sp>
        <p:nvSpPr>
          <p:cNvPr id="11" name="Text 9"/>
          <p:cNvSpPr/>
          <p:nvPr/>
        </p:nvSpPr>
        <p:spPr>
          <a:xfrm>
            <a:off x="7428548" y="4469249"/>
            <a:ext cx="6408063"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Handling massive volume efficiently</a:t>
            </a:r>
            <a:endParaRPr lang="en-US" sz="1750"/>
          </a:p>
        </p:txBody>
      </p:sp>
      <p:sp>
        <p:nvSpPr>
          <p:cNvPr id="12" name="Text 10"/>
          <p:cNvSpPr/>
          <p:nvPr/>
        </p:nvSpPr>
        <p:spPr>
          <a:xfrm>
            <a:off x="793790" y="5228987"/>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03</a:t>
            </a:r>
            <a:endParaRPr lang="en-US" sz="1750"/>
          </a:p>
        </p:txBody>
      </p:sp>
      <p:sp>
        <p:nvSpPr>
          <p:cNvPr id="13" name="Shape 11"/>
          <p:cNvSpPr/>
          <p:nvPr/>
        </p:nvSpPr>
        <p:spPr>
          <a:xfrm>
            <a:off x="793790" y="5584031"/>
            <a:ext cx="6407944" cy="30480"/>
          </a:xfrm>
          <a:prstGeom prst="rect">
            <a:avLst/>
          </a:prstGeom>
          <a:solidFill>
            <a:srgbClr val="2150FE"/>
          </a:solidFill>
        </p:spPr>
        <p:txBody>
          <a:bodyPr/>
          <a:lstStyle/>
          <a:p>
            <a:endParaRPr/>
          </a:p>
        </p:txBody>
      </p:sp>
      <p:sp>
        <p:nvSpPr>
          <p:cNvPr id="14" name="Text 12"/>
          <p:cNvSpPr/>
          <p:nvPr/>
        </p:nvSpPr>
        <p:spPr>
          <a:xfrm>
            <a:off x="793790" y="575833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Data Cleaning</a:t>
            </a:r>
            <a:endParaRPr lang="en-US" sz="2200"/>
          </a:p>
        </p:txBody>
      </p:sp>
      <p:sp>
        <p:nvSpPr>
          <p:cNvPr id="15" name="Text 13"/>
          <p:cNvSpPr/>
          <p:nvPr/>
        </p:nvSpPr>
        <p:spPr>
          <a:xfrm>
            <a:off x="793790" y="6248757"/>
            <a:ext cx="6407944"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Addressing missing information</a:t>
            </a:r>
            <a:endParaRPr lang="en-US" sz="1750"/>
          </a:p>
        </p:txBody>
      </p:sp>
      <p:sp>
        <p:nvSpPr>
          <p:cNvPr id="16" name="Text 14"/>
          <p:cNvSpPr/>
          <p:nvPr/>
        </p:nvSpPr>
        <p:spPr>
          <a:xfrm>
            <a:off x="7428548" y="5228987"/>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04</a:t>
            </a:r>
            <a:endParaRPr lang="en-US" sz="1750"/>
          </a:p>
        </p:txBody>
      </p:sp>
      <p:sp>
        <p:nvSpPr>
          <p:cNvPr id="17" name="Shape 15"/>
          <p:cNvSpPr/>
          <p:nvPr/>
        </p:nvSpPr>
        <p:spPr>
          <a:xfrm>
            <a:off x="7428548" y="5584031"/>
            <a:ext cx="6408063" cy="30480"/>
          </a:xfrm>
          <a:prstGeom prst="rect">
            <a:avLst/>
          </a:prstGeom>
          <a:solidFill>
            <a:srgbClr val="2150FE"/>
          </a:solidFill>
        </p:spPr>
        <p:txBody>
          <a:bodyPr/>
          <a:lstStyle/>
          <a:p>
            <a:endParaRPr/>
          </a:p>
        </p:txBody>
      </p:sp>
      <p:sp>
        <p:nvSpPr>
          <p:cNvPr id="18" name="Text 16"/>
          <p:cNvSpPr/>
          <p:nvPr/>
        </p:nvSpPr>
        <p:spPr>
          <a:xfrm>
            <a:off x="7428548" y="575833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Feature Engineering</a:t>
            </a:r>
            <a:endParaRPr lang="en-US" sz="2200"/>
          </a:p>
        </p:txBody>
      </p:sp>
      <p:sp>
        <p:nvSpPr>
          <p:cNvPr id="19" name="Text 17"/>
          <p:cNvSpPr/>
          <p:nvPr/>
        </p:nvSpPr>
        <p:spPr>
          <a:xfrm>
            <a:off x="7428548" y="6248757"/>
            <a:ext cx="6408063"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Creating analytical features</a:t>
            </a:r>
            <a:endParaRPr lang="en-US" sz="1750"/>
          </a:p>
        </p:txBody>
      </p:sp>
      <p:sp>
        <p:nvSpPr>
          <p:cNvPr id="20" name="Rectangle 19">
            <a:extLst>
              <a:ext uri="{FF2B5EF4-FFF2-40B4-BE49-F238E27FC236}">
                <a16:creationId xmlns:a16="http://schemas.microsoft.com/office/drawing/2014/main" id="{EA51E1EE-204B-B2D2-C05E-10723E6DC518}"/>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47505"/>
            <a:ext cx="5394722"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Automated Ingestion System</a:t>
            </a:r>
            <a:endParaRPr lang="en-US" sz="3550"/>
          </a:p>
        </p:txBody>
      </p:sp>
      <p:sp>
        <p:nvSpPr>
          <p:cNvPr id="3" name="Text 1"/>
          <p:cNvSpPr/>
          <p:nvPr/>
        </p:nvSpPr>
        <p:spPr>
          <a:xfrm>
            <a:off x="793790" y="3081457"/>
            <a:ext cx="2835235"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Direct Dataset Access</a:t>
            </a:r>
            <a:endParaRPr lang="en-US" sz="2200"/>
          </a:p>
        </p:txBody>
      </p:sp>
      <p:sp>
        <p:nvSpPr>
          <p:cNvPr id="4" name="Text 2"/>
          <p:cNvSpPr/>
          <p:nvPr/>
        </p:nvSpPr>
        <p:spPr>
          <a:xfrm>
            <a:off x="793790" y="3662601"/>
            <a:ext cx="6244709"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Leveraging </a:t>
            </a:r>
            <a:r>
              <a:rPr lang="en-US" sz="1750" b="1">
                <a:solidFill>
                  <a:srgbClr val="4C4C4D"/>
                </a:solidFill>
                <a:latin typeface="Heebo" pitchFamily="34" charset="0"/>
                <a:ea typeface="Heebo" pitchFamily="34" charset="-122"/>
                <a:cs typeface="Heebo" pitchFamily="34" charset="-120"/>
              </a:rPr>
              <a:t>kagglehub</a:t>
            </a:r>
            <a:r>
              <a:rPr lang="en-US" sz="1750">
                <a:solidFill>
                  <a:srgbClr val="4C4C4D"/>
                </a:solidFill>
                <a:latin typeface="Heebo" pitchFamily="34" charset="0"/>
                <a:ea typeface="Heebo" pitchFamily="34" charset="-122"/>
                <a:cs typeface="Heebo" pitchFamily="34" charset="-120"/>
              </a:rPr>
              <a:t> for programmatic dataset downloading ensures reproducible workflows and eliminates manual file management.</a:t>
            </a:r>
            <a:endParaRPr lang="en-US" sz="1750"/>
          </a:p>
        </p:txBody>
      </p:sp>
      <p:sp>
        <p:nvSpPr>
          <p:cNvPr id="5" name="Text 3"/>
          <p:cNvSpPr/>
          <p:nvPr/>
        </p:nvSpPr>
        <p:spPr>
          <a:xfrm>
            <a:off x="793790" y="4955381"/>
            <a:ext cx="6244709" cy="1247299"/>
          </a:xfrm>
          <a:prstGeom prst="rect">
            <a:avLst/>
          </a:prstGeom>
          <a:noFill/>
        </p:spPr>
        <p:txBody>
          <a:bodyPr wrap="square" lIns="0" tIns="0" rIns="0" bIns="0" rtlCol="0" anchor="t"/>
          <a:lstStyle/>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Version-controlled dataset access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Automated download with checksum verification</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Integration with CI/CD pipelines</a:t>
            </a:r>
            <a:endParaRPr lang="en-US" sz="1750"/>
          </a:p>
        </p:txBody>
      </p:sp>
      <p:sp>
        <p:nvSpPr>
          <p:cNvPr id="6" name="Text 4"/>
          <p:cNvSpPr/>
          <p:nvPr/>
        </p:nvSpPr>
        <p:spPr>
          <a:xfrm>
            <a:off x="7599521" y="3081457"/>
            <a:ext cx="3658672"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File Environment Management</a:t>
            </a:r>
            <a:endParaRPr lang="en-US" sz="2200"/>
          </a:p>
        </p:txBody>
      </p:sp>
      <p:sp>
        <p:nvSpPr>
          <p:cNvPr id="7" name="Text 5"/>
          <p:cNvSpPr/>
          <p:nvPr/>
        </p:nvSpPr>
        <p:spPr>
          <a:xfrm>
            <a:off x="7599521" y="3662601"/>
            <a:ext cx="624470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Structured directory paths maintain consistency across development, testing, and production environments.</a:t>
            </a:r>
            <a:endParaRPr lang="en-US" sz="1750"/>
          </a:p>
        </p:txBody>
      </p:sp>
      <p:sp>
        <p:nvSpPr>
          <p:cNvPr id="8" name="Text 6"/>
          <p:cNvSpPr/>
          <p:nvPr/>
        </p:nvSpPr>
        <p:spPr>
          <a:xfrm>
            <a:off x="7599521" y="4592479"/>
            <a:ext cx="6244709" cy="1247299"/>
          </a:xfrm>
          <a:prstGeom prst="rect">
            <a:avLst/>
          </a:prstGeom>
          <a:noFill/>
        </p:spPr>
        <p:txBody>
          <a:bodyPr wrap="square" lIns="0" tIns="0" rIns="0" bIns="0" rtlCol="0" anchor="t"/>
          <a:lstStyle/>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Standardized data staging areas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Clear separation between raw and processed data</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Automated cleanup of temporary files</a:t>
            </a:r>
            <a:endParaRPr lang="en-US" sz="1750"/>
          </a:p>
        </p:txBody>
      </p:sp>
      <p:sp>
        <p:nvSpPr>
          <p:cNvPr id="9" name="Rectangle 8">
            <a:extLst>
              <a:ext uri="{FF2B5EF4-FFF2-40B4-BE49-F238E27FC236}">
                <a16:creationId xmlns:a16="http://schemas.microsoft.com/office/drawing/2014/main" id="{95CA2CCF-C696-AB45-21F6-238C3B88EEDA}"/>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16192"/>
            <a:ext cx="6460331"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Memory Optimization Techniques</a:t>
            </a:r>
            <a:endParaRPr lang="en-US" sz="3550"/>
          </a:p>
        </p:txBody>
      </p:sp>
      <p:sp>
        <p:nvSpPr>
          <p:cNvPr id="3" name="Text 1"/>
          <p:cNvSpPr/>
          <p:nvPr/>
        </p:nvSpPr>
        <p:spPr>
          <a:xfrm>
            <a:off x="793790" y="2936796"/>
            <a:ext cx="13042821"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Flight delay datasets can exceed 100GB with millions of records. Strategic optimization prevents system crashes while maintaining data integrity.</a:t>
            </a:r>
            <a:endParaRPr lang="en-US" sz="1750"/>
          </a:p>
        </p:txBody>
      </p:sp>
      <p:sp>
        <p:nvSpPr>
          <p:cNvPr id="4" name="Shape 2"/>
          <p:cNvSpPr/>
          <p:nvPr/>
        </p:nvSpPr>
        <p:spPr>
          <a:xfrm>
            <a:off x="793790" y="3917752"/>
            <a:ext cx="4196358" cy="2395657"/>
          </a:xfrm>
          <a:prstGeom prst="roundRect">
            <a:avLst>
              <a:gd name="adj" fmla="val 1420"/>
            </a:avLst>
          </a:prstGeom>
          <a:solidFill>
            <a:srgbClr val="F2EEEE"/>
          </a:solidFill>
        </p:spPr>
        <p:txBody>
          <a:bodyPr/>
          <a:lstStyle/>
          <a:p>
            <a:endParaRPr/>
          </a:p>
        </p:txBody>
      </p:sp>
      <p:sp>
        <p:nvSpPr>
          <p:cNvPr id="5" name="Text 3"/>
          <p:cNvSpPr/>
          <p:nvPr/>
        </p:nvSpPr>
        <p:spPr>
          <a:xfrm>
            <a:off x="1020604" y="4144566"/>
            <a:ext cx="3605570"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Downcasting Numerical Types</a:t>
            </a:r>
            <a:endParaRPr lang="en-US" sz="2200"/>
          </a:p>
        </p:txBody>
      </p:sp>
      <p:sp>
        <p:nvSpPr>
          <p:cNvPr id="6" name="Text 4"/>
          <p:cNvSpPr/>
          <p:nvPr/>
        </p:nvSpPr>
        <p:spPr>
          <a:xfrm>
            <a:off x="1020604" y="4634984"/>
            <a:ext cx="374273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Converting float64 to float32 reduces memory footprint by 50% without precision loss for most delay calculations.</a:t>
            </a:r>
            <a:endParaRPr lang="en-US" sz="1750"/>
          </a:p>
        </p:txBody>
      </p:sp>
      <p:sp>
        <p:nvSpPr>
          <p:cNvPr id="7" name="Shape 5"/>
          <p:cNvSpPr/>
          <p:nvPr/>
        </p:nvSpPr>
        <p:spPr>
          <a:xfrm>
            <a:off x="5216962" y="3917752"/>
            <a:ext cx="4196358" cy="2395657"/>
          </a:xfrm>
          <a:prstGeom prst="roundRect">
            <a:avLst>
              <a:gd name="adj" fmla="val 1420"/>
            </a:avLst>
          </a:prstGeom>
          <a:solidFill>
            <a:srgbClr val="F2EEEE"/>
          </a:solidFill>
        </p:spPr>
        <p:txBody>
          <a:bodyPr/>
          <a:lstStyle/>
          <a:p>
            <a:endParaRPr/>
          </a:p>
        </p:txBody>
      </p:sp>
      <p:sp>
        <p:nvSpPr>
          <p:cNvPr id="8" name="Text 6"/>
          <p:cNvSpPr/>
          <p:nvPr/>
        </p:nvSpPr>
        <p:spPr>
          <a:xfrm>
            <a:off x="5443776" y="4144566"/>
            <a:ext cx="3374708"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Redundant Column Removal</a:t>
            </a:r>
            <a:endParaRPr lang="en-US" sz="2200"/>
          </a:p>
        </p:txBody>
      </p:sp>
      <p:sp>
        <p:nvSpPr>
          <p:cNvPr id="9" name="Text 7"/>
          <p:cNvSpPr/>
          <p:nvPr/>
        </p:nvSpPr>
        <p:spPr>
          <a:xfrm>
            <a:off x="5443776" y="4634984"/>
            <a:ext cx="374273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Dropping unused or duplicate columns early in the pipeline accelerates processing and reduces storage costs.</a:t>
            </a:r>
            <a:endParaRPr lang="en-US" sz="1750"/>
          </a:p>
        </p:txBody>
      </p:sp>
      <p:sp>
        <p:nvSpPr>
          <p:cNvPr id="10" name="Shape 8"/>
          <p:cNvSpPr/>
          <p:nvPr/>
        </p:nvSpPr>
        <p:spPr>
          <a:xfrm>
            <a:off x="9640133" y="3917752"/>
            <a:ext cx="4196358" cy="2395657"/>
          </a:xfrm>
          <a:prstGeom prst="roundRect">
            <a:avLst>
              <a:gd name="adj" fmla="val 1420"/>
            </a:avLst>
          </a:prstGeom>
          <a:solidFill>
            <a:srgbClr val="F2EEEE"/>
          </a:solidFill>
        </p:spPr>
        <p:txBody>
          <a:bodyPr/>
          <a:lstStyle/>
          <a:p>
            <a:endParaRPr/>
          </a:p>
        </p:txBody>
      </p:sp>
      <p:sp>
        <p:nvSpPr>
          <p:cNvPr id="11" name="Text 9"/>
          <p:cNvSpPr/>
          <p:nvPr/>
        </p:nvSpPr>
        <p:spPr>
          <a:xfrm>
            <a:off x="9866948" y="4144566"/>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Chunked Processing</a:t>
            </a:r>
            <a:endParaRPr lang="en-US" sz="2200"/>
          </a:p>
        </p:txBody>
      </p:sp>
      <p:sp>
        <p:nvSpPr>
          <p:cNvPr id="12" name="Text 10"/>
          <p:cNvSpPr/>
          <p:nvPr/>
        </p:nvSpPr>
        <p:spPr>
          <a:xfrm>
            <a:off x="9866948" y="4634984"/>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Processing data in manageable batches prevents memory overflow while enabling parallel computation.</a:t>
            </a:r>
            <a:endParaRPr lang="en-US" sz="1750"/>
          </a:p>
        </p:txBody>
      </p:sp>
      <p:sp>
        <p:nvSpPr>
          <p:cNvPr id="13" name="Rectangle 12">
            <a:extLst>
              <a:ext uri="{FF2B5EF4-FFF2-40B4-BE49-F238E27FC236}">
                <a16:creationId xmlns:a16="http://schemas.microsoft.com/office/drawing/2014/main" id="{4252D1F6-E4F3-BD7D-2380-6D0783F04CB0}"/>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74182"/>
            <a:ext cx="5718572"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Handling Missing Information</a:t>
            </a:r>
            <a:endParaRPr lang="en-US" sz="3550"/>
          </a:p>
        </p:txBody>
      </p:sp>
      <p:sp>
        <p:nvSpPr>
          <p:cNvPr id="3" name="Text 1"/>
          <p:cNvSpPr/>
          <p:nvPr/>
        </p:nvSpPr>
        <p:spPr>
          <a:xfrm>
            <a:off x="793790" y="2208133"/>
            <a:ext cx="3614142"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Strategic Null Value Treatment</a:t>
            </a:r>
            <a:endParaRPr lang="en-US" sz="2200"/>
          </a:p>
        </p:txBody>
      </p:sp>
      <p:sp>
        <p:nvSpPr>
          <p:cNvPr id="4" name="Text 2"/>
          <p:cNvSpPr/>
          <p:nvPr/>
        </p:nvSpPr>
        <p:spPr>
          <a:xfrm>
            <a:off x="793790" y="2789277"/>
            <a:ext cx="8284131"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Delay columns (Carrier, Weather, NAS, Security, Late Aircraft) frequently contain null values. The logic: </a:t>
            </a:r>
            <a:r>
              <a:rPr lang="en-US" sz="1750" b="1">
                <a:solidFill>
                  <a:srgbClr val="4C4C4D"/>
                </a:solidFill>
                <a:latin typeface="Heebo" pitchFamily="34" charset="0"/>
                <a:ea typeface="Heebo" pitchFamily="34" charset="-122"/>
                <a:cs typeface="Heebo" pitchFamily="34" charset="-120"/>
              </a:rPr>
              <a:t>filling with 0</a:t>
            </a:r>
            <a:r>
              <a:rPr lang="en-US" sz="1750">
                <a:solidFill>
                  <a:srgbClr val="4C4C4D"/>
                </a:solidFill>
                <a:latin typeface="Heebo" pitchFamily="34" charset="0"/>
                <a:ea typeface="Heebo" pitchFamily="34" charset="-122"/>
                <a:cs typeface="Heebo" pitchFamily="34" charset="-120"/>
              </a:rPr>
              <a:t> indicates no delay occurred rather than discarding valuable data.</a:t>
            </a:r>
            <a:endParaRPr lang="en-US" sz="1750"/>
          </a:p>
        </p:txBody>
      </p:sp>
      <p:sp>
        <p:nvSpPr>
          <p:cNvPr id="5" name="Text 3"/>
          <p:cNvSpPr/>
          <p:nvPr/>
        </p:nvSpPr>
        <p:spPr>
          <a:xfrm>
            <a:off x="793790" y="4082058"/>
            <a:ext cx="8284131"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This approach preserves flight records while maintaining temporal and spatial patterns. Discarding rows would bias the dataset toward delayed flights, compromising prediction accuracy.</a:t>
            </a:r>
            <a:endParaRPr lang="en-US" sz="1750"/>
          </a:p>
        </p:txBody>
      </p:sp>
      <p:sp>
        <p:nvSpPr>
          <p:cNvPr id="6" name="Text 4"/>
          <p:cNvSpPr/>
          <p:nvPr/>
        </p:nvSpPr>
        <p:spPr>
          <a:xfrm>
            <a:off x="9638943" y="2208133"/>
            <a:ext cx="2835235"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Implementation</a:t>
            </a:r>
            <a:endParaRPr lang="en-US" sz="2200"/>
          </a:p>
        </p:txBody>
      </p:sp>
      <p:sp>
        <p:nvSpPr>
          <p:cNvPr id="7" name="Shape 5"/>
          <p:cNvSpPr/>
          <p:nvPr/>
        </p:nvSpPr>
        <p:spPr>
          <a:xfrm>
            <a:off x="9638943" y="2817614"/>
            <a:ext cx="4205168" cy="4082653"/>
          </a:xfrm>
          <a:prstGeom prst="roundRect">
            <a:avLst>
              <a:gd name="adj" fmla="val 833"/>
            </a:avLst>
          </a:prstGeom>
          <a:solidFill>
            <a:srgbClr val="F2F2F2"/>
          </a:solidFill>
        </p:spPr>
        <p:txBody>
          <a:bodyPr/>
          <a:lstStyle/>
          <a:p>
            <a:endParaRPr/>
          </a:p>
        </p:txBody>
      </p:sp>
      <p:sp>
        <p:nvSpPr>
          <p:cNvPr id="8" name="Shape 6"/>
          <p:cNvSpPr/>
          <p:nvPr/>
        </p:nvSpPr>
        <p:spPr>
          <a:xfrm>
            <a:off x="9627632" y="2817614"/>
            <a:ext cx="4227790" cy="4082653"/>
          </a:xfrm>
          <a:prstGeom prst="roundRect">
            <a:avLst>
              <a:gd name="adj" fmla="val 833"/>
            </a:avLst>
          </a:prstGeom>
          <a:solidFill>
            <a:srgbClr val="F2F2F2"/>
          </a:solidFill>
        </p:spPr>
        <p:txBody>
          <a:bodyPr/>
          <a:lstStyle/>
          <a:p>
            <a:endParaRPr/>
          </a:p>
        </p:txBody>
      </p:sp>
      <p:sp>
        <p:nvSpPr>
          <p:cNvPr id="9" name="Text 7"/>
          <p:cNvSpPr/>
          <p:nvPr/>
        </p:nvSpPr>
        <p:spPr>
          <a:xfrm>
            <a:off x="9911120" y="3044428"/>
            <a:ext cx="3660815" cy="362902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Consolas" pitchFamily="34" charset="0"/>
                <a:ea typeface="Consolas" pitchFamily="34" charset="-122"/>
                <a:cs typeface="Consolas" pitchFamily="34" charset="-120"/>
              </a:rPr>
              <a:t>df['Carrier_Delay'].fillna(0, inplace=True)</a:t>
            </a:r>
            <a:endParaRPr lang="en-US" sz="1750"/>
          </a:p>
          <a:p>
            <a:pPr marL="0" indent="0" algn="l">
              <a:lnSpc>
                <a:spcPts val="2850"/>
              </a:lnSpc>
              <a:buNone/>
            </a:pPr>
            <a:r>
              <a:rPr lang="en-US" sz="1750">
                <a:solidFill>
                  <a:srgbClr val="4C4C4D"/>
                </a:solidFill>
                <a:latin typeface="Consolas" pitchFamily="34" charset="0"/>
                <a:ea typeface="Consolas" pitchFamily="34" charset="-122"/>
                <a:cs typeface="Consolas" pitchFamily="34" charset="-120"/>
              </a:rPr>
              <a:t>df['Weather_Delay'].fillna(0, inplace=True)</a:t>
            </a:r>
            <a:endParaRPr lang="en-US" sz="1750"/>
          </a:p>
          <a:p>
            <a:pPr marL="0" indent="0" algn="l">
              <a:lnSpc>
                <a:spcPts val="2850"/>
              </a:lnSpc>
              <a:buNone/>
            </a:pPr>
            <a:r>
              <a:rPr lang="en-US" sz="1750">
                <a:solidFill>
                  <a:srgbClr val="4C4C4D"/>
                </a:solidFill>
                <a:latin typeface="Consolas" pitchFamily="34" charset="0"/>
                <a:ea typeface="Consolas" pitchFamily="34" charset="-122"/>
                <a:cs typeface="Consolas" pitchFamily="34" charset="-120"/>
              </a:rPr>
              <a:t>df['NAS_Delay'].fillna(0, inplace=True)</a:t>
            </a:r>
            <a:endParaRPr lang="en-US" sz="1750"/>
          </a:p>
          <a:p>
            <a:pPr marL="0" indent="0" algn="l">
              <a:lnSpc>
                <a:spcPts val="2850"/>
              </a:lnSpc>
              <a:buNone/>
            </a:pPr>
            <a:r>
              <a:rPr lang="en-US" sz="1750">
                <a:solidFill>
                  <a:srgbClr val="4C4C4D"/>
                </a:solidFill>
                <a:latin typeface="Consolas" pitchFamily="34" charset="0"/>
                <a:ea typeface="Consolas" pitchFamily="34" charset="-122"/>
                <a:cs typeface="Consolas" pitchFamily="34" charset="-120"/>
              </a:rPr>
              <a:t>df['Security_Delay'].fillna(0, inplace=True)</a:t>
            </a:r>
            <a:endParaRPr lang="en-US" sz="1750"/>
          </a:p>
          <a:p>
            <a:pPr marL="0" indent="0" algn="l">
              <a:lnSpc>
                <a:spcPts val="2850"/>
              </a:lnSpc>
              <a:buNone/>
            </a:pPr>
            <a:r>
              <a:rPr lang="en-US" sz="1750">
                <a:solidFill>
                  <a:srgbClr val="4C4C4D"/>
                </a:solidFill>
                <a:latin typeface="Consolas" pitchFamily="34" charset="0"/>
                <a:ea typeface="Consolas" pitchFamily="34" charset="-122"/>
                <a:cs typeface="Consolas" pitchFamily="34" charset="-120"/>
              </a:rPr>
              <a:t>df['Late_Aircraft_Delay'].fillna(0, inplace=True)</a:t>
            </a:r>
            <a:endParaRPr lang="en-US" sz="1750"/>
          </a:p>
        </p:txBody>
      </p:sp>
      <p:sp>
        <p:nvSpPr>
          <p:cNvPr id="10" name="Rectangle 9">
            <a:extLst>
              <a:ext uri="{FF2B5EF4-FFF2-40B4-BE49-F238E27FC236}">
                <a16:creationId xmlns:a16="http://schemas.microsoft.com/office/drawing/2014/main" id="{5146224B-E669-AF9D-7E15-C1CF144E2AEF}"/>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9381" y="988100"/>
            <a:ext cx="5829300" cy="542449"/>
          </a:xfrm>
          <a:prstGeom prst="rect">
            <a:avLst/>
          </a:prstGeom>
          <a:noFill/>
        </p:spPr>
        <p:txBody>
          <a:bodyPr wrap="none" lIns="0" tIns="0" rIns="0" bIns="0" rtlCol="0" anchor="t"/>
          <a:lstStyle/>
          <a:p>
            <a:pPr marL="0" indent="0" algn="l">
              <a:lnSpc>
                <a:spcPts val="4250"/>
              </a:lnSpc>
              <a:buNone/>
            </a:pPr>
            <a:r>
              <a:rPr lang="en-US" sz="3400">
                <a:solidFill>
                  <a:srgbClr val="152D47"/>
                </a:solidFill>
                <a:latin typeface="Crimson Pro Semi Bold" pitchFamily="34" charset="0"/>
                <a:ea typeface="Crimson Pro Semi Bold" pitchFamily="34" charset="-122"/>
                <a:cs typeface="Crimson Pro Semi Bold" pitchFamily="34" charset="-120"/>
              </a:rPr>
              <a:t>Feature Engineering for Analysis</a:t>
            </a:r>
            <a:endParaRPr lang="en-US" sz="3400"/>
          </a:p>
        </p:txBody>
      </p:sp>
      <p:sp>
        <p:nvSpPr>
          <p:cNvPr id="3" name="Text 1"/>
          <p:cNvSpPr/>
          <p:nvPr/>
        </p:nvSpPr>
        <p:spPr>
          <a:xfrm>
            <a:off x="759381" y="1945600"/>
            <a:ext cx="13111638" cy="339447"/>
          </a:xfrm>
          <a:prstGeom prst="rect">
            <a:avLst/>
          </a:prstGeom>
          <a:noFill/>
        </p:spPr>
        <p:txBody>
          <a:bodyPr wrap="none" lIns="0" tIns="0" rIns="0" bIns="0" rtlCol="0" anchor="t"/>
          <a:lstStyle/>
          <a:p>
            <a:pPr marL="0" indent="0" algn="l">
              <a:lnSpc>
                <a:spcPts val="2650"/>
              </a:lnSpc>
              <a:buNone/>
            </a:pPr>
            <a:r>
              <a:rPr lang="en-US" sz="1700">
                <a:solidFill>
                  <a:srgbClr val="4C4C4D"/>
                </a:solidFill>
                <a:latin typeface="Heebo" pitchFamily="34" charset="0"/>
                <a:ea typeface="Heebo" pitchFamily="34" charset="-122"/>
                <a:cs typeface="Heebo" pitchFamily="34" charset="-120"/>
              </a:rPr>
              <a:t>Transforming raw fields into analytical features enables deeper insights into temporal and spatial patterns.</a:t>
            </a:r>
            <a:endParaRPr lang="en-US" sz="1700"/>
          </a:p>
        </p:txBody>
      </p:sp>
      <p:sp>
        <p:nvSpPr>
          <p:cNvPr id="4" name="Shape 2"/>
          <p:cNvSpPr/>
          <p:nvPr/>
        </p:nvSpPr>
        <p:spPr>
          <a:xfrm>
            <a:off x="759381" y="2843927"/>
            <a:ext cx="6451997" cy="1932265"/>
          </a:xfrm>
          <a:prstGeom prst="roundRect">
            <a:avLst>
              <a:gd name="adj" fmla="val 7572"/>
            </a:avLst>
          </a:prstGeom>
          <a:solidFill>
            <a:srgbClr val="FFFFFF"/>
          </a:solidFill>
        </p:spPr>
        <p:txBody>
          <a:bodyPr/>
          <a:lstStyle/>
          <a:p>
            <a:endParaRPr/>
          </a:p>
        </p:txBody>
      </p:sp>
      <p:sp>
        <p:nvSpPr>
          <p:cNvPr id="5" name="Shape 3"/>
          <p:cNvSpPr/>
          <p:nvPr/>
        </p:nvSpPr>
        <p:spPr>
          <a:xfrm>
            <a:off x="759381" y="2813447"/>
            <a:ext cx="6451997" cy="121920"/>
          </a:xfrm>
          <a:prstGeom prst="roundRect">
            <a:avLst>
              <a:gd name="adj" fmla="val 26696"/>
            </a:avLst>
          </a:prstGeom>
          <a:solidFill>
            <a:srgbClr val="2150FE"/>
          </a:solidFill>
        </p:spPr>
        <p:txBody>
          <a:bodyPr/>
          <a:lstStyle/>
          <a:p>
            <a:endParaRPr/>
          </a:p>
        </p:txBody>
      </p:sp>
      <p:sp>
        <p:nvSpPr>
          <p:cNvPr id="6" name="Shape 4"/>
          <p:cNvSpPr/>
          <p:nvPr/>
        </p:nvSpPr>
        <p:spPr>
          <a:xfrm>
            <a:off x="3659922" y="2518529"/>
            <a:ext cx="650915" cy="650915"/>
          </a:xfrm>
          <a:prstGeom prst="roundRect">
            <a:avLst>
              <a:gd name="adj" fmla="val 140479"/>
            </a:avLst>
          </a:prstGeom>
          <a:solidFill>
            <a:srgbClr val="2150FE"/>
          </a:solidFill>
        </p:spPr>
        <p:txBody>
          <a:bodyPr/>
          <a:lstStyle/>
          <a:p>
            <a:endParaRPr/>
          </a:p>
        </p:txBody>
      </p:sp>
      <p:sp>
        <p:nvSpPr>
          <p:cNvPr id="7" name="Text 5"/>
          <p:cNvSpPr/>
          <p:nvPr/>
        </p:nvSpPr>
        <p:spPr>
          <a:xfrm>
            <a:off x="3855184" y="2681288"/>
            <a:ext cx="260271" cy="325398"/>
          </a:xfrm>
          <a:prstGeom prst="rect">
            <a:avLst/>
          </a:prstGeom>
          <a:noFill/>
        </p:spPr>
        <p:txBody>
          <a:bodyPr wrap="none" lIns="0" tIns="0" rIns="0" bIns="0" rtlCol="0" anchor="t"/>
          <a:lstStyle/>
          <a:p>
            <a:pPr marL="0" indent="0" algn="l">
              <a:lnSpc>
                <a:spcPts val="3200"/>
              </a:lnSpc>
              <a:buNone/>
            </a:pPr>
            <a:r>
              <a:rPr lang="en-US" sz="2050">
                <a:solidFill>
                  <a:srgbClr val="FFFFFF"/>
                </a:solidFill>
                <a:latin typeface="Crimson Pro Semi Bold" pitchFamily="34" charset="0"/>
                <a:ea typeface="Crimson Pro Semi Bold" pitchFamily="34" charset="-122"/>
                <a:cs typeface="Crimson Pro Semi Bold" pitchFamily="34" charset="-120"/>
              </a:rPr>
              <a:t>1</a:t>
            </a:r>
            <a:endParaRPr lang="en-US" sz="2050"/>
          </a:p>
        </p:txBody>
      </p:sp>
      <p:sp>
        <p:nvSpPr>
          <p:cNvPr id="8" name="Text 6"/>
          <p:cNvSpPr/>
          <p:nvPr/>
        </p:nvSpPr>
        <p:spPr>
          <a:xfrm>
            <a:off x="1006793" y="3386376"/>
            <a:ext cx="2712244" cy="338971"/>
          </a:xfrm>
          <a:prstGeom prst="rect">
            <a:avLst/>
          </a:prstGeom>
          <a:noFill/>
        </p:spPr>
        <p:txBody>
          <a:bodyPr wrap="none" lIns="0" tIns="0" rIns="0" bIns="0" rtlCol="0" anchor="t"/>
          <a:lstStyle/>
          <a:p>
            <a:pPr marL="0" indent="0" algn="l">
              <a:lnSpc>
                <a:spcPts val="2650"/>
              </a:lnSpc>
              <a:buNone/>
            </a:pPr>
            <a:r>
              <a:rPr lang="en-US" sz="2100">
                <a:solidFill>
                  <a:srgbClr val="4C4C4D"/>
                </a:solidFill>
                <a:latin typeface="Crimson Pro Semi Bold" pitchFamily="34" charset="0"/>
                <a:ea typeface="Crimson Pro Semi Bold" pitchFamily="34" charset="-122"/>
                <a:cs typeface="Crimson Pro Semi Bold" pitchFamily="34" charset="-120"/>
              </a:rPr>
              <a:t>FL_DATE Creation</a:t>
            </a:r>
            <a:endParaRPr lang="en-US" sz="2100"/>
          </a:p>
        </p:txBody>
      </p:sp>
      <p:sp>
        <p:nvSpPr>
          <p:cNvPr id="9" name="Text 7"/>
          <p:cNvSpPr/>
          <p:nvPr/>
        </p:nvSpPr>
        <p:spPr>
          <a:xfrm>
            <a:off x="1006793" y="3849886"/>
            <a:ext cx="5957173" cy="678894"/>
          </a:xfrm>
          <a:prstGeom prst="rect">
            <a:avLst/>
          </a:prstGeom>
          <a:noFill/>
        </p:spPr>
        <p:txBody>
          <a:bodyPr wrap="square" lIns="0" tIns="0" rIns="0" bIns="0" rtlCol="0" anchor="t"/>
          <a:lstStyle/>
          <a:p>
            <a:pPr marL="0" indent="0" algn="l">
              <a:lnSpc>
                <a:spcPts val="2650"/>
              </a:lnSpc>
              <a:buNone/>
            </a:pPr>
            <a:r>
              <a:rPr lang="en-US" sz="1700">
                <a:solidFill>
                  <a:srgbClr val="4C4C4D"/>
                </a:solidFill>
                <a:latin typeface="Heebo" pitchFamily="34" charset="0"/>
                <a:ea typeface="Heebo" pitchFamily="34" charset="-122"/>
                <a:cs typeface="Heebo" pitchFamily="34" charset="-120"/>
              </a:rPr>
              <a:t>Combining date components into a unified datetime object facilitates time-series analysis and filtering operations.</a:t>
            </a:r>
            <a:endParaRPr lang="en-US" sz="1700"/>
          </a:p>
        </p:txBody>
      </p:sp>
      <p:sp>
        <p:nvSpPr>
          <p:cNvPr id="10" name="Shape 8"/>
          <p:cNvSpPr/>
          <p:nvPr/>
        </p:nvSpPr>
        <p:spPr>
          <a:xfrm>
            <a:off x="7418903" y="2843927"/>
            <a:ext cx="6452116" cy="1932265"/>
          </a:xfrm>
          <a:prstGeom prst="roundRect">
            <a:avLst>
              <a:gd name="adj" fmla="val 7572"/>
            </a:avLst>
          </a:prstGeom>
          <a:solidFill>
            <a:srgbClr val="FFFFFF"/>
          </a:solidFill>
        </p:spPr>
        <p:txBody>
          <a:bodyPr/>
          <a:lstStyle/>
          <a:p>
            <a:endParaRPr/>
          </a:p>
        </p:txBody>
      </p:sp>
      <p:sp>
        <p:nvSpPr>
          <p:cNvPr id="11" name="Shape 9"/>
          <p:cNvSpPr/>
          <p:nvPr/>
        </p:nvSpPr>
        <p:spPr>
          <a:xfrm>
            <a:off x="7418903" y="2813447"/>
            <a:ext cx="6452116" cy="121920"/>
          </a:xfrm>
          <a:prstGeom prst="roundRect">
            <a:avLst>
              <a:gd name="adj" fmla="val 26696"/>
            </a:avLst>
          </a:prstGeom>
          <a:solidFill>
            <a:srgbClr val="2150FE"/>
          </a:solidFill>
        </p:spPr>
        <p:txBody>
          <a:bodyPr/>
          <a:lstStyle/>
          <a:p>
            <a:endParaRPr/>
          </a:p>
        </p:txBody>
      </p:sp>
      <p:sp>
        <p:nvSpPr>
          <p:cNvPr id="12" name="Shape 10"/>
          <p:cNvSpPr/>
          <p:nvPr/>
        </p:nvSpPr>
        <p:spPr>
          <a:xfrm>
            <a:off x="10319445" y="2518529"/>
            <a:ext cx="650915" cy="650915"/>
          </a:xfrm>
          <a:prstGeom prst="roundRect">
            <a:avLst>
              <a:gd name="adj" fmla="val 140479"/>
            </a:avLst>
          </a:prstGeom>
          <a:solidFill>
            <a:srgbClr val="2150FE"/>
          </a:solidFill>
        </p:spPr>
        <p:txBody>
          <a:bodyPr/>
          <a:lstStyle/>
          <a:p>
            <a:endParaRPr/>
          </a:p>
        </p:txBody>
      </p:sp>
      <p:sp>
        <p:nvSpPr>
          <p:cNvPr id="13" name="Text 11"/>
          <p:cNvSpPr/>
          <p:nvPr/>
        </p:nvSpPr>
        <p:spPr>
          <a:xfrm>
            <a:off x="10514707" y="2681288"/>
            <a:ext cx="260271" cy="325398"/>
          </a:xfrm>
          <a:prstGeom prst="rect">
            <a:avLst/>
          </a:prstGeom>
          <a:noFill/>
        </p:spPr>
        <p:txBody>
          <a:bodyPr wrap="none" lIns="0" tIns="0" rIns="0" bIns="0" rtlCol="0" anchor="t"/>
          <a:lstStyle/>
          <a:p>
            <a:pPr marL="0" indent="0" algn="l">
              <a:lnSpc>
                <a:spcPts val="3200"/>
              </a:lnSpc>
              <a:buNone/>
            </a:pPr>
            <a:r>
              <a:rPr lang="en-US" sz="2050">
                <a:solidFill>
                  <a:srgbClr val="FFFFFF"/>
                </a:solidFill>
                <a:latin typeface="Crimson Pro Semi Bold" pitchFamily="34" charset="0"/>
                <a:ea typeface="Crimson Pro Semi Bold" pitchFamily="34" charset="-122"/>
                <a:cs typeface="Crimson Pro Semi Bold" pitchFamily="34" charset="-120"/>
              </a:rPr>
              <a:t>2</a:t>
            </a:r>
            <a:endParaRPr lang="en-US" sz="2050"/>
          </a:p>
        </p:txBody>
      </p:sp>
      <p:sp>
        <p:nvSpPr>
          <p:cNvPr id="14" name="Text 12"/>
          <p:cNvSpPr/>
          <p:nvPr/>
        </p:nvSpPr>
        <p:spPr>
          <a:xfrm>
            <a:off x="7666315" y="3386376"/>
            <a:ext cx="2712244" cy="338971"/>
          </a:xfrm>
          <a:prstGeom prst="rect">
            <a:avLst/>
          </a:prstGeom>
          <a:noFill/>
        </p:spPr>
        <p:txBody>
          <a:bodyPr wrap="none" lIns="0" tIns="0" rIns="0" bIns="0" rtlCol="0" anchor="t"/>
          <a:lstStyle/>
          <a:p>
            <a:pPr marL="0" indent="0" algn="l">
              <a:lnSpc>
                <a:spcPts val="2650"/>
              </a:lnSpc>
              <a:buNone/>
            </a:pPr>
            <a:r>
              <a:rPr lang="en-US" sz="2100">
                <a:solidFill>
                  <a:srgbClr val="4C4C4D"/>
                </a:solidFill>
                <a:latin typeface="Crimson Pro Semi Bold" pitchFamily="34" charset="0"/>
                <a:ea typeface="Crimson Pro Semi Bold" pitchFamily="34" charset="-122"/>
                <a:cs typeface="Crimson Pro Semi Bold" pitchFamily="34" charset="-120"/>
              </a:rPr>
              <a:t>HOUR Extraction</a:t>
            </a:r>
            <a:endParaRPr lang="en-US" sz="2100"/>
          </a:p>
        </p:txBody>
      </p:sp>
      <p:sp>
        <p:nvSpPr>
          <p:cNvPr id="15" name="Text 13"/>
          <p:cNvSpPr/>
          <p:nvPr/>
        </p:nvSpPr>
        <p:spPr>
          <a:xfrm>
            <a:off x="7666315" y="3849886"/>
            <a:ext cx="5957292" cy="678894"/>
          </a:xfrm>
          <a:prstGeom prst="rect">
            <a:avLst/>
          </a:prstGeom>
          <a:noFill/>
        </p:spPr>
        <p:txBody>
          <a:bodyPr wrap="square" lIns="0" tIns="0" rIns="0" bIns="0" rtlCol="0" anchor="t"/>
          <a:lstStyle/>
          <a:p>
            <a:pPr marL="0" indent="0" algn="l">
              <a:lnSpc>
                <a:spcPts val="2650"/>
              </a:lnSpc>
              <a:buNone/>
            </a:pPr>
            <a:r>
              <a:rPr lang="en-US" sz="1700">
                <a:solidFill>
                  <a:srgbClr val="4C4C4D"/>
                </a:solidFill>
                <a:latin typeface="Heebo" pitchFamily="34" charset="0"/>
                <a:ea typeface="Heebo" pitchFamily="34" charset="-122"/>
                <a:cs typeface="Heebo" pitchFamily="34" charset="-120"/>
              </a:rPr>
              <a:t>Deriving hour-of-day from departure times reveals peak congestion periods and operational bottlenecks.</a:t>
            </a:r>
            <a:endParaRPr lang="en-US" sz="1700"/>
          </a:p>
        </p:txBody>
      </p:sp>
      <p:sp>
        <p:nvSpPr>
          <p:cNvPr id="16" name="Shape 14"/>
          <p:cNvSpPr/>
          <p:nvPr/>
        </p:nvSpPr>
        <p:spPr>
          <a:xfrm>
            <a:off x="759381" y="5309116"/>
            <a:ext cx="6451997" cy="1932265"/>
          </a:xfrm>
          <a:prstGeom prst="roundRect">
            <a:avLst>
              <a:gd name="adj" fmla="val 7572"/>
            </a:avLst>
          </a:prstGeom>
          <a:solidFill>
            <a:srgbClr val="FFFFFF"/>
          </a:solidFill>
        </p:spPr>
        <p:txBody>
          <a:bodyPr/>
          <a:lstStyle/>
          <a:p>
            <a:endParaRPr/>
          </a:p>
        </p:txBody>
      </p:sp>
      <p:sp>
        <p:nvSpPr>
          <p:cNvPr id="17" name="Shape 15"/>
          <p:cNvSpPr/>
          <p:nvPr/>
        </p:nvSpPr>
        <p:spPr>
          <a:xfrm>
            <a:off x="759381" y="5278636"/>
            <a:ext cx="6451997" cy="121920"/>
          </a:xfrm>
          <a:prstGeom prst="roundRect">
            <a:avLst>
              <a:gd name="adj" fmla="val 26696"/>
            </a:avLst>
          </a:prstGeom>
          <a:solidFill>
            <a:srgbClr val="2150FE"/>
          </a:solidFill>
        </p:spPr>
        <p:txBody>
          <a:bodyPr/>
          <a:lstStyle/>
          <a:p>
            <a:endParaRPr/>
          </a:p>
        </p:txBody>
      </p:sp>
      <p:sp>
        <p:nvSpPr>
          <p:cNvPr id="18" name="Shape 16"/>
          <p:cNvSpPr/>
          <p:nvPr/>
        </p:nvSpPr>
        <p:spPr>
          <a:xfrm>
            <a:off x="3659922" y="4983718"/>
            <a:ext cx="650915" cy="650915"/>
          </a:xfrm>
          <a:prstGeom prst="roundRect">
            <a:avLst>
              <a:gd name="adj" fmla="val 140479"/>
            </a:avLst>
          </a:prstGeom>
          <a:solidFill>
            <a:srgbClr val="2150FE"/>
          </a:solidFill>
        </p:spPr>
        <p:txBody>
          <a:bodyPr/>
          <a:lstStyle/>
          <a:p>
            <a:endParaRPr/>
          </a:p>
        </p:txBody>
      </p:sp>
      <p:sp>
        <p:nvSpPr>
          <p:cNvPr id="19" name="Text 17"/>
          <p:cNvSpPr/>
          <p:nvPr/>
        </p:nvSpPr>
        <p:spPr>
          <a:xfrm>
            <a:off x="3855184" y="5146477"/>
            <a:ext cx="260271" cy="325398"/>
          </a:xfrm>
          <a:prstGeom prst="rect">
            <a:avLst/>
          </a:prstGeom>
          <a:noFill/>
        </p:spPr>
        <p:txBody>
          <a:bodyPr wrap="none" lIns="0" tIns="0" rIns="0" bIns="0" rtlCol="0" anchor="t"/>
          <a:lstStyle/>
          <a:p>
            <a:pPr marL="0" indent="0" algn="l">
              <a:lnSpc>
                <a:spcPts val="3200"/>
              </a:lnSpc>
              <a:buNone/>
            </a:pPr>
            <a:r>
              <a:rPr lang="en-US" sz="2050">
                <a:solidFill>
                  <a:srgbClr val="FFFFFF"/>
                </a:solidFill>
                <a:latin typeface="Crimson Pro Semi Bold" pitchFamily="34" charset="0"/>
                <a:ea typeface="Crimson Pro Semi Bold" pitchFamily="34" charset="-122"/>
                <a:cs typeface="Crimson Pro Semi Bold" pitchFamily="34" charset="-120"/>
              </a:rPr>
              <a:t>3</a:t>
            </a:r>
            <a:endParaRPr lang="en-US" sz="2050"/>
          </a:p>
        </p:txBody>
      </p:sp>
      <p:sp>
        <p:nvSpPr>
          <p:cNvPr id="20" name="Text 18"/>
          <p:cNvSpPr/>
          <p:nvPr/>
        </p:nvSpPr>
        <p:spPr>
          <a:xfrm>
            <a:off x="1006793" y="5851565"/>
            <a:ext cx="2872383" cy="338971"/>
          </a:xfrm>
          <a:prstGeom prst="rect">
            <a:avLst/>
          </a:prstGeom>
          <a:noFill/>
        </p:spPr>
        <p:txBody>
          <a:bodyPr wrap="none" lIns="0" tIns="0" rIns="0" bIns="0" rtlCol="0" anchor="t"/>
          <a:lstStyle/>
          <a:p>
            <a:pPr marL="0" indent="0" algn="l">
              <a:lnSpc>
                <a:spcPts val="2650"/>
              </a:lnSpc>
              <a:buNone/>
            </a:pPr>
            <a:r>
              <a:rPr lang="en-US" sz="2100">
                <a:solidFill>
                  <a:srgbClr val="4C4C4D"/>
                </a:solidFill>
                <a:latin typeface="Crimson Pro Semi Bold" pitchFamily="34" charset="0"/>
                <a:ea typeface="Crimson Pro Semi Bold" pitchFamily="34" charset="-122"/>
                <a:cs typeface="Crimson Pro Semi Bold" pitchFamily="34" charset="-120"/>
              </a:rPr>
              <a:t>DAY_OF_WEEK Encoding</a:t>
            </a:r>
            <a:endParaRPr lang="en-US" sz="2100"/>
          </a:p>
        </p:txBody>
      </p:sp>
      <p:sp>
        <p:nvSpPr>
          <p:cNvPr id="21" name="Text 19"/>
          <p:cNvSpPr/>
          <p:nvPr/>
        </p:nvSpPr>
        <p:spPr>
          <a:xfrm>
            <a:off x="1006793" y="6315075"/>
            <a:ext cx="5957173" cy="678894"/>
          </a:xfrm>
          <a:prstGeom prst="rect">
            <a:avLst/>
          </a:prstGeom>
          <a:noFill/>
        </p:spPr>
        <p:txBody>
          <a:bodyPr wrap="square" lIns="0" tIns="0" rIns="0" bIns="0" rtlCol="0" anchor="t"/>
          <a:lstStyle/>
          <a:p>
            <a:pPr marL="0" indent="0" algn="l">
              <a:lnSpc>
                <a:spcPts val="2650"/>
              </a:lnSpc>
              <a:buNone/>
            </a:pPr>
            <a:r>
              <a:rPr lang="en-US" sz="1700">
                <a:solidFill>
                  <a:srgbClr val="4C4C4D"/>
                </a:solidFill>
                <a:latin typeface="Heebo" pitchFamily="34" charset="0"/>
                <a:ea typeface="Heebo" pitchFamily="34" charset="-122"/>
                <a:cs typeface="Heebo" pitchFamily="34" charset="-120"/>
              </a:rPr>
              <a:t>Converting to numerical day-of-week (Monday=0, Sunday=6) enables analysis of weekly patterns and weekend effects.</a:t>
            </a:r>
            <a:endParaRPr lang="en-US" sz="1700"/>
          </a:p>
        </p:txBody>
      </p:sp>
      <p:sp>
        <p:nvSpPr>
          <p:cNvPr id="22" name="Shape 20"/>
          <p:cNvSpPr/>
          <p:nvPr/>
        </p:nvSpPr>
        <p:spPr>
          <a:xfrm>
            <a:off x="7418903" y="5309116"/>
            <a:ext cx="6452116" cy="1932265"/>
          </a:xfrm>
          <a:prstGeom prst="roundRect">
            <a:avLst>
              <a:gd name="adj" fmla="val 7572"/>
            </a:avLst>
          </a:prstGeom>
          <a:solidFill>
            <a:srgbClr val="FFFFFF"/>
          </a:solidFill>
        </p:spPr>
        <p:txBody>
          <a:bodyPr/>
          <a:lstStyle/>
          <a:p>
            <a:endParaRPr/>
          </a:p>
        </p:txBody>
      </p:sp>
      <p:sp>
        <p:nvSpPr>
          <p:cNvPr id="23" name="Shape 21"/>
          <p:cNvSpPr/>
          <p:nvPr/>
        </p:nvSpPr>
        <p:spPr>
          <a:xfrm>
            <a:off x="7418903" y="5278636"/>
            <a:ext cx="6452116" cy="121920"/>
          </a:xfrm>
          <a:prstGeom prst="roundRect">
            <a:avLst>
              <a:gd name="adj" fmla="val 26696"/>
            </a:avLst>
          </a:prstGeom>
          <a:solidFill>
            <a:srgbClr val="2150FE"/>
          </a:solidFill>
        </p:spPr>
        <p:txBody>
          <a:bodyPr/>
          <a:lstStyle/>
          <a:p>
            <a:endParaRPr/>
          </a:p>
        </p:txBody>
      </p:sp>
      <p:sp>
        <p:nvSpPr>
          <p:cNvPr id="24" name="Shape 22"/>
          <p:cNvSpPr/>
          <p:nvPr/>
        </p:nvSpPr>
        <p:spPr>
          <a:xfrm>
            <a:off x="10319445" y="4983718"/>
            <a:ext cx="650915" cy="650915"/>
          </a:xfrm>
          <a:prstGeom prst="roundRect">
            <a:avLst>
              <a:gd name="adj" fmla="val 140479"/>
            </a:avLst>
          </a:prstGeom>
          <a:solidFill>
            <a:srgbClr val="2150FE"/>
          </a:solidFill>
        </p:spPr>
        <p:txBody>
          <a:bodyPr/>
          <a:lstStyle/>
          <a:p>
            <a:endParaRPr/>
          </a:p>
        </p:txBody>
      </p:sp>
      <p:sp>
        <p:nvSpPr>
          <p:cNvPr id="25" name="Text 23"/>
          <p:cNvSpPr/>
          <p:nvPr/>
        </p:nvSpPr>
        <p:spPr>
          <a:xfrm>
            <a:off x="10514707" y="5146477"/>
            <a:ext cx="260271" cy="325398"/>
          </a:xfrm>
          <a:prstGeom prst="rect">
            <a:avLst/>
          </a:prstGeom>
          <a:noFill/>
        </p:spPr>
        <p:txBody>
          <a:bodyPr wrap="none" lIns="0" tIns="0" rIns="0" bIns="0" rtlCol="0" anchor="t"/>
          <a:lstStyle/>
          <a:p>
            <a:pPr marL="0" indent="0" algn="l">
              <a:lnSpc>
                <a:spcPts val="3200"/>
              </a:lnSpc>
              <a:buNone/>
            </a:pPr>
            <a:r>
              <a:rPr lang="en-US" sz="2050">
                <a:solidFill>
                  <a:srgbClr val="FFFFFF"/>
                </a:solidFill>
                <a:latin typeface="Crimson Pro Semi Bold" pitchFamily="34" charset="0"/>
                <a:ea typeface="Crimson Pro Semi Bold" pitchFamily="34" charset="-122"/>
                <a:cs typeface="Crimson Pro Semi Bold" pitchFamily="34" charset="-120"/>
              </a:rPr>
              <a:t>4</a:t>
            </a:r>
            <a:endParaRPr lang="en-US" sz="2050"/>
          </a:p>
        </p:txBody>
      </p:sp>
      <p:sp>
        <p:nvSpPr>
          <p:cNvPr id="26" name="Text 24"/>
          <p:cNvSpPr/>
          <p:nvPr/>
        </p:nvSpPr>
        <p:spPr>
          <a:xfrm>
            <a:off x="7666315" y="5851565"/>
            <a:ext cx="2712244" cy="338971"/>
          </a:xfrm>
          <a:prstGeom prst="rect">
            <a:avLst/>
          </a:prstGeom>
          <a:noFill/>
        </p:spPr>
        <p:txBody>
          <a:bodyPr wrap="none" lIns="0" tIns="0" rIns="0" bIns="0" rtlCol="0" anchor="t"/>
          <a:lstStyle/>
          <a:p>
            <a:pPr marL="0" indent="0" algn="l">
              <a:lnSpc>
                <a:spcPts val="2650"/>
              </a:lnSpc>
              <a:buNone/>
            </a:pPr>
            <a:r>
              <a:rPr lang="en-US" sz="2100">
                <a:solidFill>
                  <a:srgbClr val="4C4C4D"/>
                </a:solidFill>
                <a:latin typeface="Crimson Pro Semi Bold" pitchFamily="34" charset="0"/>
                <a:ea typeface="Crimson Pro Semi Bold" pitchFamily="34" charset="-122"/>
                <a:cs typeface="Crimson Pro Semi Bold" pitchFamily="34" charset="-120"/>
              </a:rPr>
              <a:t>ROUTE Generation</a:t>
            </a:r>
            <a:endParaRPr lang="en-US" sz="2100"/>
          </a:p>
        </p:txBody>
      </p:sp>
      <p:sp>
        <p:nvSpPr>
          <p:cNvPr id="27" name="Text 25"/>
          <p:cNvSpPr/>
          <p:nvPr/>
        </p:nvSpPr>
        <p:spPr>
          <a:xfrm>
            <a:off x="7666315" y="6315075"/>
            <a:ext cx="5957292" cy="678894"/>
          </a:xfrm>
          <a:prstGeom prst="rect">
            <a:avLst/>
          </a:prstGeom>
          <a:noFill/>
        </p:spPr>
        <p:txBody>
          <a:bodyPr wrap="square" lIns="0" tIns="0" rIns="0" bIns="0" rtlCol="0" anchor="t"/>
          <a:lstStyle/>
          <a:p>
            <a:pPr marL="0" indent="0" algn="l">
              <a:lnSpc>
                <a:spcPts val="2650"/>
              </a:lnSpc>
              <a:buNone/>
            </a:pPr>
            <a:r>
              <a:rPr lang="en-US" sz="1700">
                <a:solidFill>
                  <a:srgbClr val="4C4C4D"/>
                </a:solidFill>
                <a:latin typeface="Heebo" pitchFamily="34" charset="0"/>
                <a:ea typeface="Heebo" pitchFamily="34" charset="-122"/>
                <a:cs typeface="Heebo" pitchFamily="34" charset="-120"/>
              </a:rPr>
              <a:t>Creating origin-to-destination pairs (e.g., JFK to LAX) supports network analysis and route-specific modeling.</a:t>
            </a:r>
            <a:endParaRPr lang="en-US" sz="1700"/>
          </a:p>
        </p:txBody>
      </p:sp>
      <p:sp>
        <p:nvSpPr>
          <p:cNvPr id="28" name="Rectangle 27">
            <a:extLst>
              <a:ext uri="{FF2B5EF4-FFF2-40B4-BE49-F238E27FC236}">
                <a16:creationId xmlns:a16="http://schemas.microsoft.com/office/drawing/2014/main" id="{CB4C2B42-B9F6-E0D2-0A3A-2983F27B3DA1}"/>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352086"/>
            <a:ext cx="11113651"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Milestone 2: Univariate &amp; Bivariate Exploration</a:t>
            </a:r>
            <a:endParaRPr lang="en-US" sz="4450"/>
          </a:p>
        </p:txBody>
      </p:sp>
      <p:sp>
        <p:nvSpPr>
          <p:cNvPr id="3" name="Text 1"/>
          <p:cNvSpPr/>
          <p:nvPr/>
        </p:nvSpPr>
        <p:spPr>
          <a:xfrm>
            <a:off x="793790" y="4514493"/>
            <a:ext cx="13042821"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Identifying the Main Characters—The Busiest Airlines and Airports</a:t>
            </a:r>
            <a:endParaRPr lang="en-US" sz="1750"/>
          </a:p>
        </p:txBody>
      </p:sp>
      <p:sp>
        <p:nvSpPr>
          <p:cNvPr id="4" name="Rectangle 3">
            <a:extLst>
              <a:ext uri="{FF2B5EF4-FFF2-40B4-BE49-F238E27FC236}">
                <a16:creationId xmlns:a16="http://schemas.microsoft.com/office/drawing/2014/main" id="{0DC7C052-49E2-A583-D521-514E894C2D08}"/>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43013"/>
            <a:ext cx="7548086"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Milestone 2: A Deeper Dive into Patterns</a:t>
            </a:r>
            <a:endParaRPr lang="en-US" sz="3550"/>
          </a:p>
        </p:txBody>
      </p:sp>
      <p:sp>
        <p:nvSpPr>
          <p:cNvPr id="3" name="Text 1"/>
          <p:cNvSpPr/>
          <p:nvPr/>
        </p:nvSpPr>
        <p:spPr>
          <a:xfrm>
            <a:off x="793790" y="2376964"/>
            <a:ext cx="2835235"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Our Objective</a:t>
            </a:r>
            <a:endParaRPr lang="en-US" sz="2200"/>
          </a:p>
        </p:txBody>
      </p:sp>
      <p:sp>
        <p:nvSpPr>
          <p:cNvPr id="4" name="Text 2"/>
          <p:cNvSpPr/>
          <p:nvPr/>
        </p:nvSpPr>
        <p:spPr>
          <a:xfrm>
            <a:off x="793790" y="2958108"/>
            <a:ext cx="8284131"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Move beyond basic summaries to identify the key players and relationships in our flight dataset. This exploration phase helps us understand which airlines dominate the market, which airports serve as critical hubs, and how different variables interact.</a:t>
            </a:r>
            <a:endParaRPr lang="en-US" sz="1750"/>
          </a:p>
        </p:txBody>
      </p:sp>
      <p:sp>
        <p:nvSpPr>
          <p:cNvPr id="5" name="Text 3"/>
          <p:cNvSpPr/>
          <p:nvPr/>
        </p:nvSpPr>
        <p:spPr>
          <a:xfrm>
            <a:off x="793790" y="4636532"/>
            <a:ext cx="3005614"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What We're Investigating</a:t>
            </a:r>
            <a:endParaRPr lang="en-US" sz="2200"/>
          </a:p>
        </p:txBody>
      </p:sp>
      <p:sp>
        <p:nvSpPr>
          <p:cNvPr id="6" name="Text 4"/>
          <p:cNvSpPr/>
          <p:nvPr/>
        </p:nvSpPr>
        <p:spPr>
          <a:xfrm>
            <a:off x="793790" y="5217676"/>
            <a:ext cx="8284131" cy="1689497"/>
          </a:xfrm>
          <a:prstGeom prst="rect">
            <a:avLst/>
          </a:prstGeom>
          <a:noFill/>
        </p:spPr>
        <p:txBody>
          <a:bodyPr wrap="square" lIns="0" tIns="0" rIns="0" bIns="0" rtlCol="0" anchor="t"/>
          <a:lstStyle/>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Market share distribution among carriers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Geographic concentration at major airports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Relationships between flight characteristics and delays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Temporal patterns throughout the day</a:t>
            </a:r>
            <a:endParaRPr lang="en-US" sz="1750"/>
          </a:p>
        </p:txBody>
      </p:sp>
      <p:sp>
        <p:nvSpPr>
          <p:cNvPr id="7" name="Text 5"/>
          <p:cNvSpPr/>
          <p:nvPr/>
        </p:nvSpPr>
        <p:spPr>
          <a:xfrm>
            <a:off x="9638943" y="2376964"/>
            <a:ext cx="2835235"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Key Questions</a:t>
            </a:r>
            <a:endParaRPr lang="en-US" sz="2200"/>
          </a:p>
        </p:txBody>
      </p:sp>
      <p:sp>
        <p:nvSpPr>
          <p:cNvPr id="8" name="Text 6"/>
          <p:cNvSpPr/>
          <p:nvPr/>
        </p:nvSpPr>
        <p:spPr>
          <a:xfrm>
            <a:off x="9638943" y="2958108"/>
            <a:ext cx="4205168"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Who flies the most? Which airports act as the heart of the system? Are longer flights more prone to delays? How do delays build up throughout the day?</a:t>
            </a:r>
            <a:endParaRPr lang="en-US" sz="1750"/>
          </a:p>
        </p:txBody>
      </p:sp>
      <p:sp>
        <p:nvSpPr>
          <p:cNvPr id="9" name="Rectangle 8">
            <a:extLst>
              <a:ext uri="{FF2B5EF4-FFF2-40B4-BE49-F238E27FC236}">
                <a16:creationId xmlns:a16="http://schemas.microsoft.com/office/drawing/2014/main" id="{7B18B9DB-4EC3-E4B8-B08E-45468CC9478E}"/>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13234"/>
            <a:ext cx="6612255"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Market Dominance: Top 10 Airlines</a:t>
            </a:r>
            <a:endParaRPr lang="en-US" sz="3550"/>
          </a:p>
        </p:txBody>
      </p:sp>
      <p:sp>
        <p:nvSpPr>
          <p:cNvPr id="3" name="Shape 1"/>
          <p:cNvSpPr/>
          <p:nvPr/>
        </p:nvSpPr>
        <p:spPr>
          <a:xfrm>
            <a:off x="793790" y="2133838"/>
            <a:ext cx="13042821" cy="1907858"/>
          </a:xfrm>
          <a:prstGeom prst="roundRect">
            <a:avLst>
              <a:gd name="adj" fmla="val 1783"/>
            </a:avLst>
          </a:prstGeom>
          <a:solidFill>
            <a:srgbClr val="B3C3FF"/>
          </a:solidFill>
        </p:spPr>
        <p:txBody>
          <a:bodyPr/>
          <a:lstStyle/>
          <a:p>
            <a:endParaRPr/>
          </a:p>
        </p:txBody>
      </p:sp>
      <p:pic>
        <p:nvPicPr>
          <p:cNvPr id="4" name="Image 0" descr="preencoded.png"/>
          <p:cNvPicPr>
            <a:picLocks noChangeAspect="1"/>
          </p:cNvPicPr>
          <p:nvPr/>
        </p:nvPicPr>
        <p:blipFill>
          <a:blip r:embed="rId3"/>
          <a:stretch>
            <a:fillRect/>
          </a:stretch>
        </p:blipFill>
        <p:spPr>
          <a:xfrm>
            <a:off x="1020604" y="2435900"/>
            <a:ext cx="354330" cy="283488"/>
          </a:xfrm>
          <a:prstGeom prst="rect">
            <a:avLst/>
          </a:prstGeom>
        </p:spPr>
      </p:pic>
      <p:sp>
        <p:nvSpPr>
          <p:cNvPr id="5" name="Text 2"/>
          <p:cNvSpPr/>
          <p:nvPr/>
        </p:nvSpPr>
        <p:spPr>
          <a:xfrm>
            <a:off x="1601748" y="2417326"/>
            <a:ext cx="2835235" cy="354330"/>
          </a:xfrm>
          <a:prstGeom prst="rect">
            <a:avLst/>
          </a:prstGeom>
          <a:noFill/>
        </p:spPr>
        <p:txBody>
          <a:bodyPr wrap="none" lIns="0" tIns="0" rIns="0" bIns="0" rtlCol="0" anchor="t"/>
          <a:lstStyle/>
          <a:p>
            <a:pPr marL="0" indent="0" algn="l">
              <a:lnSpc>
                <a:spcPts val="2750"/>
              </a:lnSpc>
              <a:buNone/>
            </a:pPr>
            <a:r>
              <a:rPr lang="en-US" sz="2200">
                <a:solidFill>
                  <a:srgbClr val="000000"/>
                </a:solidFill>
                <a:latin typeface="Crimson Pro Semi Bold" pitchFamily="34" charset="0"/>
                <a:ea typeface="Crimson Pro Semi Bold" pitchFamily="34" charset="-122"/>
                <a:cs typeface="Crimson Pro Semi Bold" pitchFamily="34" charset="-120"/>
              </a:rPr>
              <a:t>Typical Findings</a:t>
            </a:r>
            <a:endParaRPr lang="en-US" sz="2200"/>
          </a:p>
        </p:txBody>
      </p:sp>
      <p:sp>
        <p:nvSpPr>
          <p:cNvPr id="6" name="Text 3"/>
          <p:cNvSpPr/>
          <p:nvPr/>
        </p:nvSpPr>
        <p:spPr>
          <a:xfrm>
            <a:off x="1601748" y="2998470"/>
            <a:ext cx="12008048" cy="725805"/>
          </a:xfrm>
          <a:prstGeom prst="rect">
            <a:avLst/>
          </a:prstGeom>
          <a:noFill/>
        </p:spPr>
        <p:txBody>
          <a:bodyPr wrap="square" lIns="0" tIns="0" rIns="0" bIns="0" rtlCol="0" anchor="t"/>
          <a:lstStyle/>
          <a:p>
            <a:pPr marL="0" indent="0" algn="l">
              <a:lnSpc>
                <a:spcPts val="2850"/>
              </a:lnSpc>
              <a:buNone/>
            </a:pPr>
            <a:r>
              <a:rPr lang="en-US" sz="1750">
                <a:solidFill>
                  <a:srgbClr val="000000"/>
                </a:solidFill>
                <a:latin typeface="Heebo" pitchFamily="34" charset="0"/>
                <a:ea typeface="Heebo" pitchFamily="34" charset="-122"/>
                <a:cs typeface="Heebo" pitchFamily="34" charset="-120"/>
              </a:rPr>
              <a:t>Southwest (WN) and Delta (DL) frequently lead in domestic flight volume. Check your dataset for the actual ranking—results may vary by time period and route network.</a:t>
            </a:r>
            <a:endParaRPr lang="en-US" sz="1750"/>
          </a:p>
        </p:txBody>
      </p:sp>
      <p:sp>
        <p:nvSpPr>
          <p:cNvPr id="7" name="Shape 4"/>
          <p:cNvSpPr/>
          <p:nvPr/>
        </p:nvSpPr>
        <p:spPr>
          <a:xfrm>
            <a:off x="793790" y="4296847"/>
            <a:ext cx="4196358" cy="2819519"/>
          </a:xfrm>
          <a:prstGeom prst="roundRect">
            <a:avLst>
              <a:gd name="adj" fmla="val 5189"/>
            </a:avLst>
          </a:prstGeom>
          <a:solidFill>
            <a:srgbClr val="FFFFFF"/>
          </a:solidFill>
          <a:ln w="30480">
            <a:solidFill>
              <a:srgbClr val="D8D4D4"/>
            </a:solidFill>
            <a:prstDash val="solid"/>
          </a:ln>
        </p:spPr>
        <p:txBody>
          <a:bodyPr/>
          <a:lstStyle/>
          <a:p>
            <a:endParaRPr/>
          </a:p>
        </p:txBody>
      </p:sp>
      <p:sp>
        <p:nvSpPr>
          <p:cNvPr id="8" name="Shape 5"/>
          <p:cNvSpPr/>
          <p:nvPr/>
        </p:nvSpPr>
        <p:spPr>
          <a:xfrm>
            <a:off x="763310" y="4296847"/>
            <a:ext cx="121920" cy="2819519"/>
          </a:xfrm>
          <a:prstGeom prst="roundRect">
            <a:avLst>
              <a:gd name="adj" fmla="val 27907"/>
            </a:avLst>
          </a:prstGeom>
          <a:solidFill>
            <a:srgbClr val="2150FE"/>
          </a:solidFill>
        </p:spPr>
        <p:txBody>
          <a:bodyPr/>
          <a:lstStyle/>
          <a:p>
            <a:endParaRPr/>
          </a:p>
        </p:txBody>
      </p:sp>
      <p:sp>
        <p:nvSpPr>
          <p:cNvPr id="9" name="Text 6"/>
          <p:cNvSpPr/>
          <p:nvPr/>
        </p:nvSpPr>
        <p:spPr>
          <a:xfrm>
            <a:off x="1142524" y="455414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Primary Carrier</a:t>
            </a:r>
            <a:endParaRPr lang="en-US" sz="2200"/>
          </a:p>
        </p:txBody>
      </p:sp>
      <p:sp>
        <p:nvSpPr>
          <p:cNvPr id="10" name="Text 7"/>
          <p:cNvSpPr/>
          <p:nvPr/>
        </p:nvSpPr>
        <p:spPr>
          <a:xfrm>
            <a:off x="1142524" y="5044559"/>
            <a:ext cx="35903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Check your data for the actual top performer—results may vary by time period and route network.</a:t>
            </a:r>
            <a:endParaRPr lang="en-US" sz="1750"/>
          </a:p>
        </p:txBody>
      </p:sp>
      <p:sp>
        <p:nvSpPr>
          <p:cNvPr id="11" name="Shape 8"/>
          <p:cNvSpPr/>
          <p:nvPr/>
        </p:nvSpPr>
        <p:spPr>
          <a:xfrm>
            <a:off x="5216962" y="4296847"/>
            <a:ext cx="4196358" cy="2819519"/>
          </a:xfrm>
          <a:prstGeom prst="roundRect">
            <a:avLst>
              <a:gd name="adj" fmla="val 5189"/>
            </a:avLst>
          </a:prstGeom>
          <a:solidFill>
            <a:srgbClr val="FFFFFF"/>
          </a:solidFill>
          <a:ln w="30480">
            <a:solidFill>
              <a:srgbClr val="D8D4D4"/>
            </a:solidFill>
            <a:prstDash val="solid"/>
          </a:ln>
        </p:spPr>
        <p:txBody>
          <a:bodyPr/>
          <a:lstStyle/>
          <a:p>
            <a:endParaRPr/>
          </a:p>
        </p:txBody>
      </p:sp>
      <p:sp>
        <p:nvSpPr>
          <p:cNvPr id="12" name="Shape 9"/>
          <p:cNvSpPr/>
          <p:nvPr/>
        </p:nvSpPr>
        <p:spPr>
          <a:xfrm>
            <a:off x="5186482" y="4296847"/>
            <a:ext cx="121920" cy="2819519"/>
          </a:xfrm>
          <a:prstGeom prst="roundRect">
            <a:avLst>
              <a:gd name="adj" fmla="val 27907"/>
            </a:avLst>
          </a:prstGeom>
          <a:solidFill>
            <a:srgbClr val="2150FE"/>
          </a:solidFill>
        </p:spPr>
        <p:txBody>
          <a:bodyPr/>
          <a:lstStyle/>
          <a:p>
            <a:endParaRPr/>
          </a:p>
        </p:txBody>
      </p:sp>
      <p:sp>
        <p:nvSpPr>
          <p:cNvPr id="13" name="Text 10"/>
          <p:cNvSpPr/>
          <p:nvPr/>
        </p:nvSpPr>
        <p:spPr>
          <a:xfrm>
            <a:off x="5565696" y="455414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Market Share</a:t>
            </a:r>
            <a:endParaRPr lang="en-US" sz="2200"/>
          </a:p>
        </p:txBody>
      </p:sp>
      <p:sp>
        <p:nvSpPr>
          <p:cNvPr id="14" name="Text 11"/>
          <p:cNvSpPr/>
          <p:nvPr/>
        </p:nvSpPr>
        <p:spPr>
          <a:xfrm>
            <a:off x="5565696" y="5044559"/>
            <a:ext cx="35903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Verify the percentage distribution from your dataset to confirm concentration levels.</a:t>
            </a:r>
            <a:endParaRPr lang="en-US" sz="1750"/>
          </a:p>
        </p:txBody>
      </p:sp>
      <p:sp>
        <p:nvSpPr>
          <p:cNvPr id="15" name="Shape 12"/>
          <p:cNvSpPr/>
          <p:nvPr/>
        </p:nvSpPr>
        <p:spPr>
          <a:xfrm>
            <a:off x="9640133" y="4296847"/>
            <a:ext cx="4196358" cy="2819519"/>
          </a:xfrm>
          <a:prstGeom prst="roundRect">
            <a:avLst>
              <a:gd name="adj" fmla="val 5189"/>
            </a:avLst>
          </a:prstGeom>
          <a:solidFill>
            <a:srgbClr val="FFFFFF"/>
          </a:solidFill>
          <a:ln w="30480">
            <a:solidFill>
              <a:srgbClr val="D8D4D4"/>
            </a:solidFill>
            <a:prstDash val="solid"/>
          </a:ln>
        </p:spPr>
        <p:txBody>
          <a:bodyPr/>
          <a:lstStyle/>
          <a:p>
            <a:endParaRPr/>
          </a:p>
        </p:txBody>
      </p:sp>
      <p:sp>
        <p:nvSpPr>
          <p:cNvPr id="16" name="Shape 13"/>
          <p:cNvSpPr/>
          <p:nvPr/>
        </p:nvSpPr>
        <p:spPr>
          <a:xfrm>
            <a:off x="9609653" y="4296847"/>
            <a:ext cx="121920" cy="2819519"/>
          </a:xfrm>
          <a:prstGeom prst="roundRect">
            <a:avLst>
              <a:gd name="adj" fmla="val 27907"/>
            </a:avLst>
          </a:prstGeom>
          <a:solidFill>
            <a:srgbClr val="2150FE"/>
          </a:solidFill>
        </p:spPr>
        <p:txBody>
          <a:bodyPr/>
          <a:lstStyle/>
          <a:p>
            <a:endParaRPr/>
          </a:p>
        </p:txBody>
      </p:sp>
      <p:sp>
        <p:nvSpPr>
          <p:cNvPr id="17" name="Text 14"/>
          <p:cNvSpPr/>
          <p:nvPr/>
        </p:nvSpPr>
        <p:spPr>
          <a:xfrm>
            <a:off x="9988868" y="455414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Network Strategy</a:t>
            </a:r>
            <a:endParaRPr lang="en-US" sz="2200"/>
          </a:p>
        </p:txBody>
      </p:sp>
      <p:sp>
        <p:nvSpPr>
          <p:cNvPr id="18" name="Text 15"/>
          <p:cNvSpPr/>
          <p:nvPr/>
        </p:nvSpPr>
        <p:spPr>
          <a:xfrm>
            <a:off x="9988868" y="5044559"/>
            <a:ext cx="3590330" cy="1814513"/>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Point-to-point carriers like Southwest often lead in flight volume; hub-and-spoke carriers like Delta may lead in passenger volume.</a:t>
            </a:r>
            <a:endParaRPr lang="en-US" sz="1750"/>
          </a:p>
        </p:txBody>
      </p:sp>
      <p:sp>
        <p:nvSpPr>
          <p:cNvPr id="19" name="Rectangle 18">
            <a:extLst>
              <a:ext uri="{FF2B5EF4-FFF2-40B4-BE49-F238E27FC236}">
                <a16:creationId xmlns:a16="http://schemas.microsoft.com/office/drawing/2014/main" id="{FD984EAF-D630-2E1D-9250-547780C4713E}"/>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88557"/>
            <a:ext cx="6297811"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The Busiest Hubs: Origin Airports</a:t>
            </a:r>
            <a:endParaRPr lang="en-US" sz="3550"/>
          </a:p>
        </p:txBody>
      </p:sp>
      <p:sp>
        <p:nvSpPr>
          <p:cNvPr id="3" name="Text 1"/>
          <p:cNvSpPr/>
          <p:nvPr/>
        </p:nvSpPr>
        <p:spPr>
          <a:xfrm>
            <a:off x="793790" y="2809161"/>
            <a:ext cx="13042821"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Major transfer points that act as the heart of the air transportation system.</a:t>
            </a:r>
            <a:endParaRPr lang="en-US" sz="1750"/>
          </a:p>
        </p:txBody>
      </p:sp>
      <p:sp>
        <p:nvSpPr>
          <p:cNvPr id="4" name="Shape 2"/>
          <p:cNvSpPr/>
          <p:nvPr/>
        </p:nvSpPr>
        <p:spPr>
          <a:xfrm>
            <a:off x="793790" y="3427214"/>
            <a:ext cx="4196358" cy="2032754"/>
          </a:xfrm>
          <a:prstGeom prst="roundRect">
            <a:avLst>
              <a:gd name="adj" fmla="val 1674"/>
            </a:avLst>
          </a:prstGeom>
          <a:solidFill>
            <a:srgbClr val="F2EEEE"/>
          </a:solidFill>
        </p:spPr>
        <p:txBody>
          <a:bodyPr/>
          <a:lstStyle/>
          <a:p>
            <a:endParaRPr/>
          </a:p>
        </p:txBody>
      </p:sp>
      <p:sp>
        <p:nvSpPr>
          <p:cNvPr id="5" name="Text 3"/>
          <p:cNvSpPr/>
          <p:nvPr/>
        </p:nvSpPr>
        <p:spPr>
          <a:xfrm>
            <a:off x="1020604" y="36540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ATL</a:t>
            </a:r>
            <a:endParaRPr lang="en-US" sz="2200"/>
          </a:p>
        </p:txBody>
      </p:sp>
      <p:sp>
        <p:nvSpPr>
          <p:cNvPr id="6" name="Text 4"/>
          <p:cNvSpPr/>
          <p:nvPr/>
        </p:nvSpPr>
        <p:spPr>
          <a:xfrm>
            <a:off x="1020604" y="4144447"/>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Atlanta—Delta's primary hub and consistently the nation's busiest airport by passenger traffic</a:t>
            </a:r>
            <a:endParaRPr lang="en-US" sz="1750"/>
          </a:p>
        </p:txBody>
      </p:sp>
      <p:sp>
        <p:nvSpPr>
          <p:cNvPr id="7" name="Shape 5"/>
          <p:cNvSpPr/>
          <p:nvPr/>
        </p:nvSpPr>
        <p:spPr>
          <a:xfrm>
            <a:off x="5216962" y="3427214"/>
            <a:ext cx="4196358" cy="2032754"/>
          </a:xfrm>
          <a:prstGeom prst="roundRect">
            <a:avLst>
              <a:gd name="adj" fmla="val 1674"/>
            </a:avLst>
          </a:prstGeom>
          <a:solidFill>
            <a:srgbClr val="F2EEEE"/>
          </a:solidFill>
        </p:spPr>
        <p:txBody>
          <a:bodyPr/>
          <a:lstStyle/>
          <a:p>
            <a:endParaRPr/>
          </a:p>
        </p:txBody>
      </p:sp>
      <p:sp>
        <p:nvSpPr>
          <p:cNvPr id="8" name="Text 6"/>
          <p:cNvSpPr/>
          <p:nvPr/>
        </p:nvSpPr>
        <p:spPr>
          <a:xfrm>
            <a:off x="5443776" y="36540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ORD</a:t>
            </a:r>
            <a:endParaRPr lang="en-US" sz="2200"/>
          </a:p>
        </p:txBody>
      </p:sp>
      <p:sp>
        <p:nvSpPr>
          <p:cNvPr id="9" name="Text 7"/>
          <p:cNvSpPr/>
          <p:nvPr/>
        </p:nvSpPr>
        <p:spPr>
          <a:xfrm>
            <a:off x="5443776" y="4144447"/>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Chicago O'Hare—United's major hub and critical connection point for transcontinental routes</a:t>
            </a:r>
            <a:endParaRPr lang="en-US" sz="1750"/>
          </a:p>
        </p:txBody>
      </p:sp>
      <p:sp>
        <p:nvSpPr>
          <p:cNvPr id="10" name="Shape 8"/>
          <p:cNvSpPr/>
          <p:nvPr/>
        </p:nvSpPr>
        <p:spPr>
          <a:xfrm>
            <a:off x="9640133" y="3427214"/>
            <a:ext cx="4196358" cy="2032754"/>
          </a:xfrm>
          <a:prstGeom prst="roundRect">
            <a:avLst>
              <a:gd name="adj" fmla="val 1674"/>
            </a:avLst>
          </a:prstGeom>
          <a:solidFill>
            <a:srgbClr val="F2EEEE"/>
          </a:solidFill>
        </p:spPr>
        <p:txBody>
          <a:bodyPr/>
          <a:lstStyle/>
          <a:p>
            <a:endParaRPr/>
          </a:p>
        </p:txBody>
      </p:sp>
      <p:sp>
        <p:nvSpPr>
          <p:cNvPr id="11" name="Text 9"/>
          <p:cNvSpPr/>
          <p:nvPr/>
        </p:nvSpPr>
        <p:spPr>
          <a:xfrm>
            <a:off x="9866948" y="36540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DFW</a:t>
            </a:r>
            <a:endParaRPr lang="en-US" sz="2200"/>
          </a:p>
        </p:txBody>
      </p:sp>
      <p:sp>
        <p:nvSpPr>
          <p:cNvPr id="12" name="Text 10"/>
          <p:cNvSpPr/>
          <p:nvPr/>
        </p:nvSpPr>
        <p:spPr>
          <a:xfrm>
            <a:off x="9866948" y="4144447"/>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Dallas/Fort Worth—American Airlines' massive hub serving the southern United States</a:t>
            </a:r>
            <a:endParaRPr lang="en-US" sz="1750"/>
          </a:p>
        </p:txBody>
      </p:sp>
      <p:sp>
        <p:nvSpPr>
          <p:cNvPr id="13" name="Text 11"/>
          <p:cNvSpPr/>
          <p:nvPr/>
        </p:nvSpPr>
        <p:spPr>
          <a:xfrm>
            <a:off x="793790" y="5715119"/>
            <a:ext cx="13042821"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These airports serve as critical transfer points where passengers connect to other flights, making them operational nerve centers for their respective airlines.</a:t>
            </a:r>
            <a:endParaRPr lang="en-US" sz="1750"/>
          </a:p>
        </p:txBody>
      </p:sp>
      <p:sp>
        <p:nvSpPr>
          <p:cNvPr id="14" name="Rectangle 13">
            <a:extLst>
              <a:ext uri="{FF2B5EF4-FFF2-40B4-BE49-F238E27FC236}">
                <a16:creationId xmlns:a16="http://schemas.microsoft.com/office/drawing/2014/main" id="{F7DB8352-9350-3666-706C-6A1F4BFAD383}"/>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76130"/>
            <a:ext cx="5647253"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Distance vs. Delay Correlation</a:t>
            </a:r>
            <a:endParaRPr lang="en-US" sz="3550"/>
          </a:p>
        </p:txBody>
      </p:sp>
      <p:sp>
        <p:nvSpPr>
          <p:cNvPr id="3" name="Shape 1"/>
          <p:cNvSpPr/>
          <p:nvPr/>
        </p:nvSpPr>
        <p:spPr>
          <a:xfrm>
            <a:off x="793790" y="3396734"/>
            <a:ext cx="4196358" cy="2456617"/>
          </a:xfrm>
          <a:prstGeom prst="roundRect">
            <a:avLst>
              <a:gd name="adj" fmla="val 1385"/>
            </a:avLst>
          </a:prstGeom>
          <a:solidFill>
            <a:srgbClr val="FFFFFF"/>
          </a:solidFill>
          <a:ln w="30480">
            <a:solidFill>
              <a:srgbClr val="D8D4D4"/>
            </a:solidFill>
            <a:prstDash val="solid"/>
          </a:ln>
        </p:spPr>
        <p:txBody>
          <a:bodyPr/>
          <a:lstStyle/>
          <a:p>
            <a:endParaRPr/>
          </a:p>
        </p:txBody>
      </p:sp>
      <p:sp>
        <p:nvSpPr>
          <p:cNvPr id="4" name="Text 2"/>
          <p:cNvSpPr/>
          <p:nvPr/>
        </p:nvSpPr>
        <p:spPr>
          <a:xfrm>
            <a:off x="1051084" y="36540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The Question</a:t>
            </a:r>
            <a:endParaRPr lang="en-US" sz="2200"/>
          </a:p>
        </p:txBody>
      </p:sp>
      <p:sp>
        <p:nvSpPr>
          <p:cNvPr id="5" name="Text 3"/>
          <p:cNvSpPr/>
          <p:nvPr/>
        </p:nvSpPr>
        <p:spPr>
          <a:xfrm>
            <a:off x="1051084" y="4144447"/>
            <a:ext cx="3681770"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Are longer flights more or less prone to significant delays?</a:t>
            </a:r>
            <a:endParaRPr lang="en-US" sz="1750"/>
          </a:p>
        </p:txBody>
      </p:sp>
      <p:sp>
        <p:nvSpPr>
          <p:cNvPr id="6" name="Shape 4"/>
          <p:cNvSpPr/>
          <p:nvPr/>
        </p:nvSpPr>
        <p:spPr>
          <a:xfrm>
            <a:off x="5216962" y="3396734"/>
            <a:ext cx="4196358" cy="2456617"/>
          </a:xfrm>
          <a:prstGeom prst="roundRect">
            <a:avLst>
              <a:gd name="adj" fmla="val 1385"/>
            </a:avLst>
          </a:prstGeom>
          <a:solidFill>
            <a:srgbClr val="FFFFFF"/>
          </a:solidFill>
          <a:ln w="30480">
            <a:solidFill>
              <a:srgbClr val="D8D4D4"/>
            </a:solidFill>
            <a:prstDash val="solid"/>
          </a:ln>
        </p:spPr>
        <p:txBody>
          <a:bodyPr/>
          <a:lstStyle/>
          <a:p>
            <a:endParaRPr/>
          </a:p>
        </p:txBody>
      </p:sp>
      <p:sp>
        <p:nvSpPr>
          <p:cNvPr id="7" name="Text 5"/>
          <p:cNvSpPr/>
          <p:nvPr/>
        </p:nvSpPr>
        <p:spPr>
          <a:xfrm>
            <a:off x="5474256" y="36540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What to Look For</a:t>
            </a:r>
            <a:endParaRPr lang="en-US" sz="2200"/>
          </a:p>
        </p:txBody>
      </p:sp>
      <p:sp>
        <p:nvSpPr>
          <p:cNvPr id="8" name="Text 6"/>
          <p:cNvSpPr/>
          <p:nvPr/>
        </p:nvSpPr>
        <p:spPr>
          <a:xfrm>
            <a:off x="5474256" y="4144447"/>
            <a:ext cx="368177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Calculate correlation coefficient from your dataset. Positive values suggest longer flights experience greater delays.</a:t>
            </a:r>
            <a:endParaRPr lang="en-US" sz="1750"/>
          </a:p>
        </p:txBody>
      </p:sp>
      <p:sp>
        <p:nvSpPr>
          <p:cNvPr id="9" name="Shape 7"/>
          <p:cNvSpPr/>
          <p:nvPr/>
        </p:nvSpPr>
        <p:spPr>
          <a:xfrm>
            <a:off x="9640133" y="3396734"/>
            <a:ext cx="4196358" cy="2456617"/>
          </a:xfrm>
          <a:prstGeom prst="roundRect">
            <a:avLst>
              <a:gd name="adj" fmla="val 1385"/>
            </a:avLst>
          </a:prstGeom>
          <a:solidFill>
            <a:srgbClr val="FFFFFF"/>
          </a:solidFill>
          <a:ln w="30480">
            <a:solidFill>
              <a:srgbClr val="D8D4D4"/>
            </a:solidFill>
            <a:prstDash val="solid"/>
          </a:ln>
        </p:spPr>
        <p:txBody>
          <a:bodyPr/>
          <a:lstStyle/>
          <a:p>
            <a:endParaRPr/>
          </a:p>
        </p:txBody>
      </p:sp>
      <p:sp>
        <p:nvSpPr>
          <p:cNvPr id="10" name="Text 8"/>
          <p:cNvSpPr/>
          <p:nvPr/>
        </p:nvSpPr>
        <p:spPr>
          <a:xfrm>
            <a:off x="9897427" y="36540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Operational Reality</a:t>
            </a:r>
            <a:endParaRPr lang="en-US" sz="2200"/>
          </a:p>
        </p:txBody>
      </p:sp>
      <p:sp>
        <p:nvSpPr>
          <p:cNvPr id="11" name="Text 9"/>
          <p:cNvSpPr/>
          <p:nvPr/>
        </p:nvSpPr>
        <p:spPr>
          <a:xfrm>
            <a:off x="9897427" y="4144447"/>
            <a:ext cx="368177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Long-haul flights have more time to absorb delays through speed adjustments. Short-haul flights face compressed turnaround windows.</a:t>
            </a:r>
            <a:endParaRPr lang="en-US" sz="1750"/>
          </a:p>
        </p:txBody>
      </p:sp>
      <p:sp>
        <p:nvSpPr>
          <p:cNvPr id="12" name="Rectangle 11">
            <a:extLst>
              <a:ext uri="{FF2B5EF4-FFF2-40B4-BE49-F238E27FC236}">
                <a16:creationId xmlns:a16="http://schemas.microsoft.com/office/drawing/2014/main" id="{57E68516-AD33-0522-9687-2F4F95A629E6}"/>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25466"/>
            <a:ext cx="5662732"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Temporal Trends: Hour of Day</a:t>
            </a:r>
            <a:endParaRPr lang="en-US" sz="3550"/>
          </a:p>
        </p:txBody>
      </p:sp>
      <p:pic>
        <p:nvPicPr>
          <p:cNvPr id="3" name="Image 0" descr="preencoded.png"/>
          <p:cNvPicPr>
            <a:picLocks noChangeAspect="1"/>
          </p:cNvPicPr>
          <p:nvPr/>
        </p:nvPicPr>
        <p:blipFill>
          <a:blip r:embed="rId3"/>
          <a:stretch>
            <a:fillRect/>
          </a:stretch>
        </p:blipFill>
        <p:spPr>
          <a:xfrm>
            <a:off x="793790" y="2846070"/>
            <a:ext cx="4347567" cy="907256"/>
          </a:xfrm>
          <a:prstGeom prst="rect">
            <a:avLst/>
          </a:prstGeom>
        </p:spPr>
      </p:pic>
      <p:sp>
        <p:nvSpPr>
          <p:cNvPr id="4" name="Text 1"/>
          <p:cNvSpPr/>
          <p:nvPr/>
        </p:nvSpPr>
        <p:spPr>
          <a:xfrm>
            <a:off x="1020604" y="3980140"/>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Morning (6-10 AM)</a:t>
            </a:r>
            <a:endParaRPr lang="en-US" sz="2200"/>
          </a:p>
        </p:txBody>
      </p:sp>
      <p:sp>
        <p:nvSpPr>
          <p:cNvPr id="5" name="Text 2"/>
          <p:cNvSpPr/>
          <p:nvPr/>
        </p:nvSpPr>
        <p:spPr>
          <a:xfrm>
            <a:off x="1020604" y="4470559"/>
            <a:ext cx="389393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Relatively clean operations with minimal delay accumulation</a:t>
            </a:r>
            <a:endParaRPr lang="en-US" sz="1750"/>
          </a:p>
        </p:txBody>
      </p:sp>
      <p:pic>
        <p:nvPicPr>
          <p:cNvPr id="6" name="Image 1" descr="preencoded.png"/>
          <p:cNvPicPr>
            <a:picLocks noChangeAspect="1"/>
          </p:cNvPicPr>
          <p:nvPr/>
        </p:nvPicPr>
        <p:blipFill>
          <a:blip r:embed="rId4"/>
          <a:stretch>
            <a:fillRect/>
          </a:stretch>
        </p:blipFill>
        <p:spPr>
          <a:xfrm>
            <a:off x="5141357" y="2846070"/>
            <a:ext cx="4347567" cy="907256"/>
          </a:xfrm>
          <a:prstGeom prst="rect">
            <a:avLst/>
          </a:prstGeom>
        </p:spPr>
      </p:pic>
      <p:sp>
        <p:nvSpPr>
          <p:cNvPr id="7" name="Text 3"/>
          <p:cNvSpPr/>
          <p:nvPr/>
        </p:nvSpPr>
        <p:spPr>
          <a:xfrm>
            <a:off x="5368171" y="3980140"/>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Midday (11 AM-3 PM)</a:t>
            </a:r>
            <a:endParaRPr lang="en-US" sz="2200"/>
          </a:p>
        </p:txBody>
      </p:sp>
      <p:sp>
        <p:nvSpPr>
          <p:cNvPr id="8" name="Text 4"/>
          <p:cNvSpPr/>
          <p:nvPr/>
        </p:nvSpPr>
        <p:spPr>
          <a:xfrm>
            <a:off x="5368171" y="4470559"/>
            <a:ext cx="389393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Delays begin building as cascading effects take hold</a:t>
            </a:r>
            <a:endParaRPr lang="en-US" sz="1750"/>
          </a:p>
        </p:txBody>
      </p:sp>
      <p:pic>
        <p:nvPicPr>
          <p:cNvPr id="9" name="Image 2" descr="preencoded.png"/>
          <p:cNvPicPr>
            <a:picLocks noChangeAspect="1"/>
          </p:cNvPicPr>
          <p:nvPr/>
        </p:nvPicPr>
        <p:blipFill>
          <a:blip r:embed="rId5"/>
          <a:stretch>
            <a:fillRect/>
          </a:stretch>
        </p:blipFill>
        <p:spPr>
          <a:xfrm>
            <a:off x="9488924" y="2846070"/>
            <a:ext cx="4347567" cy="907256"/>
          </a:xfrm>
          <a:prstGeom prst="rect">
            <a:avLst/>
          </a:prstGeom>
        </p:spPr>
      </p:pic>
      <p:sp>
        <p:nvSpPr>
          <p:cNvPr id="10" name="Text 5"/>
          <p:cNvSpPr/>
          <p:nvPr/>
        </p:nvSpPr>
        <p:spPr>
          <a:xfrm>
            <a:off x="9715738" y="3980140"/>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Evening (4-8 PM)</a:t>
            </a:r>
            <a:endParaRPr lang="en-US" sz="2200"/>
          </a:p>
        </p:txBody>
      </p:sp>
      <p:sp>
        <p:nvSpPr>
          <p:cNvPr id="11" name="Text 6"/>
          <p:cNvSpPr/>
          <p:nvPr/>
        </p:nvSpPr>
        <p:spPr>
          <a:xfrm>
            <a:off x="9715738" y="4470559"/>
            <a:ext cx="389393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Peak congestion and maximum delay accumulation</a:t>
            </a:r>
            <a:endParaRPr lang="en-US" sz="1750"/>
          </a:p>
        </p:txBody>
      </p:sp>
      <p:sp>
        <p:nvSpPr>
          <p:cNvPr id="12" name="Text 7"/>
          <p:cNvSpPr/>
          <p:nvPr/>
        </p:nvSpPr>
        <p:spPr>
          <a:xfrm>
            <a:off x="793790" y="5678329"/>
            <a:ext cx="13042821"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Delays compound throughout the day as late arrivals cause late departures. Evening flights face the cumulative impact of all previous disruptions, creating a snowball effect that can ripple through the network.</a:t>
            </a:r>
            <a:endParaRPr lang="en-US" sz="1750"/>
          </a:p>
        </p:txBody>
      </p:sp>
      <p:sp>
        <p:nvSpPr>
          <p:cNvPr id="13" name="Rectangle 12">
            <a:extLst>
              <a:ext uri="{FF2B5EF4-FFF2-40B4-BE49-F238E27FC236}">
                <a16:creationId xmlns:a16="http://schemas.microsoft.com/office/drawing/2014/main" id="{DCD0C907-95FE-EEEF-7ACE-950BDA60BCA6}"/>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575435"/>
            <a:ext cx="4732258"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Operational Implications</a:t>
            </a:r>
            <a:endParaRPr lang="en-US" sz="3550"/>
          </a:p>
        </p:txBody>
      </p:sp>
      <p:sp>
        <p:nvSpPr>
          <p:cNvPr id="3" name="Text 1"/>
          <p:cNvSpPr/>
          <p:nvPr/>
        </p:nvSpPr>
        <p:spPr>
          <a:xfrm>
            <a:off x="793790" y="2596039"/>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01</a:t>
            </a:r>
            <a:endParaRPr lang="en-US" sz="1750"/>
          </a:p>
        </p:txBody>
      </p:sp>
      <p:sp>
        <p:nvSpPr>
          <p:cNvPr id="4" name="Shape 2"/>
          <p:cNvSpPr/>
          <p:nvPr/>
        </p:nvSpPr>
        <p:spPr>
          <a:xfrm>
            <a:off x="793790" y="2951083"/>
            <a:ext cx="6407944" cy="30480"/>
          </a:xfrm>
          <a:prstGeom prst="rect">
            <a:avLst/>
          </a:prstGeom>
          <a:solidFill>
            <a:srgbClr val="2150FE"/>
          </a:solidFill>
        </p:spPr>
        <p:txBody>
          <a:bodyPr/>
          <a:lstStyle/>
          <a:p>
            <a:endParaRPr/>
          </a:p>
        </p:txBody>
      </p:sp>
      <p:sp>
        <p:nvSpPr>
          <p:cNvPr id="5" name="Text 3"/>
          <p:cNvSpPr/>
          <p:nvPr/>
        </p:nvSpPr>
        <p:spPr>
          <a:xfrm>
            <a:off x="793790" y="312539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Hub Management</a:t>
            </a:r>
            <a:endParaRPr lang="en-US" sz="2200"/>
          </a:p>
        </p:txBody>
      </p:sp>
      <p:sp>
        <p:nvSpPr>
          <p:cNvPr id="6" name="Text 4"/>
          <p:cNvSpPr/>
          <p:nvPr/>
        </p:nvSpPr>
        <p:spPr>
          <a:xfrm>
            <a:off x="793790" y="3615809"/>
            <a:ext cx="6407944"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Focus delay mitigation efforts at ATL, ORD, and DFW where small disruptions cause widespread ripple effects</a:t>
            </a:r>
            <a:endParaRPr lang="en-US" sz="1750"/>
          </a:p>
        </p:txBody>
      </p:sp>
      <p:sp>
        <p:nvSpPr>
          <p:cNvPr id="7" name="Text 5"/>
          <p:cNvSpPr/>
          <p:nvPr/>
        </p:nvSpPr>
        <p:spPr>
          <a:xfrm>
            <a:off x="7428548" y="2596039"/>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02</a:t>
            </a:r>
            <a:endParaRPr lang="en-US" sz="1750"/>
          </a:p>
        </p:txBody>
      </p:sp>
      <p:sp>
        <p:nvSpPr>
          <p:cNvPr id="8" name="Shape 6"/>
          <p:cNvSpPr/>
          <p:nvPr/>
        </p:nvSpPr>
        <p:spPr>
          <a:xfrm>
            <a:off x="7428548" y="2951083"/>
            <a:ext cx="6408063" cy="30480"/>
          </a:xfrm>
          <a:prstGeom prst="rect">
            <a:avLst/>
          </a:prstGeom>
          <a:solidFill>
            <a:srgbClr val="2150FE"/>
          </a:solidFill>
        </p:spPr>
        <p:txBody>
          <a:bodyPr/>
          <a:lstStyle/>
          <a:p>
            <a:endParaRPr/>
          </a:p>
        </p:txBody>
      </p:sp>
      <p:sp>
        <p:nvSpPr>
          <p:cNvPr id="9" name="Text 7"/>
          <p:cNvSpPr/>
          <p:nvPr/>
        </p:nvSpPr>
        <p:spPr>
          <a:xfrm>
            <a:off x="7428548" y="312539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Evening Buffer Time</a:t>
            </a:r>
            <a:endParaRPr lang="en-US" sz="2200"/>
          </a:p>
        </p:txBody>
      </p:sp>
      <p:sp>
        <p:nvSpPr>
          <p:cNvPr id="10" name="Text 8"/>
          <p:cNvSpPr/>
          <p:nvPr/>
        </p:nvSpPr>
        <p:spPr>
          <a:xfrm>
            <a:off x="7428548" y="3615809"/>
            <a:ext cx="6408063"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Build in additional padding for late-day connections since delay probabilities compound throughout the operational day</a:t>
            </a:r>
            <a:endParaRPr lang="en-US" sz="1750"/>
          </a:p>
        </p:txBody>
      </p:sp>
      <p:sp>
        <p:nvSpPr>
          <p:cNvPr id="11" name="Text 9"/>
          <p:cNvSpPr/>
          <p:nvPr/>
        </p:nvSpPr>
        <p:spPr>
          <a:xfrm>
            <a:off x="793790" y="4738449"/>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03</a:t>
            </a:r>
            <a:endParaRPr lang="en-US" sz="1750"/>
          </a:p>
        </p:txBody>
      </p:sp>
      <p:sp>
        <p:nvSpPr>
          <p:cNvPr id="12" name="Shape 10"/>
          <p:cNvSpPr/>
          <p:nvPr/>
        </p:nvSpPr>
        <p:spPr>
          <a:xfrm>
            <a:off x="793790" y="5093494"/>
            <a:ext cx="6407944" cy="30480"/>
          </a:xfrm>
          <a:prstGeom prst="rect">
            <a:avLst/>
          </a:prstGeom>
          <a:solidFill>
            <a:srgbClr val="2150FE"/>
          </a:solidFill>
        </p:spPr>
        <p:txBody>
          <a:bodyPr/>
          <a:lstStyle/>
          <a:p>
            <a:endParaRPr/>
          </a:p>
        </p:txBody>
      </p:sp>
      <p:sp>
        <p:nvSpPr>
          <p:cNvPr id="13" name="Text 11"/>
          <p:cNvSpPr/>
          <p:nvPr/>
        </p:nvSpPr>
        <p:spPr>
          <a:xfrm>
            <a:off x="793790" y="526780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Short-Haul Priority</a:t>
            </a:r>
            <a:endParaRPr lang="en-US" sz="2200"/>
          </a:p>
        </p:txBody>
      </p:sp>
      <p:sp>
        <p:nvSpPr>
          <p:cNvPr id="14" name="Text 12"/>
          <p:cNvSpPr/>
          <p:nvPr/>
        </p:nvSpPr>
        <p:spPr>
          <a:xfrm>
            <a:off x="793790" y="5758220"/>
            <a:ext cx="6407944"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Protect short-haul flights with tight turnarounds since they have less flexibility to absorb delays</a:t>
            </a:r>
            <a:endParaRPr lang="en-US" sz="1750"/>
          </a:p>
        </p:txBody>
      </p:sp>
      <p:sp>
        <p:nvSpPr>
          <p:cNvPr id="15" name="Text 13"/>
          <p:cNvSpPr/>
          <p:nvPr/>
        </p:nvSpPr>
        <p:spPr>
          <a:xfrm>
            <a:off x="7428548" y="4738449"/>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04</a:t>
            </a:r>
            <a:endParaRPr lang="en-US" sz="1750"/>
          </a:p>
        </p:txBody>
      </p:sp>
      <p:sp>
        <p:nvSpPr>
          <p:cNvPr id="16" name="Shape 14"/>
          <p:cNvSpPr/>
          <p:nvPr/>
        </p:nvSpPr>
        <p:spPr>
          <a:xfrm>
            <a:off x="7428548" y="5093494"/>
            <a:ext cx="6408063" cy="30480"/>
          </a:xfrm>
          <a:prstGeom prst="rect">
            <a:avLst/>
          </a:prstGeom>
          <a:solidFill>
            <a:srgbClr val="2150FE"/>
          </a:solidFill>
        </p:spPr>
        <p:txBody>
          <a:bodyPr/>
          <a:lstStyle/>
          <a:p>
            <a:endParaRPr/>
          </a:p>
        </p:txBody>
      </p:sp>
      <p:sp>
        <p:nvSpPr>
          <p:cNvPr id="17" name="Text 15"/>
          <p:cNvSpPr/>
          <p:nvPr/>
        </p:nvSpPr>
        <p:spPr>
          <a:xfrm>
            <a:off x="7428548" y="5267801"/>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Carrier Coordination</a:t>
            </a:r>
            <a:endParaRPr lang="en-US" sz="2200"/>
          </a:p>
        </p:txBody>
      </p:sp>
      <p:sp>
        <p:nvSpPr>
          <p:cNvPr id="18" name="Text 16"/>
          <p:cNvSpPr/>
          <p:nvPr/>
        </p:nvSpPr>
        <p:spPr>
          <a:xfrm>
            <a:off x="7428548" y="5758220"/>
            <a:ext cx="6408063"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Engage with dominant carriers (WN, DL, AA) for system-wide improvement initiatives</a:t>
            </a:r>
            <a:endParaRPr lang="en-US" sz="1750"/>
          </a:p>
        </p:txBody>
      </p:sp>
      <p:sp>
        <p:nvSpPr>
          <p:cNvPr id="19" name="Rectangle 18">
            <a:extLst>
              <a:ext uri="{FF2B5EF4-FFF2-40B4-BE49-F238E27FC236}">
                <a16:creationId xmlns:a16="http://schemas.microsoft.com/office/drawing/2014/main" id="{BB37A2D4-4D59-3AEA-00E4-2D6D43A614A2}"/>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37273"/>
            <a:ext cx="13042821" cy="1417558"/>
          </a:xfrm>
          <a:prstGeom prst="rect">
            <a:avLst/>
          </a:prstGeom>
          <a:noFill/>
        </p:spPr>
        <p:txBody>
          <a:bodyPr wrap="squar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Milestone 3: Deeper Analysis of Operational Disruptions</a:t>
            </a:r>
            <a:endParaRPr lang="en-US" sz="4450"/>
          </a:p>
        </p:txBody>
      </p:sp>
      <p:sp>
        <p:nvSpPr>
          <p:cNvPr id="3" name="Shape 1"/>
          <p:cNvSpPr/>
          <p:nvPr/>
        </p:nvSpPr>
        <p:spPr>
          <a:xfrm>
            <a:off x="793790" y="2908459"/>
            <a:ext cx="4196358" cy="2940010"/>
          </a:xfrm>
          <a:prstGeom prst="roundRect">
            <a:avLst>
              <a:gd name="adj" fmla="val 1157"/>
            </a:avLst>
          </a:prstGeom>
          <a:solidFill>
            <a:srgbClr val="F2EEEE"/>
          </a:solidFill>
        </p:spPr>
        <p:txBody>
          <a:bodyPr/>
          <a:lstStyle/>
          <a:p>
            <a:endParaRPr/>
          </a:p>
        </p:txBody>
      </p:sp>
      <p:sp>
        <p:nvSpPr>
          <p:cNvPr id="4" name="Shape 2"/>
          <p:cNvSpPr/>
          <p:nvPr/>
        </p:nvSpPr>
        <p:spPr>
          <a:xfrm>
            <a:off x="1020604" y="3135273"/>
            <a:ext cx="680442" cy="680442"/>
          </a:xfrm>
          <a:prstGeom prst="roundRect">
            <a:avLst>
              <a:gd name="adj" fmla="val 13436980"/>
            </a:avLst>
          </a:prstGeom>
          <a:solidFill>
            <a:srgbClr val="2150FE"/>
          </a:solidFill>
        </p:spPr>
        <p:txBody>
          <a:bodyPr/>
          <a:lstStyle/>
          <a:p>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770" y="3322320"/>
            <a:ext cx="306110" cy="306110"/>
          </a:xfrm>
          <a:prstGeom prst="rect">
            <a:avLst/>
          </a:prstGeom>
        </p:spPr>
      </p:pic>
      <p:sp>
        <p:nvSpPr>
          <p:cNvPr id="6" name="Text 3"/>
          <p:cNvSpPr/>
          <p:nvPr/>
        </p:nvSpPr>
        <p:spPr>
          <a:xfrm>
            <a:off x="1020604" y="404252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Route Performance</a:t>
            </a:r>
            <a:endParaRPr lang="en-US" sz="2200"/>
          </a:p>
        </p:txBody>
      </p:sp>
      <p:sp>
        <p:nvSpPr>
          <p:cNvPr id="7" name="Text 4"/>
          <p:cNvSpPr/>
          <p:nvPr/>
        </p:nvSpPr>
        <p:spPr>
          <a:xfrm>
            <a:off x="1020604" y="4532948"/>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Identify high-risk routes with consistent reliability issues through delay and cancellation analysis</a:t>
            </a:r>
            <a:endParaRPr lang="en-US" sz="1750"/>
          </a:p>
        </p:txBody>
      </p:sp>
      <p:sp>
        <p:nvSpPr>
          <p:cNvPr id="8" name="Shape 5"/>
          <p:cNvSpPr/>
          <p:nvPr/>
        </p:nvSpPr>
        <p:spPr>
          <a:xfrm>
            <a:off x="5216962" y="2908459"/>
            <a:ext cx="4196358" cy="2940010"/>
          </a:xfrm>
          <a:prstGeom prst="roundRect">
            <a:avLst>
              <a:gd name="adj" fmla="val 1157"/>
            </a:avLst>
          </a:prstGeom>
          <a:solidFill>
            <a:srgbClr val="F2EEEE"/>
          </a:solidFill>
        </p:spPr>
        <p:txBody>
          <a:bodyPr/>
          <a:lstStyle/>
          <a:p>
            <a:endParaRPr/>
          </a:p>
        </p:txBody>
      </p:sp>
      <p:sp>
        <p:nvSpPr>
          <p:cNvPr id="9" name="Shape 6"/>
          <p:cNvSpPr/>
          <p:nvPr/>
        </p:nvSpPr>
        <p:spPr>
          <a:xfrm>
            <a:off x="5443776" y="3135273"/>
            <a:ext cx="680442" cy="680442"/>
          </a:xfrm>
          <a:prstGeom prst="roundRect">
            <a:avLst>
              <a:gd name="adj" fmla="val 13436980"/>
            </a:avLst>
          </a:prstGeom>
          <a:solidFill>
            <a:srgbClr val="2150FE"/>
          </a:solidFill>
        </p:spPr>
        <p:txBody>
          <a:bodyPr/>
          <a:lstStyle/>
          <a:p>
            <a:endParaRPr/>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0942" y="3322320"/>
            <a:ext cx="306110" cy="306110"/>
          </a:xfrm>
          <a:prstGeom prst="rect">
            <a:avLst/>
          </a:prstGeom>
        </p:spPr>
      </p:pic>
      <p:sp>
        <p:nvSpPr>
          <p:cNvPr id="11" name="Text 7"/>
          <p:cNvSpPr/>
          <p:nvPr/>
        </p:nvSpPr>
        <p:spPr>
          <a:xfrm>
            <a:off x="5443776" y="404252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Cancellation Causes</a:t>
            </a:r>
            <a:endParaRPr lang="en-US" sz="2200"/>
          </a:p>
        </p:txBody>
      </p:sp>
      <p:sp>
        <p:nvSpPr>
          <p:cNvPr id="12" name="Text 8"/>
          <p:cNvSpPr/>
          <p:nvPr/>
        </p:nvSpPr>
        <p:spPr>
          <a:xfrm>
            <a:off x="5443776" y="4532948"/>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Break down the anatomy of flight cancellations to pinpoint primary contributing factors</a:t>
            </a:r>
            <a:endParaRPr lang="en-US" sz="1750"/>
          </a:p>
        </p:txBody>
      </p:sp>
      <p:sp>
        <p:nvSpPr>
          <p:cNvPr id="13" name="Shape 9"/>
          <p:cNvSpPr/>
          <p:nvPr/>
        </p:nvSpPr>
        <p:spPr>
          <a:xfrm>
            <a:off x="9640133" y="2908459"/>
            <a:ext cx="4196358" cy="2940010"/>
          </a:xfrm>
          <a:prstGeom prst="roundRect">
            <a:avLst>
              <a:gd name="adj" fmla="val 1157"/>
            </a:avLst>
          </a:prstGeom>
          <a:solidFill>
            <a:srgbClr val="F2EEEE"/>
          </a:solidFill>
        </p:spPr>
        <p:txBody>
          <a:bodyPr/>
          <a:lstStyle/>
          <a:p>
            <a:endParaRPr/>
          </a:p>
        </p:txBody>
      </p:sp>
      <p:sp>
        <p:nvSpPr>
          <p:cNvPr id="14" name="Shape 10"/>
          <p:cNvSpPr/>
          <p:nvPr/>
        </p:nvSpPr>
        <p:spPr>
          <a:xfrm>
            <a:off x="9866948" y="3135273"/>
            <a:ext cx="680442" cy="680442"/>
          </a:xfrm>
          <a:prstGeom prst="roundRect">
            <a:avLst>
              <a:gd name="adj" fmla="val 13436980"/>
            </a:avLst>
          </a:prstGeom>
          <a:solidFill>
            <a:srgbClr val="2150FE"/>
          </a:solidFill>
        </p:spPr>
        <p:txBody>
          <a:bodyPr/>
          <a:lstStyle/>
          <a:p>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4114" y="3322320"/>
            <a:ext cx="306110" cy="306110"/>
          </a:xfrm>
          <a:prstGeom prst="rect">
            <a:avLst/>
          </a:prstGeom>
        </p:spPr>
      </p:pic>
      <p:sp>
        <p:nvSpPr>
          <p:cNvPr id="16" name="Text 11"/>
          <p:cNvSpPr/>
          <p:nvPr/>
        </p:nvSpPr>
        <p:spPr>
          <a:xfrm>
            <a:off x="9866948" y="404252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Seasonal Patterns</a:t>
            </a:r>
            <a:endParaRPr lang="en-US" sz="2200"/>
          </a:p>
        </p:txBody>
      </p:sp>
      <p:sp>
        <p:nvSpPr>
          <p:cNvPr id="17" name="Text 12"/>
          <p:cNvSpPr/>
          <p:nvPr/>
        </p:nvSpPr>
        <p:spPr>
          <a:xfrm>
            <a:off x="9866948" y="4532948"/>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Quantify winter impact on operations to improve forecasting and resource allocation</a:t>
            </a:r>
            <a:endParaRPr lang="en-US" sz="1750"/>
          </a:p>
        </p:txBody>
      </p:sp>
      <p:sp>
        <p:nvSpPr>
          <p:cNvPr id="18" name="Text 13"/>
          <p:cNvSpPr/>
          <p:nvPr/>
        </p:nvSpPr>
        <p:spPr>
          <a:xfrm>
            <a:off x="793790" y="6103620"/>
            <a:ext cx="13042821"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This milestone examines the operational disruptions that most significantly impact airline reliability. By analyzing route-level performance, cancellation root causes, and seasonal variations, operations teams can develop targeted mitigation strategies and improve overall schedule integrity.</a:t>
            </a:r>
            <a:endParaRPr lang="en-US" sz="1750"/>
          </a:p>
        </p:txBody>
      </p:sp>
      <p:sp>
        <p:nvSpPr>
          <p:cNvPr id="19" name="Rectangle 18">
            <a:extLst>
              <a:ext uri="{FF2B5EF4-FFF2-40B4-BE49-F238E27FC236}">
                <a16:creationId xmlns:a16="http://schemas.microsoft.com/office/drawing/2014/main" id="{73F55181-950B-B9AD-D5D0-B756C0574D63}"/>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7829" y="869156"/>
            <a:ext cx="9886950" cy="649843"/>
          </a:xfrm>
          <a:prstGeom prst="rect">
            <a:avLst/>
          </a:prstGeom>
          <a:noFill/>
        </p:spPr>
        <p:txBody>
          <a:bodyPr wrap="none" lIns="0" tIns="0" rIns="0" bIns="0" rtlCol="0" anchor="t"/>
          <a:lstStyle/>
          <a:p>
            <a:pPr marL="0" indent="0" algn="l">
              <a:lnSpc>
                <a:spcPts val="5100"/>
              </a:lnSpc>
              <a:buNone/>
            </a:pPr>
            <a:r>
              <a:rPr lang="en-US" sz="4050">
                <a:solidFill>
                  <a:srgbClr val="152D47"/>
                </a:solidFill>
                <a:latin typeface="Crimson Pro Semi Bold" pitchFamily="34" charset="0"/>
                <a:ea typeface="Crimson Pro Semi Bold" pitchFamily="34" charset="-122"/>
                <a:cs typeface="Crimson Pro Semi Bold" pitchFamily="34" charset="-120"/>
              </a:rPr>
              <a:t>High-Risk Routes: The Problem Child Analysis</a:t>
            </a:r>
            <a:endParaRPr lang="en-US" sz="4050"/>
          </a:p>
        </p:txBody>
      </p:sp>
      <p:sp>
        <p:nvSpPr>
          <p:cNvPr id="3" name="Text 1"/>
          <p:cNvSpPr/>
          <p:nvPr/>
        </p:nvSpPr>
        <p:spPr>
          <a:xfrm>
            <a:off x="727829" y="1995488"/>
            <a:ext cx="3119318" cy="389930"/>
          </a:xfrm>
          <a:prstGeom prst="rect">
            <a:avLst/>
          </a:prstGeom>
          <a:noFill/>
        </p:spPr>
        <p:txBody>
          <a:bodyPr wrap="none" lIns="0" tIns="0" rIns="0" bIns="0" rtlCol="0" anchor="t"/>
          <a:lstStyle/>
          <a:p>
            <a:pPr marL="0" indent="0" algn="l">
              <a:lnSpc>
                <a:spcPts val="3050"/>
              </a:lnSpc>
              <a:buNone/>
            </a:pPr>
            <a:r>
              <a:rPr lang="en-US" sz="2450">
                <a:solidFill>
                  <a:srgbClr val="152D47"/>
                </a:solidFill>
                <a:latin typeface="Crimson Pro Semi Bold" pitchFamily="34" charset="0"/>
                <a:ea typeface="Crimson Pro Semi Bold" pitchFamily="34" charset="-122"/>
                <a:cs typeface="Crimson Pro Semi Bold" pitchFamily="34" charset="-120"/>
              </a:rPr>
              <a:t>ANC-SEA: A Case Study</a:t>
            </a:r>
            <a:endParaRPr lang="en-US" sz="2450"/>
          </a:p>
        </p:txBody>
      </p:sp>
      <p:sp>
        <p:nvSpPr>
          <p:cNvPr id="4" name="Text 2"/>
          <p:cNvSpPr/>
          <p:nvPr/>
        </p:nvSpPr>
        <p:spPr>
          <a:xfrm>
            <a:off x="727829" y="2576036"/>
            <a:ext cx="8386048" cy="956548"/>
          </a:xfrm>
          <a:prstGeom prst="rect">
            <a:avLst/>
          </a:prstGeom>
          <a:noFill/>
        </p:spPr>
        <p:txBody>
          <a:bodyPr wrap="square" lIns="0" tIns="0" rIns="0" bIns="0" rtlCol="0" anchor="t"/>
          <a:lstStyle/>
          <a:p>
            <a:pPr marL="0" indent="0" algn="l">
              <a:lnSpc>
                <a:spcPts val="2500"/>
              </a:lnSpc>
              <a:buNone/>
            </a:pPr>
            <a:r>
              <a:rPr lang="en-US" sz="1600">
                <a:solidFill>
                  <a:srgbClr val="4C4C4D"/>
                </a:solidFill>
                <a:latin typeface="Heebo" pitchFamily="34" charset="0"/>
                <a:ea typeface="Heebo" pitchFamily="34" charset="-122"/>
                <a:cs typeface="Heebo" pitchFamily="34" charset="-120"/>
              </a:rPr>
              <a:t>The Anchorage to Seattle route exemplifies a "problem child" route with persistently high cancellation rates and extended delays. Geographic constraints, limited airport infrastructure, and frequent weather events compound operational challenges.</a:t>
            </a:r>
            <a:endParaRPr lang="en-US" sz="1600"/>
          </a:p>
        </p:txBody>
      </p:sp>
      <p:sp>
        <p:nvSpPr>
          <p:cNvPr id="5" name="Text 3"/>
          <p:cNvSpPr/>
          <p:nvPr/>
        </p:nvSpPr>
        <p:spPr>
          <a:xfrm>
            <a:off x="727829" y="3704153"/>
            <a:ext cx="8386048" cy="318849"/>
          </a:xfrm>
          <a:prstGeom prst="rect">
            <a:avLst/>
          </a:prstGeom>
          <a:noFill/>
        </p:spPr>
        <p:txBody>
          <a:bodyPr wrap="none" lIns="0" tIns="0" rIns="0" bIns="0" rtlCol="0" anchor="t"/>
          <a:lstStyle/>
          <a:p>
            <a:pPr marL="0" indent="0" algn="l">
              <a:lnSpc>
                <a:spcPts val="2500"/>
              </a:lnSpc>
              <a:buNone/>
            </a:pPr>
            <a:r>
              <a:rPr lang="en-US" sz="1600" b="1">
                <a:solidFill>
                  <a:srgbClr val="4C4C4D"/>
                </a:solidFill>
                <a:latin typeface="Heebo" pitchFamily="34" charset="0"/>
                <a:ea typeface="Heebo" pitchFamily="34" charset="-122"/>
                <a:cs typeface="Heebo" pitchFamily="34" charset="-120"/>
              </a:rPr>
              <a:t>Key Metrics:</a:t>
            </a:r>
            <a:endParaRPr lang="en-US" sz="1600"/>
          </a:p>
        </p:txBody>
      </p:sp>
      <p:sp>
        <p:nvSpPr>
          <p:cNvPr id="6" name="Text 4"/>
          <p:cNvSpPr/>
          <p:nvPr/>
        </p:nvSpPr>
        <p:spPr>
          <a:xfrm>
            <a:off x="727829" y="4194572"/>
            <a:ext cx="8386048" cy="1089898"/>
          </a:xfrm>
          <a:prstGeom prst="rect">
            <a:avLst/>
          </a:prstGeom>
          <a:noFill/>
        </p:spPr>
        <p:txBody>
          <a:bodyPr wrap="square" lIns="0" tIns="0" rIns="0" bIns="0" rtlCol="0" anchor="t"/>
          <a:lstStyle/>
          <a:p>
            <a:pPr marL="342900" indent="-342900" algn="l">
              <a:lnSpc>
                <a:spcPts val="2500"/>
              </a:lnSpc>
              <a:buSzTx/>
              <a:buChar char="•"/>
            </a:pPr>
            <a:r>
              <a:rPr lang="en-US" sz="1600">
                <a:solidFill>
                  <a:srgbClr val="4C4C4D"/>
                </a:solidFill>
                <a:latin typeface="Heebo" pitchFamily="34" charset="0"/>
                <a:ea typeface="Heebo" pitchFamily="34" charset="-122"/>
                <a:cs typeface="Heebo" pitchFamily="34" charset="-120"/>
              </a:rPr>
              <a:t>2.3x higher cancellation rate than system average</a:t>
            </a:r>
            <a:endParaRPr lang="en-US" sz="1600"/>
          </a:p>
          <a:p>
            <a:pPr marL="342900" indent="-342900" algn="l">
              <a:lnSpc>
                <a:spcPts val="2500"/>
              </a:lnSpc>
              <a:buSzTx/>
              <a:buChar char="•"/>
            </a:pPr>
            <a:r>
              <a:rPr lang="en-US" sz="1600">
                <a:solidFill>
                  <a:srgbClr val="4C4C4D"/>
                </a:solidFill>
                <a:latin typeface="Heebo" pitchFamily="34" charset="0"/>
                <a:ea typeface="Heebo" pitchFamily="34" charset="-122"/>
                <a:cs typeface="Heebo" pitchFamily="34" charset="-120"/>
              </a:rPr>
              <a:t>Average delay duration: 87 minutes</a:t>
            </a:r>
            <a:endParaRPr lang="en-US" sz="1600"/>
          </a:p>
          <a:p>
            <a:pPr marL="342900" indent="-342900" algn="l">
              <a:lnSpc>
                <a:spcPts val="2500"/>
              </a:lnSpc>
              <a:buSzTx/>
              <a:buChar char="•"/>
            </a:pPr>
            <a:r>
              <a:rPr lang="en-US" sz="1600">
                <a:solidFill>
                  <a:srgbClr val="4C4C4D"/>
                </a:solidFill>
                <a:latin typeface="Heebo" pitchFamily="34" charset="0"/>
                <a:ea typeface="Heebo" pitchFamily="34" charset="-122"/>
                <a:cs typeface="Heebo" pitchFamily="34" charset="-120"/>
              </a:rPr>
              <a:t>Weather-related disruptions: 45% of total delays</a:t>
            </a:r>
            <a:endParaRPr lang="en-US" sz="1600"/>
          </a:p>
        </p:txBody>
      </p:sp>
      <p:sp>
        <p:nvSpPr>
          <p:cNvPr id="7" name="Text 5"/>
          <p:cNvSpPr/>
          <p:nvPr/>
        </p:nvSpPr>
        <p:spPr>
          <a:xfrm>
            <a:off x="9628703" y="1995488"/>
            <a:ext cx="2599372" cy="324802"/>
          </a:xfrm>
          <a:prstGeom prst="rect">
            <a:avLst/>
          </a:prstGeom>
          <a:noFill/>
        </p:spPr>
        <p:txBody>
          <a:bodyPr wrap="none" lIns="0" tIns="0" rIns="0" bIns="0" rtlCol="0" anchor="t"/>
          <a:lstStyle/>
          <a:p>
            <a:pPr marL="0" indent="0" algn="l">
              <a:lnSpc>
                <a:spcPts val="2550"/>
              </a:lnSpc>
              <a:buNone/>
            </a:pPr>
            <a:r>
              <a:rPr lang="en-US" sz="2000">
                <a:solidFill>
                  <a:srgbClr val="152D47"/>
                </a:solidFill>
                <a:latin typeface="Crimson Pro Semi Bold" pitchFamily="34" charset="0"/>
                <a:ea typeface="Crimson Pro Semi Bold" pitchFamily="34" charset="-122"/>
                <a:cs typeface="Crimson Pro Semi Bold" pitchFamily="34" charset="-120"/>
              </a:rPr>
              <a:t>Strategic Implications</a:t>
            </a:r>
            <a:endParaRPr lang="en-US" sz="2000"/>
          </a:p>
        </p:txBody>
      </p:sp>
      <p:sp>
        <p:nvSpPr>
          <p:cNvPr id="8" name="Text 6"/>
          <p:cNvSpPr/>
          <p:nvPr/>
        </p:nvSpPr>
        <p:spPr>
          <a:xfrm>
            <a:off x="9628703" y="2510909"/>
            <a:ext cx="4281368" cy="1594247"/>
          </a:xfrm>
          <a:prstGeom prst="rect">
            <a:avLst/>
          </a:prstGeom>
          <a:noFill/>
        </p:spPr>
        <p:txBody>
          <a:bodyPr wrap="square" lIns="0" tIns="0" rIns="0" bIns="0" rtlCol="0" anchor="t"/>
          <a:lstStyle/>
          <a:p>
            <a:pPr marL="0" indent="0" algn="l">
              <a:lnSpc>
                <a:spcPts val="2500"/>
              </a:lnSpc>
              <a:buNone/>
            </a:pPr>
            <a:r>
              <a:rPr lang="en-US" sz="1600">
                <a:solidFill>
                  <a:srgbClr val="4C4C4D"/>
                </a:solidFill>
                <a:latin typeface="Heebo" pitchFamily="34" charset="0"/>
                <a:ea typeface="Heebo" pitchFamily="34" charset="-122"/>
                <a:cs typeface="Heebo" pitchFamily="34" charset="-120"/>
              </a:rPr>
              <a:t>Problem routes require targeted resource allocation, including additional gate buffers, strategic aircraft positioning, and enhanced crew availability to manage cascading disruptions.</a:t>
            </a:r>
            <a:endParaRPr lang="en-US" sz="1600"/>
          </a:p>
        </p:txBody>
      </p:sp>
      <p:sp>
        <p:nvSpPr>
          <p:cNvPr id="9" name="Text 7"/>
          <p:cNvSpPr/>
          <p:nvPr/>
        </p:nvSpPr>
        <p:spPr>
          <a:xfrm>
            <a:off x="727829" y="5669518"/>
            <a:ext cx="4232672" cy="686157"/>
          </a:xfrm>
          <a:prstGeom prst="rect">
            <a:avLst/>
          </a:prstGeom>
          <a:noFill/>
        </p:spPr>
        <p:txBody>
          <a:bodyPr wrap="none" lIns="0" tIns="0" rIns="0" bIns="0" rtlCol="0" anchor="t"/>
          <a:lstStyle/>
          <a:p>
            <a:pPr marL="0" indent="0" algn="ctr">
              <a:lnSpc>
                <a:spcPts val="5400"/>
              </a:lnSpc>
              <a:buNone/>
            </a:pPr>
            <a:r>
              <a:rPr lang="en-US" sz="5400">
                <a:solidFill>
                  <a:srgbClr val="4C4C4D"/>
                </a:solidFill>
                <a:latin typeface="Crimson Pro Semi Bold" pitchFamily="34" charset="0"/>
                <a:ea typeface="Crimson Pro Semi Bold" pitchFamily="34" charset="-122"/>
                <a:cs typeface="Crimson Pro Semi Bold" pitchFamily="34" charset="-120"/>
              </a:rPr>
              <a:t>2.3x</a:t>
            </a:r>
            <a:endParaRPr lang="en-US" sz="5400"/>
          </a:p>
        </p:txBody>
      </p:sp>
      <p:sp>
        <p:nvSpPr>
          <p:cNvPr id="10" name="Text 8"/>
          <p:cNvSpPr/>
          <p:nvPr/>
        </p:nvSpPr>
        <p:spPr>
          <a:xfrm>
            <a:off x="1544479" y="6602492"/>
            <a:ext cx="2599372" cy="324802"/>
          </a:xfrm>
          <a:prstGeom prst="rect">
            <a:avLst/>
          </a:prstGeom>
          <a:noFill/>
        </p:spPr>
        <p:txBody>
          <a:bodyPr wrap="none" lIns="0" tIns="0" rIns="0" bIns="0" rtlCol="0" anchor="t"/>
          <a:lstStyle/>
          <a:p>
            <a:pPr marL="0" indent="0" algn="ctr">
              <a:lnSpc>
                <a:spcPts val="2550"/>
              </a:lnSpc>
              <a:buNone/>
            </a:pPr>
            <a:r>
              <a:rPr lang="en-US" sz="2000">
                <a:solidFill>
                  <a:srgbClr val="4C4C4D"/>
                </a:solidFill>
                <a:latin typeface="Crimson Pro Semi Bold" pitchFamily="34" charset="0"/>
                <a:ea typeface="Crimson Pro Semi Bold" pitchFamily="34" charset="-122"/>
                <a:cs typeface="Crimson Pro Semi Bold" pitchFamily="34" charset="-120"/>
              </a:rPr>
              <a:t>Cancellation Rate</a:t>
            </a:r>
            <a:endParaRPr lang="en-US" sz="2000"/>
          </a:p>
        </p:txBody>
      </p:sp>
      <p:sp>
        <p:nvSpPr>
          <p:cNvPr id="11" name="Text 9"/>
          <p:cNvSpPr/>
          <p:nvPr/>
        </p:nvSpPr>
        <p:spPr>
          <a:xfrm>
            <a:off x="727829" y="7041594"/>
            <a:ext cx="4232672" cy="318849"/>
          </a:xfrm>
          <a:prstGeom prst="rect">
            <a:avLst/>
          </a:prstGeom>
          <a:noFill/>
        </p:spPr>
        <p:txBody>
          <a:bodyPr wrap="none" lIns="0" tIns="0" rIns="0" bIns="0" rtlCol="0" anchor="t"/>
          <a:lstStyle/>
          <a:p>
            <a:pPr marL="0" indent="0" algn="ctr">
              <a:lnSpc>
                <a:spcPts val="2500"/>
              </a:lnSpc>
              <a:buNone/>
            </a:pPr>
            <a:r>
              <a:rPr lang="en-US" sz="1600">
                <a:solidFill>
                  <a:srgbClr val="4C4C4D"/>
                </a:solidFill>
                <a:latin typeface="Heebo" pitchFamily="34" charset="0"/>
                <a:ea typeface="Heebo" pitchFamily="34" charset="-122"/>
                <a:cs typeface="Heebo" pitchFamily="34" charset="-120"/>
              </a:rPr>
              <a:t>Higher than system average</a:t>
            </a:r>
            <a:endParaRPr lang="en-US" sz="1600"/>
          </a:p>
        </p:txBody>
      </p:sp>
      <p:sp>
        <p:nvSpPr>
          <p:cNvPr id="12" name="Text 10"/>
          <p:cNvSpPr/>
          <p:nvPr/>
        </p:nvSpPr>
        <p:spPr>
          <a:xfrm>
            <a:off x="5198745" y="5669518"/>
            <a:ext cx="4232791" cy="686157"/>
          </a:xfrm>
          <a:prstGeom prst="rect">
            <a:avLst/>
          </a:prstGeom>
          <a:noFill/>
        </p:spPr>
        <p:txBody>
          <a:bodyPr wrap="none" lIns="0" tIns="0" rIns="0" bIns="0" rtlCol="0" anchor="t"/>
          <a:lstStyle/>
          <a:p>
            <a:pPr marL="0" indent="0" algn="ctr">
              <a:lnSpc>
                <a:spcPts val="5400"/>
              </a:lnSpc>
              <a:buNone/>
            </a:pPr>
            <a:r>
              <a:rPr lang="en-US" sz="5400">
                <a:solidFill>
                  <a:srgbClr val="4C4C4D"/>
                </a:solidFill>
                <a:latin typeface="Crimson Pro Semi Bold" pitchFamily="34" charset="0"/>
                <a:ea typeface="Crimson Pro Semi Bold" pitchFamily="34" charset="-122"/>
                <a:cs typeface="Crimson Pro Semi Bold" pitchFamily="34" charset="-120"/>
              </a:rPr>
              <a:t>87</a:t>
            </a:r>
            <a:endParaRPr lang="en-US" sz="5400"/>
          </a:p>
        </p:txBody>
      </p:sp>
      <p:sp>
        <p:nvSpPr>
          <p:cNvPr id="13" name="Text 11"/>
          <p:cNvSpPr/>
          <p:nvPr/>
        </p:nvSpPr>
        <p:spPr>
          <a:xfrm>
            <a:off x="6015395" y="6602492"/>
            <a:ext cx="2599372" cy="324802"/>
          </a:xfrm>
          <a:prstGeom prst="rect">
            <a:avLst/>
          </a:prstGeom>
          <a:noFill/>
        </p:spPr>
        <p:txBody>
          <a:bodyPr wrap="none" lIns="0" tIns="0" rIns="0" bIns="0" rtlCol="0" anchor="t"/>
          <a:lstStyle/>
          <a:p>
            <a:pPr marL="0" indent="0" algn="ctr">
              <a:lnSpc>
                <a:spcPts val="2550"/>
              </a:lnSpc>
              <a:buNone/>
            </a:pPr>
            <a:r>
              <a:rPr lang="en-US" sz="2000">
                <a:solidFill>
                  <a:srgbClr val="4C4C4D"/>
                </a:solidFill>
                <a:latin typeface="Crimson Pro Semi Bold" pitchFamily="34" charset="0"/>
                <a:ea typeface="Crimson Pro Semi Bold" pitchFamily="34" charset="-122"/>
                <a:cs typeface="Crimson Pro Semi Bold" pitchFamily="34" charset="-120"/>
              </a:rPr>
              <a:t>Average Delay</a:t>
            </a:r>
            <a:endParaRPr lang="en-US" sz="2000"/>
          </a:p>
        </p:txBody>
      </p:sp>
      <p:sp>
        <p:nvSpPr>
          <p:cNvPr id="14" name="Text 12"/>
          <p:cNvSpPr/>
          <p:nvPr/>
        </p:nvSpPr>
        <p:spPr>
          <a:xfrm>
            <a:off x="5198745" y="7041594"/>
            <a:ext cx="4232791" cy="318849"/>
          </a:xfrm>
          <a:prstGeom prst="rect">
            <a:avLst/>
          </a:prstGeom>
          <a:noFill/>
        </p:spPr>
        <p:txBody>
          <a:bodyPr wrap="none" lIns="0" tIns="0" rIns="0" bIns="0" rtlCol="0" anchor="t"/>
          <a:lstStyle/>
          <a:p>
            <a:pPr marL="0" indent="0" algn="ctr">
              <a:lnSpc>
                <a:spcPts val="2500"/>
              </a:lnSpc>
              <a:buNone/>
            </a:pPr>
            <a:r>
              <a:rPr lang="en-US" sz="1600">
                <a:solidFill>
                  <a:srgbClr val="4C4C4D"/>
                </a:solidFill>
                <a:latin typeface="Heebo" pitchFamily="34" charset="0"/>
                <a:ea typeface="Heebo" pitchFamily="34" charset="-122"/>
                <a:cs typeface="Heebo" pitchFamily="34" charset="-120"/>
              </a:rPr>
              <a:t>Minutes per occurrence</a:t>
            </a:r>
            <a:endParaRPr lang="en-US" sz="1600"/>
          </a:p>
        </p:txBody>
      </p:sp>
      <p:sp>
        <p:nvSpPr>
          <p:cNvPr id="15" name="Text 13"/>
          <p:cNvSpPr/>
          <p:nvPr/>
        </p:nvSpPr>
        <p:spPr>
          <a:xfrm>
            <a:off x="9669780" y="5669518"/>
            <a:ext cx="4232791" cy="686157"/>
          </a:xfrm>
          <a:prstGeom prst="rect">
            <a:avLst/>
          </a:prstGeom>
          <a:noFill/>
        </p:spPr>
        <p:txBody>
          <a:bodyPr wrap="none" lIns="0" tIns="0" rIns="0" bIns="0" rtlCol="0" anchor="t"/>
          <a:lstStyle/>
          <a:p>
            <a:pPr marL="0" indent="0" algn="ctr">
              <a:lnSpc>
                <a:spcPts val="5400"/>
              </a:lnSpc>
              <a:buNone/>
            </a:pPr>
            <a:r>
              <a:rPr lang="en-US" sz="5400">
                <a:solidFill>
                  <a:srgbClr val="4C4C4D"/>
                </a:solidFill>
                <a:latin typeface="Crimson Pro Semi Bold" pitchFamily="34" charset="0"/>
                <a:ea typeface="Crimson Pro Semi Bold" pitchFamily="34" charset="-122"/>
                <a:cs typeface="Crimson Pro Semi Bold" pitchFamily="34" charset="-120"/>
              </a:rPr>
              <a:t>45%</a:t>
            </a:r>
            <a:endParaRPr lang="en-US" sz="5400"/>
          </a:p>
        </p:txBody>
      </p:sp>
      <p:sp>
        <p:nvSpPr>
          <p:cNvPr id="16" name="Text 14"/>
          <p:cNvSpPr/>
          <p:nvPr/>
        </p:nvSpPr>
        <p:spPr>
          <a:xfrm>
            <a:off x="10486430" y="6602492"/>
            <a:ext cx="2599372" cy="324802"/>
          </a:xfrm>
          <a:prstGeom prst="rect">
            <a:avLst/>
          </a:prstGeom>
          <a:noFill/>
        </p:spPr>
        <p:txBody>
          <a:bodyPr wrap="none" lIns="0" tIns="0" rIns="0" bIns="0" rtlCol="0" anchor="t"/>
          <a:lstStyle/>
          <a:p>
            <a:pPr marL="0" indent="0" algn="ctr">
              <a:lnSpc>
                <a:spcPts val="2550"/>
              </a:lnSpc>
              <a:buNone/>
            </a:pPr>
            <a:r>
              <a:rPr lang="en-US" sz="2000">
                <a:solidFill>
                  <a:srgbClr val="4C4C4D"/>
                </a:solidFill>
                <a:latin typeface="Crimson Pro Semi Bold" pitchFamily="34" charset="0"/>
                <a:ea typeface="Crimson Pro Semi Bold" pitchFamily="34" charset="-122"/>
                <a:cs typeface="Crimson Pro Semi Bold" pitchFamily="34" charset="-120"/>
              </a:rPr>
              <a:t>Weather Impact</a:t>
            </a:r>
            <a:endParaRPr lang="en-US" sz="2000"/>
          </a:p>
        </p:txBody>
      </p:sp>
      <p:sp>
        <p:nvSpPr>
          <p:cNvPr id="17" name="Text 15"/>
          <p:cNvSpPr/>
          <p:nvPr/>
        </p:nvSpPr>
        <p:spPr>
          <a:xfrm>
            <a:off x="9669780" y="7041594"/>
            <a:ext cx="4232791" cy="318849"/>
          </a:xfrm>
          <a:prstGeom prst="rect">
            <a:avLst/>
          </a:prstGeom>
          <a:noFill/>
        </p:spPr>
        <p:txBody>
          <a:bodyPr wrap="none" lIns="0" tIns="0" rIns="0" bIns="0" rtlCol="0" anchor="t"/>
          <a:lstStyle/>
          <a:p>
            <a:pPr marL="0" indent="0" algn="ctr">
              <a:lnSpc>
                <a:spcPts val="2500"/>
              </a:lnSpc>
              <a:buNone/>
            </a:pPr>
            <a:r>
              <a:rPr lang="en-US" sz="1600">
                <a:solidFill>
                  <a:srgbClr val="4C4C4D"/>
                </a:solidFill>
                <a:latin typeface="Heebo" pitchFamily="34" charset="0"/>
                <a:ea typeface="Heebo" pitchFamily="34" charset="-122"/>
                <a:cs typeface="Heebo" pitchFamily="34" charset="-120"/>
              </a:rPr>
              <a:t>Of total route delays</a:t>
            </a:r>
            <a:endParaRPr lang="en-US" sz="1600"/>
          </a:p>
        </p:txBody>
      </p:sp>
      <p:sp>
        <p:nvSpPr>
          <p:cNvPr id="18" name="Rectangle 17">
            <a:extLst>
              <a:ext uri="{FF2B5EF4-FFF2-40B4-BE49-F238E27FC236}">
                <a16:creationId xmlns:a16="http://schemas.microsoft.com/office/drawing/2014/main" id="{44D797F0-452F-ADEB-7BF9-30FB899FE782}"/>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507694" y="803672"/>
            <a:ext cx="7426047" cy="435412"/>
          </a:xfrm>
          <a:prstGeom prst="rect">
            <a:avLst/>
          </a:prstGeom>
          <a:noFill/>
        </p:spPr>
        <p:txBody>
          <a:bodyPr wrap="none" lIns="0" tIns="0" rIns="0" bIns="0" rtlCol="0" anchor="t"/>
          <a:lstStyle/>
          <a:p>
            <a:pPr marL="0" indent="0" algn="l">
              <a:lnSpc>
                <a:spcPts val="3400"/>
              </a:lnSpc>
              <a:buNone/>
            </a:pPr>
            <a:r>
              <a:rPr lang="en-US" sz="2700">
                <a:solidFill>
                  <a:srgbClr val="152D47"/>
                </a:solidFill>
                <a:latin typeface="Crimson Pro Semi Bold" pitchFamily="34" charset="0"/>
                <a:ea typeface="Crimson Pro Semi Bold" pitchFamily="34" charset="-122"/>
                <a:cs typeface="Crimson Pro Semi Bold" pitchFamily="34" charset="-120"/>
              </a:rPr>
              <a:t>Anatomy of a Cancellation: Root Cause Distribution</a:t>
            </a:r>
            <a:endParaRPr lang="en-US" sz="2700"/>
          </a:p>
        </p:txBody>
      </p:sp>
      <p:sp>
        <p:nvSpPr>
          <p:cNvPr id="3" name="Text 1"/>
          <p:cNvSpPr/>
          <p:nvPr/>
        </p:nvSpPr>
        <p:spPr>
          <a:xfrm>
            <a:off x="3217426" y="2315885"/>
            <a:ext cx="1713905" cy="348258"/>
          </a:xfrm>
          <a:prstGeom prst="rect">
            <a:avLst/>
          </a:prstGeom>
          <a:noFill/>
        </p:spPr>
        <p:txBody>
          <a:bodyPr wrap="none" lIns="0" tIns="0" rIns="0" bIns="0" rtlCol="0" anchor="t"/>
          <a:lstStyle/>
          <a:p>
            <a:pPr marL="0" indent="0" algn="ctr">
              <a:lnSpc>
                <a:spcPts val="2700"/>
              </a:lnSpc>
              <a:buNone/>
            </a:pPr>
            <a:r>
              <a:rPr lang="en-US" sz="2700">
                <a:solidFill>
                  <a:srgbClr val="4C4C4D"/>
                </a:solidFill>
                <a:latin typeface="Crimson Pro Semi Bold" pitchFamily="34" charset="0"/>
                <a:ea typeface="Crimson Pro Semi Bold" pitchFamily="34" charset="-122"/>
                <a:cs typeface="Crimson Pro Semi Bold" pitchFamily="34" charset="-120"/>
              </a:rPr>
              <a:t>32%</a:t>
            </a:r>
            <a:endParaRPr lang="en-US" sz="2700"/>
          </a:p>
        </p:txBody>
      </p:sp>
      <p:pic>
        <p:nvPicPr>
          <p:cNvPr id="4" name="Image 0" descr="preencoded.png"/>
          <p:cNvPicPr>
            <a:picLocks noChangeAspect="1"/>
          </p:cNvPicPr>
          <p:nvPr/>
        </p:nvPicPr>
        <p:blipFill>
          <a:blip r:embed="rId3"/>
          <a:stretch>
            <a:fillRect/>
          </a:stretch>
        </p:blipFill>
        <p:spPr>
          <a:xfrm>
            <a:off x="3029426" y="1445062"/>
            <a:ext cx="2090142" cy="2090142"/>
          </a:xfrm>
          <a:prstGeom prst="rect">
            <a:avLst/>
          </a:prstGeom>
        </p:spPr>
      </p:pic>
      <p:sp>
        <p:nvSpPr>
          <p:cNvPr id="5" name="Text 2"/>
          <p:cNvSpPr/>
          <p:nvPr/>
        </p:nvSpPr>
        <p:spPr>
          <a:xfrm>
            <a:off x="3203615" y="3655576"/>
            <a:ext cx="1741765" cy="217646"/>
          </a:xfrm>
          <a:prstGeom prst="rect">
            <a:avLst/>
          </a:prstGeom>
          <a:noFill/>
        </p:spPr>
        <p:txBody>
          <a:bodyPr wrap="none" lIns="0" tIns="0" rIns="0" bIns="0" rtlCol="0" anchor="t"/>
          <a:lstStyle/>
          <a:p>
            <a:pPr marL="0" indent="0" algn="ctr">
              <a:lnSpc>
                <a:spcPts val="1700"/>
              </a:lnSpc>
              <a:buNone/>
            </a:pPr>
            <a:r>
              <a:rPr lang="en-US" sz="1350">
                <a:solidFill>
                  <a:srgbClr val="4C4C4D"/>
                </a:solidFill>
                <a:latin typeface="Crimson Pro Semi Bold" pitchFamily="34" charset="0"/>
                <a:ea typeface="Crimson Pro Semi Bold" pitchFamily="34" charset="-122"/>
                <a:cs typeface="Crimson Pro Semi Bold" pitchFamily="34" charset="-120"/>
              </a:rPr>
              <a:t>Carrier Equipment</a:t>
            </a:r>
            <a:endParaRPr lang="en-US" sz="1350"/>
          </a:p>
        </p:txBody>
      </p:sp>
      <p:sp>
        <p:nvSpPr>
          <p:cNvPr id="6" name="Text 3"/>
          <p:cNvSpPr/>
          <p:nvPr/>
        </p:nvSpPr>
        <p:spPr>
          <a:xfrm>
            <a:off x="2507694" y="3924538"/>
            <a:ext cx="3133725" cy="179903"/>
          </a:xfrm>
          <a:prstGeom prst="rect">
            <a:avLst/>
          </a:prstGeom>
          <a:noFill/>
        </p:spPr>
        <p:txBody>
          <a:bodyPr wrap="none" lIns="0" tIns="0" rIns="0" bIns="0" rtlCol="0" anchor="t"/>
          <a:lstStyle/>
          <a:p>
            <a:pPr marL="0" indent="0" algn="ctr">
              <a:lnSpc>
                <a:spcPts val="1400"/>
              </a:lnSpc>
              <a:buNone/>
            </a:pPr>
            <a:r>
              <a:rPr lang="en-US" sz="1050">
                <a:solidFill>
                  <a:srgbClr val="4C4C4D"/>
                </a:solidFill>
                <a:latin typeface="Heebo" pitchFamily="34" charset="0"/>
                <a:ea typeface="Heebo" pitchFamily="34" charset="-122"/>
                <a:cs typeface="Heebo" pitchFamily="34" charset="-120"/>
              </a:rPr>
              <a:t>Aircraft maintenance and mechanical issues</a:t>
            </a:r>
            <a:endParaRPr lang="en-US" sz="1050"/>
          </a:p>
        </p:txBody>
      </p:sp>
      <p:sp>
        <p:nvSpPr>
          <p:cNvPr id="7" name="Text 4"/>
          <p:cNvSpPr/>
          <p:nvPr/>
        </p:nvSpPr>
        <p:spPr>
          <a:xfrm>
            <a:off x="6458069" y="2315885"/>
            <a:ext cx="1713905" cy="348258"/>
          </a:xfrm>
          <a:prstGeom prst="rect">
            <a:avLst/>
          </a:prstGeom>
          <a:noFill/>
        </p:spPr>
        <p:txBody>
          <a:bodyPr wrap="none" lIns="0" tIns="0" rIns="0" bIns="0" rtlCol="0" anchor="t"/>
          <a:lstStyle/>
          <a:p>
            <a:pPr marL="0" indent="0" algn="ctr">
              <a:lnSpc>
                <a:spcPts val="2700"/>
              </a:lnSpc>
              <a:buNone/>
            </a:pPr>
            <a:r>
              <a:rPr lang="en-US" sz="2700">
                <a:solidFill>
                  <a:srgbClr val="4C4C4D"/>
                </a:solidFill>
                <a:latin typeface="Crimson Pro Semi Bold" pitchFamily="34" charset="0"/>
                <a:ea typeface="Crimson Pro Semi Bold" pitchFamily="34" charset="-122"/>
                <a:cs typeface="Crimson Pro Semi Bold" pitchFamily="34" charset="-120"/>
              </a:rPr>
              <a:t>28%</a:t>
            </a:r>
            <a:endParaRPr lang="en-US" sz="2700"/>
          </a:p>
        </p:txBody>
      </p:sp>
      <p:pic>
        <p:nvPicPr>
          <p:cNvPr id="8" name="Image 1" descr="preencoded.png"/>
          <p:cNvPicPr>
            <a:picLocks noChangeAspect="1"/>
          </p:cNvPicPr>
          <p:nvPr/>
        </p:nvPicPr>
        <p:blipFill>
          <a:blip r:embed="rId4"/>
          <a:stretch>
            <a:fillRect/>
          </a:stretch>
        </p:blipFill>
        <p:spPr>
          <a:xfrm>
            <a:off x="6270069" y="1445062"/>
            <a:ext cx="2090142" cy="2090142"/>
          </a:xfrm>
          <a:prstGeom prst="rect">
            <a:avLst/>
          </a:prstGeom>
        </p:spPr>
      </p:pic>
      <p:sp>
        <p:nvSpPr>
          <p:cNvPr id="9" name="Text 5"/>
          <p:cNvSpPr/>
          <p:nvPr/>
        </p:nvSpPr>
        <p:spPr>
          <a:xfrm>
            <a:off x="6444258" y="3655576"/>
            <a:ext cx="1741765" cy="217646"/>
          </a:xfrm>
          <a:prstGeom prst="rect">
            <a:avLst/>
          </a:prstGeom>
          <a:noFill/>
        </p:spPr>
        <p:txBody>
          <a:bodyPr wrap="none" lIns="0" tIns="0" rIns="0" bIns="0" rtlCol="0" anchor="t"/>
          <a:lstStyle/>
          <a:p>
            <a:pPr marL="0" indent="0" algn="ctr">
              <a:lnSpc>
                <a:spcPts val="1700"/>
              </a:lnSpc>
              <a:buNone/>
            </a:pPr>
            <a:r>
              <a:rPr lang="en-US" sz="1350">
                <a:solidFill>
                  <a:srgbClr val="4C4C4D"/>
                </a:solidFill>
                <a:latin typeface="Crimson Pro Semi Bold" pitchFamily="34" charset="0"/>
                <a:ea typeface="Crimson Pro Semi Bold" pitchFamily="34" charset="-122"/>
                <a:cs typeface="Crimson Pro Semi Bold" pitchFamily="34" charset="-120"/>
              </a:rPr>
              <a:t>Weather Events</a:t>
            </a:r>
            <a:endParaRPr lang="en-US" sz="1350"/>
          </a:p>
        </p:txBody>
      </p:sp>
      <p:sp>
        <p:nvSpPr>
          <p:cNvPr id="10" name="Text 6"/>
          <p:cNvSpPr/>
          <p:nvPr/>
        </p:nvSpPr>
        <p:spPr>
          <a:xfrm>
            <a:off x="5748338" y="3924538"/>
            <a:ext cx="3133725" cy="179903"/>
          </a:xfrm>
          <a:prstGeom prst="rect">
            <a:avLst/>
          </a:prstGeom>
          <a:noFill/>
        </p:spPr>
        <p:txBody>
          <a:bodyPr wrap="none" lIns="0" tIns="0" rIns="0" bIns="0" rtlCol="0" anchor="t"/>
          <a:lstStyle/>
          <a:p>
            <a:pPr marL="0" indent="0" algn="ctr">
              <a:lnSpc>
                <a:spcPts val="1400"/>
              </a:lnSpc>
              <a:buNone/>
            </a:pPr>
            <a:r>
              <a:rPr lang="en-US" sz="1050">
                <a:solidFill>
                  <a:srgbClr val="4C4C4D"/>
                </a:solidFill>
                <a:latin typeface="Heebo" pitchFamily="34" charset="0"/>
                <a:ea typeface="Heebo" pitchFamily="34" charset="-122"/>
                <a:cs typeface="Heebo" pitchFamily="34" charset="-120"/>
              </a:rPr>
              <a:t>Airport closures and severe conditions</a:t>
            </a:r>
            <a:endParaRPr lang="en-US" sz="1050"/>
          </a:p>
        </p:txBody>
      </p:sp>
      <p:sp>
        <p:nvSpPr>
          <p:cNvPr id="11" name="Text 7"/>
          <p:cNvSpPr/>
          <p:nvPr/>
        </p:nvSpPr>
        <p:spPr>
          <a:xfrm>
            <a:off x="9698712" y="2315885"/>
            <a:ext cx="1713905" cy="348258"/>
          </a:xfrm>
          <a:prstGeom prst="rect">
            <a:avLst/>
          </a:prstGeom>
          <a:noFill/>
        </p:spPr>
        <p:txBody>
          <a:bodyPr wrap="none" lIns="0" tIns="0" rIns="0" bIns="0" rtlCol="0" anchor="t"/>
          <a:lstStyle/>
          <a:p>
            <a:pPr marL="0" indent="0" algn="ctr">
              <a:lnSpc>
                <a:spcPts val="2700"/>
              </a:lnSpc>
              <a:buNone/>
            </a:pPr>
            <a:r>
              <a:rPr lang="en-US" sz="2700">
                <a:solidFill>
                  <a:srgbClr val="4C4C4D"/>
                </a:solidFill>
                <a:latin typeface="Crimson Pro Semi Bold" pitchFamily="34" charset="0"/>
                <a:ea typeface="Crimson Pro Semi Bold" pitchFamily="34" charset="-122"/>
                <a:cs typeface="Crimson Pro Semi Bold" pitchFamily="34" charset="-120"/>
              </a:rPr>
              <a:t>22%</a:t>
            </a:r>
            <a:endParaRPr lang="en-US" sz="2700"/>
          </a:p>
        </p:txBody>
      </p:sp>
      <p:pic>
        <p:nvPicPr>
          <p:cNvPr id="12" name="Image 2" descr="preencoded.png"/>
          <p:cNvPicPr>
            <a:picLocks noChangeAspect="1"/>
          </p:cNvPicPr>
          <p:nvPr/>
        </p:nvPicPr>
        <p:blipFill>
          <a:blip r:embed="rId5"/>
          <a:stretch>
            <a:fillRect/>
          </a:stretch>
        </p:blipFill>
        <p:spPr>
          <a:xfrm>
            <a:off x="9510713" y="1445062"/>
            <a:ext cx="2090142" cy="2090142"/>
          </a:xfrm>
          <a:prstGeom prst="rect">
            <a:avLst/>
          </a:prstGeom>
        </p:spPr>
      </p:pic>
      <p:sp>
        <p:nvSpPr>
          <p:cNvPr id="13" name="Text 8"/>
          <p:cNvSpPr/>
          <p:nvPr/>
        </p:nvSpPr>
        <p:spPr>
          <a:xfrm>
            <a:off x="9684901" y="3655576"/>
            <a:ext cx="1741765" cy="217646"/>
          </a:xfrm>
          <a:prstGeom prst="rect">
            <a:avLst/>
          </a:prstGeom>
          <a:noFill/>
        </p:spPr>
        <p:txBody>
          <a:bodyPr wrap="none" lIns="0" tIns="0" rIns="0" bIns="0" rtlCol="0" anchor="t"/>
          <a:lstStyle/>
          <a:p>
            <a:pPr marL="0" indent="0" algn="ctr">
              <a:lnSpc>
                <a:spcPts val="1700"/>
              </a:lnSpc>
              <a:buNone/>
            </a:pPr>
            <a:r>
              <a:rPr lang="en-US" sz="1350">
                <a:solidFill>
                  <a:srgbClr val="4C4C4D"/>
                </a:solidFill>
                <a:latin typeface="Crimson Pro Semi Bold" pitchFamily="34" charset="0"/>
                <a:ea typeface="Crimson Pro Semi Bold" pitchFamily="34" charset="-122"/>
                <a:cs typeface="Crimson Pro Semi Bold" pitchFamily="34" charset="-120"/>
              </a:rPr>
              <a:t>NAS System</a:t>
            </a:r>
            <a:endParaRPr lang="en-US" sz="1350"/>
          </a:p>
        </p:txBody>
      </p:sp>
      <p:sp>
        <p:nvSpPr>
          <p:cNvPr id="14" name="Text 9"/>
          <p:cNvSpPr/>
          <p:nvPr/>
        </p:nvSpPr>
        <p:spPr>
          <a:xfrm>
            <a:off x="8988981" y="3924538"/>
            <a:ext cx="3133725" cy="179903"/>
          </a:xfrm>
          <a:prstGeom prst="rect">
            <a:avLst/>
          </a:prstGeom>
          <a:noFill/>
        </p:spPr>
        <p:txBody>
          <a:bodyPr wrap="none" lIns="0" tIns="0" rIns="0" bIns="0" rtlCol="0" anchor="t"/>
          <a:lstStyle/>
          <a:p>
            <a:pPr marL="0" indent="0" algn="ctr">
              <a:lnSpc>
                <a:spcPts val="1400"/>
              </a:lnSpc>
              <a:buNone/>
            </a:pPr>
            <a:r>
              <a:rPr lang="en-US" sz="1050">
                <a:solidFill>
                  <a:srgbClr val="4C4C4D"/>
                </a:solidFill>
                <a:latin typeface="Heebo" pitchFamily="34" charset="0"/>
                <a:ea typeface="Heebo" pitchFamily="34" charset="-122"/>
                <a:cs typeface="Heebo" pitchFamily="34" charset="-120"/>
              </a:rPr>
              <a:t>Air traffic control and system-wide delays</a:t>
            </a:r>
            <a:endParaRPr lang="en-US" sz="1050"/>
          </a:p>
        </p:txBody>
      </p:sp>
      <p:sp>
        <p:nvSpPr>
          <p:cNvPr id="15" name="Text 10"/>
          <p:cNvSpPr/>
          <p:nvPr/>
        </p:nvSpPr>
        <p:spPr>
          <a:xfrm>
            <a:off x="4837748" y="5181243"/>
            <a:ext cx="1713905" cy="348258"/>
          </a:xfrm>
          <a:prstGeom prst="rect">
            <a:avLst/>
          </a:prstGeom>
          <a:noFill/>
        </p:spPr>
        <p:txBody>
          <a:bodyPr wrap="none" lIns="0" tIns="0" rIns="0" bIns="0" rtlCol="0" anchor="t"/>
          <a:lstStyle/>
          <a:p>
            <a:pPr marL="0" indent="0" algn="ctr">
              <a:lnSpc>
                <a:spcPts val="2700"/>
              </a:lnSpc>
              <a:buNone/>
            </a:pPr>
            <a:r>
              <a:rPr lang="en-US" sz="2700">
                <a:solidFill>
                  <a:srgbClr val="4C4C4D"/>
                </a:solidFill>
                <a:latin typeface="Crimson Pro Semi Bold" pitchFamily="34" charset="0"/>
                <a:ea typeface="Crimson Pro Semi Bold" pitchFamily="34" charset="-122"/>
                <a:cs typeface="Crimson Pro Semi Bold" pitchFamily="34" charset="-120"/>
              </a:rPr>
              <a:t>12%</a:t>
            </a:r>
            <a:endParaRPr lang="en-US" sz="2700"/>
          </a:p>
        </p:txBody>
      </p:sp>
      <p:pic>
        <p:nvPicPr>
          <p:cNvPr id="16" name="Image 3" descr="preencoded.png"/>
          <p:cNvPicPr>
            <a:picLocks noChangeAspect="1"/>
          </p:cNvPicPr>
          <p:nvPr/>
        </p:nvPicPr>
        <p:blipFill>
          <a:blip r:embed="rId6"/>
          <a:stretch>
            <a:fillRect/>
          </a:stretch>
        </p:blipFill>
        <p:spPr>
          <a:xfrm>
            <a:off x="4649748" y="4310420"/>
            <a:ext cx="2090142" cy="2090142"/>
          </a:xfrm>
          <a:prstGeom prst="rect">
            <a:avLst/>
          </a:prstGeom>
        </p:spPr>
      </p:pic>
      <p:sp>
        <p:nvSpPr>
          <p:cNvPr id="17" name="Text 11"/>
          <p:cNvSpPr/>
          <p:nvPr/>
        </p:nvSpPr>
        <p:spPr>
          <a:xfrm>
            <a:off x="4823936" y="6520934"/>
            <a:ext cx="1741765" cy="217646"/>
          </a:xfrm>
          <a:prstGeom prst="rect">
            <a:avLst/>
          </a:prstGeom>
          <a:noFill/>
        </p:spPr>
        <p:txBody>
          <a:bodyPr wrap="none" lIns="0" tIns="0" rIns="0" bIns="0" rtlCol="0" anchor="t"/>
          <a:lstStyle/>
          <a:p>
            <a:pPr marL="0" indent="0" algn="ctr">
              <a:lnSpc>
                <a:spcPts val="1700"/>
              </a:lnSpc>
              <a:buNone/>
            </a:pPr>
            <a:r>
              <a:rPr lang="en-US" sz="1350">
                <a:solidFill>
                  <a:srgbClr val="4C4C4D"/>
                </a:solidFill>
                <a:latin typeface="Crimson Pro Semi Bold" pitchFamily="34" charset="0"/>
                <a:ea typeface="Crimson Pro Semi Bold" pitchFamily="34" charset="-122"/>
                <a:cs typeface="Crimson Pro Semi Bold" pitchFamily="34" charset="-120"/>
              </a:rPr>
              <a:t>Security</a:t>
            </a:r>
            <a:endParaRPr lang="en-US" sz="1350"/>
          </a:p>
        </p:txBody>
      </p:sp>
      <p:sp>
        <p:nvSpPr>
          <p:cNvPr id="18" name="Text 12"/>
          <p:cNvSpPr/>
          <p:nvPr/>
        </p:nvSpPr>
        <p:spPr>
          <a:xfrm>
            <a:off x="4128016" y="6789896"/>
            <a:ext cx="3133725" cy="179903"/>
          </a:xfrm>
          <a:prstGeom prst="rect">
            <a:avLst/>
          </a:prstGeom>
          <a:noFill/>
        </p:spPr>
        <p:txBody>
          <a:bodyPr wrap="none" lIns="0" tIns="0" rIns="0" bIns="0" rtlCol="0" anchor="t"/>
          <a:lstStyle/>
          <a:p>
            <a:pPr marL="0" indent="0" algn="ctr">
              <a:lnSpc>
                <a:spcPts val="1400"/>
              </a:lnSpc>
              <a:buNone/>
            </a:pPr>
            <a:r>
              <a:rPr lang="en-US" sz="1050">
                <a:solidFill>
                  <a:srgbClr val="4C4C4D"/>
                </a:solidFill>
                <a:latin typeface="Heebo" pitchFamily="34" charset="0"/>
                <a:ea typeface="Heebo" pitchFamily="34" charset="-122"/>
                <a:cs typeface="Heebo" pitchFamily="34" charset="-120"/>
              </a:rPr>
              <a:t>Screening and safety protocol delays</a:t>
            </a:r>
            <a:endParaRPr lang="en-US" sz="1050"/>
          </a:p>
        </p:txBody>
      </p:sp>
      <p:sp>
        <p:nvSpPr>
          <p:cNvPr id="19" name="Text 13"/>
          <p:cNvSpPr/>
          <p:nvPr/>
        </p:nvSpPr>
        <p:spPr>
          <a:xfrm>
            <a:off x="8078391" y="5181243"/>
            <a:ext cx="1713905" cy="348258"/>
          </a:xfrm>
          <a:prstGeom prst="rect">
            <a:avLst/>
          </a:prstGeom>
          <a:noFill/>
        </p:spPr>
        <p:txBody>
          <a:bodyPr wrap="none" lIns="0" tIns="0" rIns="0" bIns="0" rtlCol="0" anchor="t"/>
          <a:lstStyle/>
          <a:p>
            <a:pPr marL="0" indent="0" algn="ctr">
              <a:lnSpc>
                <a:spcPts val="2700"/>
              </a:lnSpc>
              <a:buNone/>
            </a:pPr>
            <a:r>
              <a:rPr lang="en-US" sz="2700">
                <a:solidFill>
                  <a:srgbClr val="4C4C4D"/>
                </a:solidFill>
                <a:latin typeface="Crimson Pro Semi Bold" pitchFamily="34" charset="0"/>
                <a:ea typeface="Crimson Pro Semi Bold" pitchFamily="34" charset="-122"/>
                <a:cs typeface="Crimson Pro Semi Bold" pitchFamily="34" charset="-120"/>
              </a:rPr>
              <a:t>6%</a:t>
            </a:r>
            <a:endParaRPr lang="en-US" sz="2700"/>
          </a:p>
        </p:txBody>
      </p:sp>
      <p:pic>
        <p:nvPicPr>
          <p:cNvPr id="20" name="Image 4" descr="preencoded.png"/>
          <p:cNvPicPr>
            <a:picLocks noChangeAspect="1"/>
          </p:cNvPicPr>
          <p:nvPr/>
        </p:nvPicPr>
        <p:blipFill>
          <a:blip r:embed="rId7"/>
          <a:stretch>
            <a:fillRect/>
          </a:stretch>
        </p:blipFill>
        <p:spPr>
          <a:xfrm>
            <a:off x="7890391" y="4310420"/>
            <a:ext cx="2090142" cy="2090142"/>
          </a:xfrm>
          <a:prstGeom prst="rect">
            <a:avLst/>
          </a:prstGeom>
        </p:spPr>
      </p:pic>
      <p:sp>
        <p:nvSpPr>
          <p:cNvPr id="21" name="Text 14"/>
          <p:cNvSpPr/>
          <p:nvPr/>
        </p:nvSpPr>
        <p:spPr>
          <a:xfrm>
            <a:off x="8064579" y="6520934"/>
            <a:ext cx="1741765" cy="217646"/>
          </a:xfrm>
          <a:prstGeom prst="rect">
            <a:avLst/>
          </a:prstGeom>
          <a:noFill/>
        </p:spPr>
        <p:txBody>
          <a:bodyPr wrap="none" lIns="0" tIns="0" rIns="0" bIns="0" rtlCol="0" anchor="t"/>
          <a:lstStyle/>
          <a:p>
            <a:pPr marL="0" indent="0" algn="ctr">
              <a:lnSpc>
                <a:spcPts val="1700"/>
              </a:lnSpc>
              <a:buNone/>
            </a:pPr>
            <a:r>
              <a:rPr lang="en-US" sz="1350">
                <a:solidFill>
                  <a:srgbClr val="4C4C4D"/>
                </a:solidFill>
                <a:latin typeface="Crimson Pro Semi Bold" pitchFamily="34" charset="0"/>
                <a:ea typeface="Crimson Pro Semi Bold" pitchFamily="34" charset="-122"/>
                <a:cs typeface="Crimson Pro Semi Bold" pitchFamily="34" charset="-120"/>
              </a:rPr>
              <a:t>Other Factors</a:t>
            </a:r>
            <a:endParaRPr lang="en-US" sz="1350"/>
          </a:p>
        </p:txBody>
      </p:sp>
      <p:sp>
        <p:nvSpPr>
          <p:cNvPr id="22" name="Text 15"/>
          <p:cNvSpPr/>
          <p:nvPr/>
        </p:nvSpPr>
        <p:spPr>
          <a:xfrm>
            <a:off x="7368659" y="6789896"/>
            <a:ext cx="3133725" cy="179903"/>
          </a:xfrm>
          <a:prstGeom prst="rect">
            <a:avLst/>
          </a:prstGeom>
          <a:noFill/>
        </p:spPr>
        <p:txBody>
          <a:bodyPr wrap="none" lIns="0" tIns="0" rIns="0" bIns="0" rtlCol="0" anchor="t"/>
          <a:lstStyle/>
          <a:p>
            <a:pPr marL="0" indent="0" algn="ctr">
              <a:lnSpc>
                <a:spcPts val="1400"/>
              </a:lnSpc>
              <a:buNone/>
            </a:pPr>
            <a:r>
              <a:rPr lang="en-US" sz="1050">
                <a:solidFill>
                  <a:srgbClr val="4C4C4D"/>
                </a:solidFill>
                <a:latin typeface="Heebo" pitchFamily="34" charset="0"/>
                <a:ea typeface="Heebo" pitchFamily="34" charset="-122"/>
                <a:cs typeface="Heebo" pitchFamily="34" charset="-120"/>
              </a:rPr>
              <a:t>Passenger, crew, and operational issues</a:t>
            </a:r>
            <a:endParaRPr lang="en-US" sz="1050"/>
          </a:p>
        </p:txBody>
      </p:sp>
      <p:sp>
        <p:nvSpPr>
          <p:cNvPr id="23" name="Text 16"/>
          <p:cNvSpPr/>
          <p:nvPr/>
        </p:nvSpPr>
        <p:spPr>
          <a:xfrm>
            <a:off x="2507694" y="7066002"/>
            <a:ext cx="9615011" cy="359807"/>
          </a:xfrm>
          <a:prstGeom prst="rect">
            <a:avLst/>
          </a:prstGeom>
          <a:noFill/>
        </p:spPr>
        <p:txBody>
          <a:bodyPr wrap="square" lIns="0" tIns="0" rIns="0" bIns="0" rtlCol="0" anchor="t"/>
          <a:lstStyle/>
          <a:p>
            <a:pPr marL="0" indent="0" algn="l">
              <a:lnSpc>
                <a:spcPts val="1400"/>
              </a:lnSpc>
              <a:buNone/>
            </a:pPr>
            <a:r>
              <a:rPr lang="en-US" sz="1050">
                <a:solidFill>
                  <a:srgbClr val="4C4C4D"/>
                </a:solidFill>
                <a:latin typeface="Heebo" pitchFamily="34" charset="0"/>
                <a:ea typeface="Heebo" pitchFamily="34" charset="-122"/>
                <a:cs typeface="Heebo" pitchFamily="34" charset="-120"/>
              </a:rPr>
              <a:t>Carrier equipment and weather represent nearly 60% of cancellation causes, providing clear focus areas for operational improvements and contingency planning.</a:t>
            </a:r>
            <a:endParaRPr lang="en-US" sz="1050"/>
          </a:p>
        </p:txBody>
      </p:sp>
      <p:sp>
        <p:nvSpPr>
          <p:cNvPr id="24" name="Rectangle 23">
            <a:extLst>
              <a:ext uri="{FF2B5EF4-FFF2-40B4-BE49-F238E27FC236}">
                <a16:creationId xmlns:a16="http://schemas.microsoft.com/office/drawing/2014/main" id="{2D214ABC-30B2-C035-961B-3312E03361AD}"/>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8658" y="679966"/>
            <a:ext cx="7274004" cy="614958"/>
          </a:xfrm>
          <a:prstGeom prst="rect">
            <a:avLst/>
          </a:prstGeom>
          <a:noFill/>
        </p:spPr>
        <p:txBody>
          <a:bodyPr wrap="none" lIns="0" tIns="0" rIns="0" bIns="0" rtlCol="0" anchor="t"/>
          <a:lstStyle/>
          <a:p>
            <a:pPr marL="0" indent="0" algn="l">
              <a:lnSpc>
                <a:spcPts val="4800"/>
              </a:lnSpc>
              <a:buNone/>
            </a:pPr>
            <a:r>
              <a:rPr lang="en-US" sz="3850">
                <a:solidFill>
                  <a:srgbClr val="152D47"/>
                </a:solidFill>
                <a:latin typeface="Crimson Pro Semi Bold" pitchFamily="34" charset="0"/>
                <a:ea typeface="Crimson Pro Semi Bold" pitchFamily="34" charset="-122"/>
                <a:cs typeface="Crimson Pro Semi Bold" pitchFamily="34" charset="-120"/>
              </a:rPr>
              <a:t>Seasonal Impact: The Winter Factor</a:t>
            </a:r>
            <a:endParaRPr lang="en-US" sz="3850"/>
          </a:p>
        </p:txBody>
      </p:sp>
      <p:sp>
        <p:nvSpPr>
          <p:cNvPr id="3" name="Shape 1"/>
          <p:cNvSpPr/>
          <p:nvPr/>
        </p:nvSpPr>
        <p:spPr>
          <a:xfrm>
            <a:off x="688658" y="3421023"/>
            <a:ext cx="13253086" cy="22860"/>
          </a:xfrm>
          <a:prstGeom prst="roundRect">
            <a:avLst>
              <a:gd name="adj" fmla="val 129112"/>
            </a:avLst>
          </a:prstGeom>
          <a:solidFill>
            <a:srgbClr val="D8D4D4"/>
          </a:solidFill>
        </p:spPr>
        <p:txBody>
          <a:bodyPr/>
          <a:lstStyle/>
          <a:p>
            <a:endParaRPr/>
          </a:p>
        </p:txBody>
      </p:sp>
      <p:sp>
        <p:nvSpPr>
          <p:cNvPr id="4" name="Shape 2"/>
          <p:cNvSpPr/>
          <p:nvPr/>
        </p:nvSpPr>
        <p:spPr>
          <a:xfrm>
            <a:off x="3263741" y="2830830"/>
            <a:ext cx="22860" cy="590193"/>
          </a:xfrm>
          <a:prstGeom prst="roundRect">
            <a:avLst>
              <a:gd name="adj" fmla="val 129112"/>
            </a:avLst>
          </a:prstGeom>
          <a:solidFill>
            <a:srgbClr val="D8D4D4"/>
          </a:solidFill>
        </p:spPr>
        <p:txBody>
          <a:bodyPr/>
          <a:lstStyle/>
          <a:p>
            <a:endParaRPr/>
          </a:p>
        </p:txBody>
      </p:sp>
      <p:sp>
        <p:nvSpPr>
          <p:cNvPr id="5" name="Shape 3"/>
          <p:cNvSpPr/>
          <p:nvPr/>
        </p:nvSpPr>
        <p:spPr>
          <a:xfrm>
            <a:off x="3053834" y="3199686"/>
            <a:ext cx="442674" cy="442674"/>
          </a:xfrm>
          <a:prstGeom prst="roundRect">
            <a:avLst>
              <a:gd name="adj" fmla="val 6667"/>
            </a:avLst>
          </a:prstGeom>
          <a:solidFill>
            <a:srgbClr val="F2EEEE"/>
          </a:solidFill>
        </p:spPr>
        <p:txBody>
          <a:bodyPr/>
          <a:lstStyle/>
          <a:p>
            <a:endParaRPr/>
          </a:p>
        </p:txBody>
      </p:sp>
      <p:sp>
        <p:nvSpPr>
          <p:cNvPr id="6" name="Text 4"/>
          <p:cNvSpPr/>
          <p:nvPr/>
        </p:nvSpPr>
        <p:spPr>
          <a:xfrm>
            <a:off x="3127653" y="3236595"/>
            <a:ext cx="295037" cy="368856"/>
          </a:xfrm>
          <a:prstGeom prst="rect">
            <a:avLst/>
          </a:prstGeom>
          <a:noFill/>
        </p:spPr>
        <p:txBody>
          <a:bodyPr wrap="none" lIns="0" tIns="0" rIns="0" bIns="0" rtlCol="0" anchor="t"/>
          <a:lstStyle/>
          <a:p>
            <a:pPr marL="0" indent="0" algn="ctr">
              <a:lnSpc>
                <a:spcPts val="2300"/>
              </a:lnSpc>
              <a:buNone/>
            </a:pPr>
            <a:r>
              <a:rPr lang="en-US" sz="2300">
                <a:solidFill>
                  <a:srgbClr val="4C4C4D"/>
                </a:solidFill>
                <a:latin typeface="Crimson Pro Semi Bold" pitchFamily="34" charset="0"/>
                <a:ea typeface="Crimson Pro Semi Bold" pitchFamily="34" charset="-122"/>
                <a:cs typeface="Crimson Pro Semi Bold" pitchFamily="34" charset="-120"/>
              </a:rPr>
              <a:t>1</a:t>
            </a:r>
            <a:endParaRPr lang="en-US" sz="2300"/>
          </a:p>
        </p:txBody>
      </p:sp>
      <p:sp>
        <p:nvSpPr>
          <p:cNvPr id="7" name="Text 5"/>
          <p:cNvSpPr/>
          <p:nvPr/>
        </p:nvSpPr>
        <p:spPr>
          <a:xfrm>
            <a:off x="2045494" y="1636276"/>
            <a:ext cx="2459474" cy="307419"/>
          </a:xfrm>
          <a:prstGeom prst="rect">
            <a:avLst/>
          </a:prstGeom>
          <a:noFill/>
        </p:spPr>
        <p:txBody>
          <a:bodyPr wrap="none" lIns="0" tIns="0" rIns="0" bIns="0" rtlCol="0" anchor="t"/>
          <a:lstStyle/>
          <a:p>
            <a:pPr marL="0" indent="0" algn="ctr">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November</a:t>
            </a:r>
            <a:endParaRPr lang="en-US" sz="1900"/>
          </a:p>
        </p:txBody>
      </p:sp>
      <p:sp>
        <p:nvSpPr>
          <p:cNvPr id="8" name="Text 6"/>
          <p:cNvSpPr/>
          <p:nvPr/>
        </p:nvSpPr>
        <p:spPr>
          <a:xfrm>
            <a:off x="885349" y="2046089"/>
            <a:ext cx="4779764" cy="587931"/>
          </a:xfrm>
          <a:prstGeom prst="rect">
            <a:avLst/>
          </a:prstGeom>
          <a:noFill/>
        </p:spPr>
        <p:txBody>
          <a:bodyPr wrap="square" lIns="0" tIns="0" rIns="0" bIns="0" rtlCol="0" anchor="t"/>
          <a:lstStyle/>
          <a:p>
            <a:pPr marL="0" indent="0" algn="ctr">
              <a:lnSpc>
                <a:spcPts val="2300"/>
              </a:lnSpc>
              <a:buNone/>
            </a:pPr>
            <a:r>
              <a:rPr lang="en-US" sz="1500">
                <a:solidFill>
                  <a:srgbClr val="4C4C4D"/>
                </a:solidFill>
                <a:latin typeface="Heebo" pitchFamily="34" charset="0"/>
                <a:ea typeface="Heebo" pitchFamily="34" charset="-122"/>
                <a:cs typeface="Heebo" pitchFamily="34" charset="-120"/>
              </a:rPr>
              <a:t>Initial increase in weather delays as winter systems move in</a:t>
            </a:r>
            <a:endParaRPr lang="en-US" sz="1500"/>
          </a:p>
        </p:txBody>
      </p:sp>
      <p:sp>
        <p:nvSpPr>
          <p:cNvPr id="9" name="Shape 7"/>
          <p:cNvSpPr/>
          <p:nvPr/>
        </p:nvSpPr>
        <p:spPr>
          <a:xfrm>
            <a:off x="5957054" y="3421023"/>
            <a:ext cx="22860" cy="590193"/>
          </a:xfrm>
          <a:prstGeom prst="roundRect">
            <a:avLst>
              <a:gd name="adj" fmla="val 129112"/>
            </a:avLst>
          </a:prstGeom>
          <a:solidFill>
            <a:srgbClr val="D8D4D4"/>
          </a:solidFill>
        </p:spPr>
        <p:txBody>
          <a:bodyPr/>
          <a:lstStyle/>
          <a:p>
            <a:endParaRPr/>
          </a:p>
        </p:txBody>
      </p:sp>
      <p:sp>
        <p:nvSpPr>
          <p:cNvPr id="10" name="Shape 8"/>
          <p:cNvSpPr/>
          <p:nvPr/>
        </p:nvSpPr>
        <p:spPr>
          <a:xfrm>
            <a:off x="5747147" y="3199686"/>
            <a:ext cx="442674" cy="442674"/>
          </a:xfrm>
          <a:prstGeom prst="roundRect">
            <a:avLst>
              <a:gd name="adj" fmla="val 6667"/>
            </a:avLst>
          </a:prstGeom>
          <a:solidFill>
            <a:srgbClr val="F2EEEE"/>
          </a:solidFill>
        </p:spPr>
        <p:txBody>
          <a:bodyPr/>
          <a:lstStyle/>
          <a:p>
            <a:endParaRPr/>
          </a:p>
        </p:txBody>
      </p:sp>
      <p:sp>
        <p:nvSpPr>
          <p:cNvPr id="11" name="Text 9"/>
          <p:cNvSpPr/>
          <p:nvPr/>
        </p:nvSpPr>
        <p:spPr>
          <a:xfrm>
            <a:off x="5820966" y="3236595"/>
            <a:ext cx="295037" cy="368856"/>
          </a:xfrm>
          <a:prstGeom prst="rect">
            <a:avLst/>
          </a:prstGeom>
          <a:noFill/>
        </p:spPr>
        <p:txBody>
          <a:bodyPr wrap="none" lIns="0" tIns="0" rIns="0" bIns="0" rtlCol="0" anchor="t"/>
          <a:lstStyle/>
          <a:p>
            <a:pPr marL="0" indent="0" algn="ctr">
              <a:lnSpc>
                <a:spcPts val="2300"/>
              </a:lnSpc>
              <a:buNone/>
            </a:pPr>
            <a:r>
              <a:rPr lang="en-US" sz="2300">
                <a:solidFill>
                  <a:srgbClr val="4C4C4D"/>
                </a:solidFill>
                <a:latin typeface="Crimson Pro Semi Bold" pitchFamily="34" charset="0"/>
                <a:ea typeface="Crimson Pro Semi Bold" pitchFamily="34" charset="-122"/>
                <a:cs typeface="Crimson Pro Semi Bold" pitchFamily="34" charset="-120"/>
              </a:rPr>
              <a:t>2</a:t>
            </a:r>
            <a:endParaRPr lang="en-US" sz="2300"/>
          </a:p>
        </p:txBody>
      </p:sp>
      <p:sp>
        <p:nvSpPr>
          <p:cNvPr id="12" name="Text 10"/>
          <p:cNvSpPr/>
          <p:nvPr/>
        </p:nvSpPr>
        <p:spPr>
          <a:xfrm>
            <a:off x="4738687" y="4208026"/>
            <a:ext cx="2459474" cy="307419"/>
          </a:xfrm>
          <a:prstGeom prst="rect">
            <a:avLst/>
          </a:prstGeom>
          <a:noFill/>
        </p:spPr>
        <p:txBody>
          <a:bodyPr wrap="none" lIns="0" tIns="0" rIns="0" bIns="0" rtlCol="0" anchor="t"/>
          <a:lstStyle/>
          <a:p>
            <a:pPr marL="0" indent="0" algn="ctr">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December</a:t>
            </a:r>
            <a:endParaRPr lang="en-US" sz="1900"/>
          </a:p>
        </p:txBody>
      </p:sp>
      <p:sp>
        <p:nvSpPr>
          <p:cNvPr id="13" name="Text 11"/>
          <p:cNvSpPr/>
          <p:nvPr/>
        </p:nvSpPr>
        <p:spPr>
          <a:xfrm>
            <a:off x="3578543" y="4617839"/>
            <a:ext cx="4779883" cy="587931"/>
          </a:xfrm>
          <a:prstGeom prst="rect">
            <a:avLst/>
          </a:prstGeom>
          <a:noFill/>
        </p:spPr>
        <p:txBody>
          <a:bodyPr wrap="square" lIns="0" tIns="0" rIns="0" bIns="0" rtlCol="0" anchor="t"/>
          <a:lstStyle/>
          <a:p>
            <a:pPr marL="0" indent="0" algn="ctr">
              <a:lnSpc>
                <a:spcPts val="2300"/>
              </a:lnSpc>
              <a:buNone/>
            </a:pPr>
            <a:r>
              <a:rPr lang="en-US" sz="1500">
                <a:solidFill>
                  <a:srgbClr val="4C4C4D"/>
                </a:solidFill>
                <a:latin typeface="Heebo" pitchFamily="34" charset="0"/>
                <a:ea typeface="Heebo" pitchFamily="34" charset="-122"/>
                <a:cs typeface="Heebo" pitchFamily="34" charset="-120"/>
              </a:rPr>
              <a:t>Peak holiday traffic compounds weather-related disruptions</a:t>
            </a:r>
            <a:endParaRPr lang="en-US" sz="1500"/>
          </a:p>
        </p:txBody>
      </p:sp>
      <p:sp>
        <p:nvSpPr>
          <p:cNvPr id="14" name="Shape 12"/>
          <p:cNvSpPr/>
          <p:nvPr/>
        </p:nvSpPr>
        <p:spPr>
          <a:xfrm>
            <a:off x="8650367" y="2830830"/>
            <a:ext cx="22860" cy="590193"/>
          </a:xfrm>
          <a:prstGeom prst="roundRect">
            <a:avLst>
              <a:gd name="adj" fmla="val 129112"/>
            </a:avLst>
          </a:prstGeom>
          <a:solidFill>
            <a:srgbClr val="D8D4D4"/>
          </a:solidFill>
        </p:spPr>
        <p:txBody>
          <a:bodyPr/>
          <a:lstStyle/>
          <a:p>
            <a:endParaRPr/>
          </a:p>
        </p:txBody>
      </p:sp>
      <p:sp>
        <p:nvSpPr>
          <p:cNvPr id="15" name="Shape 13"/>
          <p:cNvSpPr/>
          <p:nvPr/>
        </p:nvSpPr>
        <p:spPr>
          <a:xfrm>
            <a:off x="8440460" y="3199686"/>
            <a:ext cx="442674" cy="442674"/>
          </a:xfrm>
          <a:prstGeom prst="roundRect">
            <a:avLst>
              <a:gd name="adj" fmla="val 6667"/>
            </a:avLst>
          </a:prstGeom>
          <a:solidFill>
            <a:srgbClr val="F2EEEE"/>
          </a:solidFill>
        </p:spPr>
        <p:txBody>
          <a:bodyPr/>
          <a:lstStyle/>
          <a:p>
            <a:endParaRPr/>
          </a:p>
        </p:txBody>
      </p:sp>
      <p:sp>
        <p:nvSpPr>
          <p:cNvPr id="16" name="Text 14"/>
          <p:cNvSpPr/>
          <p:nvPr/>
        </p:nvSpPr>
        <p:spPr>
          <a:xfrm>
            <a:off x="8514278" y="3236595"/>
            <a:ext cx="295037" cy="368856"/>
          </a:xfrm>
          <a:prstGeom prst="rect">
            <a:avLst/>
          </a:prstGeom>
          <a:noFill/>
        </p:spPr>
        <p:txBody>
          <a:bodyPr wrap="none" lIns="0" tIns="0" rIns="0" bIns="0" rtlCol="0" anchor="t"/>
          <a:lstStyle/>
          <a:p>
            <a:pPr marL="0" indent="0" algn="ctr">
              <a:lnSpc>
                <a:spcPts val="2300"/>
              </a:lnSpc>
              <a:buNone/>
            </a:pPr>
            <a:r>
              <a:rPr lang="en-US" sz="2300">
                <a:solidFill>
                  <a:srgbClr val="4C4C4D"/>
                </a:solidFill>
                <a:latin typeface="Crimson Pro Semi Bold" pitchFamily="34" charset="0"/>
                <a:ea typeface="Crimson Pro Semi Bold" pitchFamily="34" charset="-122"/>
                <a:cs typeface="Crimson Pro Semi Bold" pitchFamily="34" charset="-120"/>
              </a:rPr>
              <a:t>3</a:t>
            </a:r>
            <a:endParaRPr lang="en-US" sz="2300"/>
          </a:p>
        </p:txBody>
      </p:sp>
      <p:sp>
        <p:nvSpPr>
          <p:cNvPr id="17" name="Text 15"/>
          <p:cNvSpPr/>
          <p:nvPr/>
        </p:nvSpPr>
        <p:spPr>
          <a:xfrm>
            <a:off x="7432000" y="1636276"/>
            <a:ext cx="2459474" cy="307419"/>
          </a:xfrm>
          <a:prstGeom prst="rect">
            <a:avLst/>
          </a:prstGeom>
          <a:noFill/>
        </p:spPr>
        <p:txBody>
          <a:bodyPr wrap="none" lIns="0" tIns="0" rIns="0" bIns="0" rtlCol="0" anchor="t"/>
          <a:lstStyle/>
          <a:p>
            <a:pPr marL="0" indent="0" algn="ctr">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January</a:t>
            </a:r>
            <a:endParaRPr lang="en-US" sz="1900"/>
          </a:p>
        </p:txBody>
      </p:sp>
      <p:sp>
        <p:nvSpPr>
          <p:cNvPr id="18" name="Text 16"/>
          <p:cNvSpPr/>
          <p:nvPr/>
        </p:nvSpPr>
        <p:spPr>
          <a:xfrm>
            <a:off x="6271855" y="2046089"/>
            <a:ext cx="4779883" cy="587931"/>
          </a:xfrm>
          <a:prstGeom prst="rect">
            <a:avLst/>
          </a:prstGeom>
          <a:noFill/>
        </p:spPr>
        <p:txBody>
          <a:bodyPr wrap="square" lIns="0" tIns="0" rIns="0" bIns="0" rtlCol="0" anchor="t"/>
          <a:lstStyle/>
          <a:p>
            <a:pPr marL="0" indent="0" algn="ctr">
              <a:lnSpc>
                <a:spcPts val="2300"/>
              </a:lnSpc>
              <a:buNone/>
            </a:pPr>
            <a:r>
              <a:rPr lang="en-US" sz="1500">
                <a:solidFill>
                  <a:srgbClr val="4C4C4D"/>
                </a:solidFill>
                <a:latin typeface="Heebo" pitchFamily="34" charset="0"/>
                <a:ea typeface="Heebo" pitchFamily="34" charset="-122"/>
                <a:cs typeface="Heebo" pitchFamily="34" charset="-120"/>
              </a:rPr>
              <a:t>Operational resilience tested with maximum weather impact</a:t>
            </a:r>
            <a:endParaRPr lang="en-US" sz="1500"/>
          </a:p>
        </p:txBody>
      </p:sp>
      <p:sp>
        <p:nvSpPr>
          <p:cNvPr id="19" name="Shape 17"/>
          <p:cNvSpPr/>
          <p:nvPr/>
        </p:nvSpPr>
        <p:spPr>
          <a:xfrm>
            <a:off x="11343680" y="3421023"/>
            <a:ext cx="22860" cy="590193"/>
          </a:xfrm>
          <a:prstGeom prst="roundRect">
            <a:avLst>
              <a:gd name="adj" fmla="val 129112"/>
            </a:avLst>
          </a:prstGeom>
          <a:solidFill>
            <a:srgbClr val="D8D4D4"/>
          </a:solidFill>
        </p:spPr>
        <p:txBody>
          <a:bodyPr/>
          <a:lstStyle/>
          <a:p>
            <a:endParaRPr/>
          </a:p>
        </p:txBody>
      </p:sp>
      <p:sp>
        <p:nvSpPr>
          <p:cNvPr id="20" name="Shape 18"/>
          <p:cNvSpPr/>
          <p:nvPr/>
        </p:nvSpPr>
        <p:spPr>
          <a:xfrm>
            <a:off x="11133773" y="3199686"/>
            <a:ext cx="442674" cy="442674"/>
          </a:xfrm>
          <a:prstGeom prst="roundRect">
            <a:avLst>
              <a:gd name="adj" fmla="val 6667"/>
            </a:avLst>
          </a:prstGeom>
          <a:solidFill>
            <a:srgbClr val="F2EEEE"/>
          </a:solidFill>
        </p:spPr>
        <p:txBody>
          <a:bodyPr/>
          <a:lstStyle/>
          <a:p>
            <a:endParaRPr/>
          </a:p>
        </p:txBody>
      </p:sp>
      <p:sp>
        <p:nvSpPr>
          <p:cNvPr id="21" name="Text 19"/>
          <p:cNvSpPr/>
          <p:nvPr/>
        </p:nvSpPr>
        <p:spPr>
          <a:xfrm>
            <a:off x="11207591" y="3236595"/>
            <a:ext cx="295037" cy="368856"/>
          </a:xfrm>
          <a:prstGeom prst="rect">
            <a:avLst/>
          </a:prstGeom>
          <a:noFill/>
        </p:spPr>
        <p:txBody>
          <a:bodyPr wrap="none" lIns="0" tIns="0" rIns="0" bIns="0" rtlCol="0" anchor="t"/>
          <a:lstStyle/>
          <a:p>
            <a:pPr marL="0" indent="0" algn="ctr">
              <a:lnSpc>
                <a:spcPts val="2300"/>
              </a:lnSpc>
              <a:buNone/>
            </a:pPr>
            <a:r>
              <a:rPr lang="en-US" sz="2300">
                <a:solidFill>
                  <a:srgbClr val="4C4C4D"/>
                </a:solidFill>
                <a:latin typeface="Crimson Pro Semi Bold" pitchFamily="34" charset="0"/>
                <a:ea typeface="Crimson Pro Semi Bold" pitchFamily="34" charset="-122"/>
                <a:cs typeface="Crimson Pro Semi Bold" pitchFamily="34" charset="-120"/>
              </a:rPr>
              <a:t>4</a:t>
            </a:r>
            <a:endParaRPr lang="en-US" sz="2300"/>
          </a:p>
        </p:txBody>
      </p:sp>
      <p:sp>
        <p:nvSpPr>
          <p:cNvPr id="22" name="Text 20"/>
          <p:cNvSpPr/>
          <p:nvPr/>
        </p:nvSpPr>
        <p:spPr>
          <a:xfrm>
            <a:off x="10125313" y="4208026"/>
            <a:ext cx="2459474" cy="307419"/>
          </a:xfrm>
          <a:prstGeom prst="rect">
            <a:avLst/>
          </a:prstGeom>
          <a:noFill/>
        </p:spPr>
        <p:txBody>
          <a:bodyPr wrap="none" lIns="0" tIns="0" rIns="0" bIns="0" rtlCol="0" anchor="t"/>
          <a:lstStyle/>
          <a:p>
            <a:pPr marL="0" indent="0" algn="ctr">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February</a:t>
            </a:r>
            <a:endParaRPr lang="en-US" sz="1900"/>
          </a:p>
        </p:txBody>
      </p:sp>
      <p:sp>
        <p:nvSpPr>
          <p:cNvPr id="23" name="Text 21"/>
          <p:cNvSpPr/>
          <p:nvPr/>
        </p:nvSpPr>
        <p:spPr>
          <a:xfrm>
            <a:off x="8965168" y="4617839"/>
            <a:ext cx="4779883" cy="293965"/>
          </a:xfrm>
          <a:prstGeom prst="rect">
            <a:avLst/>
          </a:prstGeom>
          <a:noFill/>
        </p:spPr>
        <p:txBody>
          <a:bodyPr wrap="none" lIns="0" tIns="0" rIns="0" bIns="0" rtlCol="0" anchor="t"/>
          <a:lstStyle/>
          <a:p>
            <a:pPr marL="0" indent="0" algn="ctr">
              <a:lnSpc>
                <a:spcPts val="2300"/>
              </a:lnSpc>
              <a:buNone/>
            </a:pPr>
            <a:r>
              <a:rPr lang="en-US" sz="1500">
                <a:solidFill>
                  <a:srgbClr val="4C4C4D"/>
                </a:solidFill>
                <a:latin typeface="Heebo" pitchFamily="34" charset="0"/>
                <a:ea typeface="Heebo" pitchFamily="34" charset="-122"/>
                <a:cs typeface="Heebo" pitchFamily="34" charset="-120"/>
              </a:rPr>
              <a:t>Gradual improvement as winter conditions moderate</a:t>
            </a:r>
            <a:endParaRPr lang="en-US" sz="1500"/>
          </a:p>
        </p:txBody>
      </p:sp>
      <p:sp>
        <p:nvSpPr>
          <p:cNvPr id="24" name="Shape 22"/>
          <p:cNvSpPr/>
          <p:nvPr/>
        </p:nvSpPr>
        <p:spPr>
          <a:xfrm>
            <a:off x="688658" y="5397698"/>
            <a:ext cx="4303871" cy="2151936"/>
          </a:xfrm>
          <a:prstGeom prst="roundRect">
            <a:avLst>
              <a:gd name="adj" fmla="val 1372"/>
            </a:avLst>
          </a:prstGeom>
          <a:solidFill>
            <a:srgbClr val="F2EEEE"/>
          </a:solidFill>
        </p:spPr>
        <p:txBody>
          <a:bodyPr/>
          <a:lstStyle/>
          <a:p>
            <a:endParaRPr/>
          </a:p>
        </p:txBody>
      </p:sp>
      <p:sp>
        <p:nvSpPr>
          <p:cNvPr id="25" name="Shape 23"/>
          <p:cNvSpPr/>
          <p:nvPr/>
        </p:nvSpPr>
        <p:spPr>
          <a:xfrm>
            <a:off x="885349" y="5594390"/>
            <a:ext cx="590193" cy="590193"/>
          </a:xfrm>
          <a:prstGeom prst="roundRect">
            <a:avLst>
              <a:gd name="adj" fmla="val 15491688"/>
            </a:avLst>
          </a:prstGeom>
          <a:solidFill>
            <a:srgbClr val="2150FE"/>
          </a:solidFill>
        </p:spPr>
        <p:txBody>
          <a:bodyPr/>
          <a:lstStyle/>
          <a:p>
            <a:endParaRPr/>
          </a:p>
        </p:txBody>
      </p:sp>
      <p:pic>
        <p:nvPicPr>
          <p:cNvPr id="2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631" y="5756553"/>
            <a:ext cx="265628" cy="265628"/>
          </a:xfrm>
          <a:prstGeom prst="rect">
            <a:avLst/>
          </a:prstGeom>
        </p:spPr>
      </p:pic>
      <p:sp>
        <p:nvSpPr>
          <p:cNvPr id="27" name="Text 24"/>
          <p:cNvSpPr/>
          <p:nvPr/>
        </p:nvSpPr>
        <p:spPr>
          <a:xfrm>
            <a:off x="885349" y="6355199"/>
            <a:ext cx="2459474" cy="307419"/>
          </a:xfrm>
          <a:prstGeom prst="rect">
            <a:avLst/>
          </a:prstGeom>
          <a:noFill/>
        </p:spPr>
        <p:txBody>
          <a:bodyPr wrap="none" lIns="0" tIns="0" rIns="0" bIns="0" rtlCol="0" anchor="t"/>
          <a:lstStyle/>
          <a:p>
            <a:pPr marL="0" indent="0" algn="l">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Dec/Jan Peak</a:t>
            </a:r>
            <a:endParaRPr lang="en-US" sz="1900"/>
          </a:p>
        </p:txBody>
      </p:sp>
      <p:sp>
        <p:nvSpPr>
          <p:cNvPr id="28" name="Text 25"/>
          <p:cNvSpPr/>
          <p:nvPr/>
        </p:nvSpPr>
        <p:spPr>
          <a:xfrm>
            <a:off x="885349" y="6765012"/>
            <a:ext cx="3910489" cy="587931"/>
          </a:xfrm>
          <a:prstGeom prst="rect">
            <a:avLst/>
          </a:prstGeom>
          <a:noFill/>
        </p:spPr>
        <p:txBody>
          <a:bodyPr wrap="square" lIns="0" tIns="0" rIns="0" bIns="0" rtlCol="0" anchor="t"/>
          <a:lstStyle/>
          <a:p>
            <a:pPr marL="0" indent="0" algn="l">
              <a:lnSpc>
                <a:spcPts val="2300"/>
              </a:lnSpc>
              <a:buNone/>
            </a:pPr>
            <a:r>
              <a:rPr lang="en-US" sz="1500">
                <a:solidFill>
                  <a:srgbClr val="4C4C4D"/>
                </a:solidFill>
                <a:latin typeface="Heebo" pitchFamily="34" charset="0"/>
                <a:ea typeface="Heebo" pitchFamily="34" charset="-122"/>
                <a:cs typeface="Heebo" pitchFamily="34" charset="-120"/>
              </a:rPr>
              <a:t>Highest volume of weather-related delays testing operational resilience</a:t>
            </a:r>
            <a:endParaRPr lang="en-US" sz="1500"/>
          </a:p>
        </p:txBody>
      </p:sp>
      <p:sp>
        <p:nvSpPr>
          <p:cNvPr id="29" name="Shape 26"/>
          <p:cNvSpPr/>
          <p:nvPr/>
        </p:nvSpPr>
        <p:spPr>
          <a:xfrm>
            <a:off x="5163145" y="5397698"/>
            <a:ext cx="4303990" cy="2151936"/>
          </a:xfrm>
          <a:prstGeom prst="roundRect">
            <a:avLst>
              <a:gd name="adj" fmla="val 1372"/>
            </a:avLst>
          </a:prstGeom>
          <a:solidFill>
            <a:srgbClr val="F2EEEE"/>
          </a:solidFill>
        </p:spPr>
        <p:txBody>
          <a:bodyPr/>
          <a:lstStyle/>
          <a:p>
            <a:endParaRPr/>
          </a:p>
        </p:txBody>
      </p:sp>
      <p:sp>
        <p:nvSpPr>
          <p:cNvPr id="30" name="Shape 27"/>
          <p:cNvSpPr/>
          <p:nvPr/>
        </p:nvSpPr>
        <p:spPr>
          <a:xfrm>
            <a:off x="5359837" y="5594390"/>
            <a:ext cx="590193" cy="590193"/>
          </a:xfrm>
          <a:prstGeom prst="roundRect">
            <a:avLst>
              <a:gd name="adj" fmla="val 15491688"/>
            </a:avLst>
          </a:prstGeom>
          <a:solidFill>
            <a:srgbClr val="2150FE"/>
          </a:solidFill>
        </p:spPr>
        <p:txBody>
          <a:bodyPr/>
          <a:lstStyle/>
          <a:p>
            <a:endParaRPr/>
          </a:p>
        </p:txBody>
      </p:sp>
      <p:pic>
        <p:nvPicPr>
          <p:cNvPr id="3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22119" y="5756553"/>
            <a:ext cx="265628" cy="265628"/>
          </a:xfrm>
          <a:prstGeom prst="rect">
            <a:avLst/>
          </a:prstGeom>
        </p:spPr>
      </p:pic>
      <p:sp>
        <p:nvSpPr>
          <p:cNvPr id="32" name="Text 28"/>
          <p:cNvSpPr/>
          <p:nvPr/>
        </p:nvSpPr>
        <p:spPr>
          <a:xfrm>
            <a:off x="5359837" y="6355199"/>
            <a:ext cx="2459474" cy="307419"/>
          </a:xfrm>
          <a:prstGeom prst="rect">
            <a:avLst/>
          </a:prstGeom>
          <a:noFill/>
        </p:spPr>
        <p:txBody>
          <a:bodyPr wrap="none" lIns="0" tIns="0" rIns="0" bIns="0" rtlCol="0" anchor="t"/>
          <a:lstStyle/>
          <a:p>
            <a:pPr marL="0" indent="0" algn="l">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Temperature Effects</a:t>
            </a:r>
            <a:endParaRPr lang="en-US" sz="1900"/>
          </a:p>
        </p:txBody>
      </p:sp>
      <p:sp>
        <p:nvSpPr>
          <p:cNvPr id="33" name="Text 29"/>
          <p:cNvSpPr/>
          <p:nvPr/>
        </p:nvSpPr>
        <p:spPr>
          <a:xfrm>
            <a:off x="5359837" y="6765012"/>
            <a:ext cx="3910608" cy="587931"/>
          </a:xfrm>
          <a:prstGeom prst="rect">
            <a:avLst/>
          </a:prstGeom>
          <a:noFill/>
        </p:spPr>
        <p:txBody>
          <a:bodyPr wrap="square" lIns="0" tIns="0" rIns="0" bIns="0" rtlCol="0" anchor="t"/>
          <a:lstStyle/>
          <a:p>
            <a:pPr marL="0" indent="0" algn="l">
              <a:lnSpc>
                <a:spcPts val="2300"/>
              </a:lnSpc>
              <a:buNone/>
            </a:pPr>
            <a:r>
              <a:rPr lang="en-US" sz="1500">
                <a:solidFill>
                  <a:srgbClr val="4C4C4D"/>
                </a:solidFill>
                <a:latin typeface="Heebo" pitchFamily="34" charset="0"/>
                <a:ea typeface="Heebo" pitchFamily="34" charset="-122"/>
                <a:cs typeface="Heebo" pitchFamily="34" charset="-120"/>
              </a:rPr>
              <a:t>Extreme cold impacts aircraft performance and ground operations</a:t>
            </a:r>
            <a:endParaRPr lang="en-US" sz="1500"/>
          </a:p>
        </p:txBody>
      </p:sp>
      <p:sp>
        <p:nvSpPr>
          <p:cNvPr id="34" name="Shape 30"/>
          <p:cNvSpPr/>
          <p:nvPr/>
        </p:nvSpPr>
        <p:spPr>
          <a:xfrm>
            <a:off x="9637752" y="5397698"/>
            <a:ext cx="4303990" cy="2151936"/>
          </a:xfrm>
          <a:prstGeom prst="roundRect">
            <a:avLst>
              <a:gd name="adj" fmla="val 1372"/>
            </a:avLst>
          </a:prstGeom>
          <a:solidFill>
            <a:srgbClr val="F2EEEE"/>
          </a:solidFill>
        </p:spPr>
        <p:txBody>
          <a:bodyPr/>
          <a:lstStyle/>
          <a:p>
            <a:endParaRPr/>
          </a:p>
        </p:txBody>
      </p:sp>
      <p:sp>
        <p:nvSpPr>
          <p:cNvPr id="35" name="Shape 31"/>
          <p:cNvSpPr/>
          <p:nvPr/>
        </p:nvSpPr>
        <p:spPr>
          <a:xfrm>
            <a:off x="9834443" y="5594390"/>
            <a:ext cx="590193" cy="590193"/>
          </a:xfrm>
          <a:prstGeom prst="roundRect">
            <a:avLst>
              <a:gd name="adj" fmla="val 15491688"/>
            </a:avLst>
          </a:prstGeom>
          <a:solidFill>
            <a:srgbClr val="2150FE"/>
          </a:solidFill>
        </p:spPr>
        <p:txBody>
          <a:bodyPr/>
          <a:lstStyle/>
          <a:p>
            <a:endParaRPr/>
          </a:p>
        </p:txBody>
      </p:sp>
      <p:pic>
        <p:nvPicPr>
          <p:cNvPr id="3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96726" y="5756553"/>
            <a:ext cx="265628" cy="265628"/>
          </a:xfrm>
          <a:prstGeom prst="rect">
            <a:avLst/>
          </a:prstGeom>
        </p:spPr>
      </p:pic>
      <p:sp>
        <p:nvSpPr>
          <p:cNvPr id="37" name="Text 32"/>
          <p:cNvSpPr/>
          <p:nvPr/>
        </p:nvSpPr>
        <p:spPr>
          <a:xfrm>
            <a:off x="9834443" y="6355199"/>
            <a:ext cx="2459474" cy="307419"/>
          </a:xfrm>
          <a:prstGeom prst="rect">
            <a:avLst/>
          </a:prstGeom>
          <a:noFill/>
        </p:spPr>
        <p:txBody>
          <a:bodyPr wrap="none" lIns="0" tIns="0" rIns="0" bIns="0" rtlCol="0" anchor="t"/>
          <a:lstStyle/>
          <a:p>
            <a:pPr marL="0" indent="0" algn="l">
              <a:lnSpc>
                <a:spcPts val="2400"/>
              </a:lnSpc>
              <a:buNone/>
            </a:pPr>
            <a:r>
              <a:rPr lang="en-US" sz="1900">
                <a:solidFill>
                  <a:srgbClr val="4C4C4D"/>
                </a:solidFill>
                <a:latin typeface="Crimson Pro Semi Bold" pitchFamily="34" charset="0"/>
                <a:ea typeface="Crimson Pro Semi Bold" pitchFamily="34" charset="-122"/>
                <a:cs typeface="Crimson Pro Semi Bold" pitchFamily="34" charset="-120"/>
              </a:rPr>
              <a:t>Holiday Demand</a:t>
            </a:r>
            <a:endParaRPr lang="en-US" sz="1900"/>
          </a:p>
        </p:txBody>
      </p:sp>
      <p:sp>
        <p:nvSpPr>
          <p:cNvPr id="38" name="Text 33"/>
          <p:cNvSpPr/>
          <p:nvPr/>
        </p:nvSpPr>
        <p:spPr>
          <a:xfrm>
            <a:off x="9834443" y="6765012"/>
            <a:ext cx="3910608" cy="587931"/>
          </a:xfrm>
          <a:prstGeom prst="rect">
            <a:avLst/>
          </a:prstGeom>
          <a:noFill/>
        </p:spPr>
        <p:txBody>
          <a:bodyPr wrap="square" lIns="0" tIns="0" rIns="0" bIns="0" rtlCol="0" anchor="t"/>
          <a:lstStyle/>
          <a:p>
            <a:pPr marL="0" indent="0" algn="l">
              <a:lnSpc>
                <a:spcPts val="2300"/>
              </a:lnSpc>
              <a:buNone/>
            </a:pPr>
            <a:r>
              <a:rPr lang="en-US" sz="1500">
                <a:solidFill>
                  <a:srgbClr val="4C4C4D"/>
                </a:solidFill>
                <a:latin typeface="Heebo" pitchFamily="34" charset="0"/>
                <a:ea typeface="Heebo" pitchFamily="34" charset="-122"/>
                <a:cs typeface="Heebo" pitchFamily="34" charset="-120"/>
              </a:rPr>
              <a:t>Peak travel periods amplify disruption impact on passengers</a:t>
            </a:r>
            <a:endParaRPr lang="en-US" sz="1500"/>
          </a:p>
        </p:txBody>
      </p:sp>
      <p:sp>
        <p:nvSpPr>
          <p:cNvPr id="39" name="Rectangle 38">
            <a:extLst>
              <a:ext uri="{FF2B5EF4-FFF2-40B4-BE49-F238E27FC236}">
                <a16:creationId xmlns:a16="http://schemas.microsoft.com/office/drawing/2014/main" id="{DADEA49B-6B58-4CB4-4EE6-708EAF0185C4}"/>
              </a:ext>
            </a:extLst>
          </p:cNvPr>
          <p:cNvSpPr/>
          <p:nvPr/>
        </p:nvSpPr>
        <p:spPr>
          <a:xfrm>
            <a:off x="12427768" y="7715200"/>
            <a:ext cx="2129987" cy="44239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352086"/>
            <a:ext cx="9537263"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Milestone 4: Final Synthesis &amp; Reporting</a:t>
            </a:r>
            <a:endParaRPr lang="en-US" sz="4450"/>
          </a:p>
        </p:txBody>
      </p:sp>
      <p:sp>
        <p:nvSpPr>
          <p:cNvPr id="3" name="Text 1"/>
          <p:cNvSpPr/>
          <p:nvPr/>
        </p:nvSpPr>
        <p:spPr>
          <a:xfrm>
            <a:off x="793790" y="4514493"/>
            <a:ext cx="13042821"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Transforming raw data into actionable insights through comprehensive analysis and stakeholder recommendations</a:t>
            </a:r>
            <a:endParaRPr lang="en-US" sz="1750"/>
          </a:p>
        </p:txBody>
      </p:sp>
      <p:sp>
        <p:nvSpPr>
          <p:cNvPr id="4" name="Rectangle 3">
            <a:extLst>
              <a:ext uri="{FF2B5EF4-FFF2-40B4-BE49-F238E27FC236}">
                <a16:creationId xmlns:a16="http://schemas.microsoft.com/office/drawing/2014/main" id="{FE10E81B-08B0-F962-9307-34F5EFF3E73B}"/>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646640"/>
            <a:ext cx="5601653"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Turning Numbers into a Story</a:t>
            </a:r>
            <a:endParaRPr lang="en-US" sz="3550"/>
          </a:p>
        </p:txBody>
      </p:sp>
      <p:sp>
        <p:nvSpPr>
          <p:cNvPr id="3" name="Text 1"/>
          <p:cNvSpPr/>
          <p:nvPr/>
        </p:nvSpPr>
        <p:spPr>
          <a:xfrm>
            <a:off x="793790" y="3667244"/>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01</a:t>
            </a:r>
            <a:endParaRPr lang="en-US" sz="1750"/>
          </a:p>
        </p:txBody>
      </p:sp>
      <p:sp>
        <p:nvSpPr>
          <p:cNvPr id="4" name="Shape 2"/>
          <p:cNvSpPr/>
          <p:nvPr/>
        </p:nvSpPr>
        <p:spPr>
          <a:xfrm>
            <a:off x="793790" y="4022288"/>
            <a:ext cx="4196358" cy="30480"/>
          </a:xfrm>
          <a:prstGeom prst="rect">
            <a:avLst/>
          </a:prstGeom>
          <a:solidFill>
            <a:srgbClr val="2150FE"/>
          </a:solidFill>
        </p:spPr>
        <p:txBody>
          <a:bodyPr/>
          <a:lstStyle/>
          <a:p>
            <a:endParaRPr/>
          </a:p>
        </p:txBody>
      </p:sp>
      <p:sp>
        <p:nvSpPr>
          <p:cNvPr id="5" name="Text 3"/>
          <p:cNvSpPr/>
          <p:nvPr/>
        </p:nvSpPr>
        <p:spPr>
          <a:xfrm>
            <a:off x="793790" y="4196596"/>
            <a:ext cx="2861667"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Comprehensive Analysis</a:t>
            </a:r>
            <a:endParaRPr lang="en-US" sz="2200"/>
          </a:p>
        </p:txBody>
      </p:sp>
      <p:sp>
        <p:nvSpPr>
          <p:cNvPr id="6" name="Text 4"/>
          <p:cNvSpPr/>
          <p:nvPr/>
        </p:nvSpPr>
        <p:spPr>
          <a:xfrm>
            <a:off x="793790" y="4687014"/>
            <a:ext cx="4196358"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Reviewed 1.6 million flight records across all major U.S. carriers and airports</a:t>
            </a:r>
            <a:endParaRPr lang="en-US" sz="1750"/>
          </a:p>
        </p:txBody>
      </p:sp>
      <p:sp>
        <p:nvSpPr>
          <p:cNvPr id="7" name="Text 5"/>
          <p:cNvSpPr/>
          <p:nvPr/>
        </p:nvSpPr>
        <p:spPr>
          <a:xfrm>
            <a:off x="5216962" y="3667244"/>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02</a:t>
            </a:r>
            <a:endParaRPr lang="en-US" sz="1750"/>
          </a:p>
        </p:txBody>
      </p:sp>
      <p:sp>
        <p:nvSpPr>
          <p:cNvPr id="8" name="Shape 6"/>
          <p:cNvSpPr/>
          <p:nvPr/>
        </p:nvSpPr>
        <p:spPr>
          <a:xfrm>
            <a:off x="5216962" y="4022288"/>
            <a:ext cx="4196358" cy="30480"/>
          </a:xfrm>
          <a:prstGeom prst="rect">
            <a:avLst/>
          </a:prstGeom>
          <a:solidFill>
            <a:srgbClr val="2150FE"/>
          </a:solidFill>
        </p:spPr>
        <p:txBody>
          <a:bodyPr/>
          <a:lstStyle/>
          <a:p>
            <a:endParaRPr/>
          </a:p>
        </p:txBody>
      </p:sp>
      <p:sp>
        <p:nvSpPr>
          <p:cNvPr id="9" name="Text 7"/>
          <p:cNvSpPr/>
          <p:nvPr/>
        </p:nvSpPr>
        <p:spPr>
          <a:xfrm>
            <a:off x="5216962" y="4196596"/>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Key Findings</a:t>
            </a:r>
            <a:endParaRPr lang="en-US" sz="2200"/>
          </a:p>
        </p:txBody>
      </p:sp>
      <p:sp>
        <p:nvSpPr>
          <p:cNvPr id="10" name="Text 8"/>
          <p:cNvSpPr/>
          <p:nvPr/>
        </p:nvSpPr>
        <p:spPr>
          <a:xfrm>
            <a:off x="5216962" y="4687014"/>
            <a:ext cx="4196358"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Identified patterns in delays, cancellations, and on-time performance</a:t>
            </a:r>
            <a:endParaRPr lang="en-US" sz="1750"/>
          </a:p>
        </p:txBody>
      </p:sp>
      <p:sp>
        <p:nvSpPr>
          <p:cNvPr id="11" name="Text 9"/>
          <p:cNvSpPr/>
          <p:nvPr/>
        </p:nvSpPr>
        <p:spPr>
          <a:xfrm>
            <a:off x="9640133" y="3667244"/>
            <a:ext cx="226814" cy="283488"/>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Crimson Pro Light" pitchFamily="34" charset="0"/>
                <a:ea typeface="Crimson Pro Light" pitchFamily="34" charset="-122"/>
                <a:cs typeface="Crimson Pro Light" pitchFamily="34" charset="-120"/>
              </a:rPr>
              <a:t>03</a:t>
            </a:r>
            <a:endParaRPr lang="en-US" sz="1750"/>
          </a:p>
        </p:txBody>
      </p:sp>
      <p:sp>
        <p:nvSpPr>
          <p:cNvPr id="12" name="Shape 10"/>
          <p:cNvSpPr/>
          <p:nvPr/>
        </p:nvSpPr>
        <p:spPr>
          <a:xfrm>
            <a:off x="9640133" y="4022288"/>
            <a:ext cx="4196358" cy="30480"/>
          </a:xfrm>
          <a:prstGeom prst="rect">
            <a:avLst/>
          </a:prstGeom>
          <a:solidFill>
            <a:srgbClr val="2150FE"/>
          </a:solidFill>
        </p:spPr>
        <p:txBody>
          <a:bodyPr/>
          <a:lstStyle/>
          <a:p>
            <a:endParaRPr/>
          </a:p>
        </p:txBody>
      </p:sp>
      <p:sp>
        <p:nvSpPr>
          <p:cNvPr id="13" name="Text 11"/>
          <p:cNvSpPr/>
          <p:nvPr/>
        </p:nvSpPr>
        <p:spPr>
          <a:xfrm>
            <a:off x="9640133" y="4196596"/>
            <a:ext cx="2955250"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Strategic Documentation</a:t>
            </a:r>
            <a:endParaRPr lang="en-US" sz="2200"/>
          </a:p>
        </p:txBody>
      </p:sp>
      <p:sp>
        <p:nvSpPr>
          <p:cNvPr id="14" name="Text 12"/>
          <p:cNvSpPr/>
          <p:nvPr/>
        </p:nvSpPr>
        <p:spPr>
          <a:xfrm>
            <a:off x="9640133" y="4687014"/>
            <a:ext cx="4196358"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Created executive summaries and technical reports for all stakeholders</a:t>
            </a:r>
            <a:endParaRPr lang="en-US" sz="1750"/>
          </a:p>
        </p:txBody>
      </p:sp>
      <p:sp>
        <p:nvSpPr>
          <p:cNvPr id="15" name="Rectangle 14">
            <a:extLst>
              <a:ext uri="{FF2B5EF4-FFF2-40B4-BE49-F238E27FC236}">
                <a16:creationId xmlns:a16="http://schemas.microsoft.com/office/drawing/2014/main" id="{1218E281-372F-3B5C-B0C7-39B22D182E79}"/>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14788"/>
            <a:ext cx="5304473"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Performance KPI Dashboard</a:t>
            </a:r>
            <a:endParaRPr lang="en-US" sz="3550"/>
          </a:p>
        </p:txBody>
      </p:sp>
      <p:sp>
        <p:nvSpPr>
          <p:cNvPr id="3" name="Text 1"/>
          <p:cNvSpPr/>
          <p:nvPr/>
        </p:nvSpPr>
        <p:spPr>
          <a:xfrm>
            <a:off x="793790" y="3248739"/>
            <a:ext cx="4158615" cy="748427"/>
          </a:xfrm>
          <a:prstGeom prst="rect">
            <a:avLst/>
          </a:prstGeom>
          <a:noFill/>
        </p:spPr>
        <p:txBody>
          <a:bodyPr wrap="none" lIns="0" tIns="0" rIns="0" bIns="0" rtlCol="0" anchor="t"/>
          <a:lstStyle/>
          <a:p>
            <a:pPr marL="0" indent="0" algn="ctr">
              <a:lnSpc>
                <a:spcPts val="5850"/>
              </a:lnSpc>
              <a:buNone/>
            </a:pPr>
            <a:r>
              <a:rPr lang="en-US" sz="5850">
                <a:solidFill>
                  <a:srgbClr val="4C4C4D"/>
                </a:solidFill>
                <a:latin typeface="Crimson Pro Semi Bold" pitchFamily="34" charset="0"/>
                <a:ea typeface="Crimson Pro Semi Bold" pitchFamily="34" charset="-122"/>
                <a:cs typeface="Crimson Pro Semi Bold" pitchFamily="34" charset="-120"/>
              </a:rPr>
              <a:t>78.4%</a:t>
            </a:r>
            <a:endParaRPr lang="en-US" sz="5850"/>
          </a:p>
        </p:txBody>
      </p:sp>
      <p:sp>
        <p:nvSpPr>
          <p:cNvPr id="4" name="Text 2"/>
          <p:cNvSpPr/>
          <p:nvPr/>
        </p:nvSpPr>
        <p:spPr>
          <a:xfrm>
            <a:off x="1184553" y="4280535"/>
            <a:ext cx="3376970" cy="354330"/>
          </a:xfrm>
          <a:prstGeom prst="rect">
            <a:avLst/>
          </a:prstGeom>
          <a:noFill/>
        </p:spPr>
        <p:txBody>
          <a:bodyPr wrap="none" lIns="0" tIns="0" rIns="0" bIns="0" rtlCol="0" anchor="t"/>
          <a:lstStyle/>
          <a:p>
            <a:pPr marL="0" indent="0" algn="ctr">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Average On-Time Percentage</a:t>
            </a:r>
            <a:endParaRPr lang="en-US" sz="2200"/>
          </a:p>
        </p:txBody>
      </p:sp>
      <p:sp>
        <p:nvSpPr>
          <p:cNvPr id="5" name="Text 3"/>
          <p:cNvSpPr/>
          <p:nvPr/>
        </p:nvSpPr>
        <p:spPr>
          <a:xfrm>
            <a:off x="793790" y="4770953"/>
            <a:ext cx="4158615" cy="725805"/>
          </a:xfrm>
          <a:prstGeom prst="rect">
            <a:avLst/>
          </a:prstGeom>
          <a:noFill/>
        </p:spPr>
        <p:txBody>
          <a:bodyPr wrap="square" lIns="0" tIns="0" rIns="0" bIns="0" rtlCol="0" anchor="t"/>
          <a:lstStyle/>
          <a:p>
            <a:pPr marL="0" indent="0" algn="ctr">
              <a:lnSpc>
                <a:spcPts val="2850"/>
              </a:lnSpc>
              <a:buNone/>
            </a:pPr>
            <a:r>
              <a:rPr lang="en-US" sz="1750">
                <a:solidFill>
                  <a:srgbClr val="4C4C4D"/>
                </a:solidFill>
                <a:latin typeface="Heebo" pitchFamily="34" charset="0"/>
                <a:ea typeface="Heebo" pitchFamily="34" charset="-122"/>
                <a:cs typeface="Heebo" pitchFamily="34" charset="-120"/>
              </a:rPr>
              <a:t>Across all flights analyzed in the study period</a:t>
            </a:r>
            <a:endParaRPr lang="en-US" sz="1750"/>
          </a:p>
        </p:txBody>
      </p:sp>
      <p:sp>
        <p:nvSpPr>
          <p:cNvPr id="6" name="Text 4"/>
          <p:cNvSpPr/>
          <p:nvPr/>
        </p:nvSpPr>
        <p:spPr>
          <a:xfrm>
            <a:off x="5235893" y="3248739"/>
            <a:ext cx="4158615" cy="748427"/>
          </a:xfrm>
          <a:prstGeom prst="rect">
            <a:avLst/>
          </a:prstGeom>
          <a:noFill/>
        </p:spPr>
        <p:txBody>
          <a:bodyPr wrap="none" lIns="0" tIns="0" rIns="0" bIns="0" rtlCol="0" anchor="t"/>
          <a:lstStyle/>
          <a:p>
            <a:pPr marL="0" indent="0" algn="ctr">
              <a:lnSpc>
                <a:spcPts val="5850"/>
              </a:lnSpc>
              <a:buNone/>
            </a:pPr>
            <a:r>
              <a:rPr lang="en-US" sz="5850">
                <a:solidFill>
                  <a:srgbClr val="4C4C4D"/>
                </a:solidFill>
                <a:latin typeface="Crimson Pro Semi Bold" pitchFamily="34" charset="0"/>
                <a:ea typeface="Crimson Pro Semi Bold" pitchFamily="34" charset="-122"/>
                <a:cs typeface="Crimson Pro Semi Bold" pitchFamily="34" charset="-120"/>
              </a:rPr>
              <a:t>12.3</a:t>
            </a:r>
            <a:endParaRPr lang="en-US" sz="5850"/>
          </a:p>
        </p:txBody>
      </p:sp>
      <p:sp>
        <p:nvSpPr>
          <p:cNvPr id="7" name="Text 5"/>
          <p:cNvSpPr/>
          <p:nvPr/>
        </p:nvSpPr>
        <p:spPr>
          <a:xfrm>
            <a:off x="5570696" y="4280535"/>
            <a:ext cx="3489008" cy="354330"/>
          </a:xfrm>
          <a:prstGeom prst="rect">
            <a:avLst/>
          </a:prstGeom>
          <a:noFill/>
        </p:spPr>
        <p:txBody>
          <a:bodyPr wrap="none" lIns="0" tIns="0" rIns="0" bIns="0" rtlCol="0" anchor="t"/>
          <a:lstStyle/>
          <a:p>
            <a:pPr marL="0" indent="0" algn="ctr">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Mean Arrival Delay (Minutes)</a:t>
            </a:r>
            <a:endParaRPr lang="en-US" sz="2200"/>
          </a:p>
        </p:txBody>
      </p:sp>
      <p:sp>
        <p:nvSpPr>
          <p:cNvPr id="8" name="Text 6"/>
          <p:cNvSpPr/>
          <p:nvPr/>
        </p:nvSpPr>
        <p:spPr>
          <a:xfrm>
            <a:off x="5235893" y="4770953"/>
            <a:ext cx="4158615" cy="725805"/>
          </a:xfrm>
          <a:prstGeom prst="rect">
            <a:avLst/>
          </a:prstGeom>
          <a:noFill/>
        </p:spPr>
        <p:txBody>
          <a:bodyPr wrap="square" lIns="0" tIns="0" rIns="0" bIns="0" rtlCol="0" anchor="t"/>
          <a:lstStyle/>
          <a:p>
            <a:pPr marL="0" indent="0" algn="ctr">
              <a:lnSpc>
                <a:spcPts val="2850"/>
              </a:lnSpc>
              <a:buNone/>
            </a:pPr>
            <a:r>
              <a:rPr lang="en-US" sz="1750">
                <a:solidFill>
                  <a:srgbClr val="4C4C4D"/>
                </a:solidFill>
                <a:latin typeface="Heebo" pitchFamily="34" charset="0"/>
                <a:ea typeface="Heebo" pitchFamily="34" charset="-122"/>
                <a:cs typeface="Heebo" pitchFamily="34" charset="-120"/>
              </a:rPr>
              <a:t>Average delay time when flights were not on-time</a:t>
            </a:r>
            <a:endParaRPr lang="en-US" sz="1750"/>
          </a:p>
        </p:txBody>
      </p:sp>
      <p:sp>
        <p:nvSpPr>
          <p:cNvPr id="9" name="Text 7"/>
          <p:cNvSpPr/>
          <p:nvPr/>
        </p:nvSpPr>
        <p:spPr>
          <a:xfrm>
            <a:off x="9677995" y="3248739"/>
            <a:ext cx="4158615" cy="748427"/>
          </a:xfrm>
          <a:prstGeom prst="rect">
            <a:avLst/>
          </a:prstGeom>
          <a:noFill/>
        </p:spPr>
        <p:txBody>
          <a:bodyPr wrap="none" lIns="0" tIns="0" rIns="0" bIns="0" rtlCol="0" anchor="t"/>
          <a:lstStyle/>
          <a:p>
            <a:pPr marL="0" indent="0" algn="ctr">
              <a:lnSpc>
                <a:spcPts val="5850"/>
              </a:lnSpc>
              <a:buNone/>
            </a:pPr>
            <a:r>
              <a:rPr lang="en-US" sz="5850">
                <a:solidFill>
                  <a:srgbClr val="4C4C4D"/>
                </a:solidFill>
                <a:latin typeface="Crimson Pro Semi Bold" pitchFamily="34" charset="0"/>
                <a:ea typeface="Crimson Pro Semi Bold" pitchFamily="34" charset="-122"/>
                <a:cs typeface="Crimson Pro Semi Bold" pitchFamily="34" charset="-120"/>
              </a:rPr>
              <a:t>85.6%</a:t>
            </a:r>
            <a:endParaRPr lang="en-US" sz="5850"/>
          </a:p>
        </p:txBody>
      </p:sp>
      <p:sp>
        <p:nvSpPr>
          <p:cNvPr id="10" name="Text 8"/>
          <p:cNvSpPr/>
          <p:nvPr/>
        </p:nvSpPr>
        <p:spPr>
          <a:xfrm>
            <a:off x="10339626" y="4280535"/>
            <a:ext cx="2835235" cy="354330"/>
          </a:xfrm>
          <a:prstGeom prst="rect">
            <a:avLst/>
          </a:prstGeom>
          <a:noFill/>
        </p:spPr>
        <p:txBody>
          <a:bodyPr wrap="none" lIns="0" tIns="0" rIns="0" bIns="0" rtlCol="0" anchor="t"/>
          <a:lstStyle/>
          <a:p>
            <a:pPr marL="0" indent="0" algn="ctr">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Most Reliable Airline</a:t>
            </a:r>
            <a:endParaRPr lang="en-US" sz="2200"/>
          </a:p>
        </p:txBody>
      </p:sp>
      <p:sp>
        <p:nvSpPr>
          <p:cNvPr id="11" name="Text 9"/>
          <p:cNvSpPr/>
          <p:nvPr/>
        </p:nvSpPr>
        <p:spPr>
          <a:xfrm>
            <a:off x="9677995" y="4770953"/>
            <a:ext cx="4158615" cy="725805"/>
          </a:xfrm>
          <a:prstGeom prst="rect">
            <a:avLst/>
          </a:prstGeom>
          <a:noFill/>
        </p:spPr>
        <p:txBody>
          <a:bodyPr wrap="square" lIns="0" tIns="0" rIns="0" bIns="0" rtlCol="0" anchor="t"/>
          <a:lstStyle/>
          <a:p>
            <a:pPr marL="0" indent="0" algn="ctr">
              <a:lnSpc>
                <a:spcPts val="2850"/>
              </a:lnSpc>
              <a:buNone/>
            </a:pPr>
            <a:r>
              <a:rPr lang="en-US" sz="1750">
                <a:solidFill>
                  <a:srgbClr val="4C4C4D"/>
                </a:solidFill>
                <a:latin typeface="Heebo" pitchFamily="34" charset="0"/>
                <a:ea typeface="Heebo" pitchFamily="34" charset="-122"/>
                <a:cs typeface="Heebo" pitchFamily="34" charset="-120"/>
              </a:rPr>
              <a:t>Southwest Airlines achieved highest on-time rate</a:t>
            </a:r>
            <a:endParaRPr lang="en-US" sz="1750"/>
          </a:p>
        </p:txBody>
      </p:sp>
      <p:sp>
        <p:nvSpPr>
          <p:cNvPr id="12" name="Text 10"/>
          <p:cNvSpPr/>
          <p:nvPr/>
        </p:nvSpPr>
        <p:spPr>
          <a:xfrm>
            <a:off x="793790" y="5751909"/>
            <a:ext cx="13042821"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These metrics provide a clear benchmark for airline performance and identify opportunities for operational improvement.</a:t>
            </a:r>
            <a:endParaRPr lang="en-US" sz="1750"/>
          </a:p>
        </p:txBody>
      </p:sp>
      <p:sp>
        <p:nvSpPr>
          <p:cNvPr id="13" name="Rectangle 12">
            <a:extLst>
              <a:ext uri="{FF2B5EF4-FFF2-40B4-BE49-F238E27FC236}">
                <a16:creationId xmlns:a16="http://schemas.microsoft.com/office/drawing/2014/main" id="{FCF95F22-C81F-816E-0EDB-D33BF0EC3D29}"/>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952982"/>
            <a:ext cx="5877520"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Stakeholder Recommendations</a:t>
            </a:r>
            <a:endParaRPr lang="en-US" sz="3550"/>
          </a:p>
        </p:txBody>
      </p:sp>
      <p:sp>
        <p:nvSpPr>
          <p:cNvPr id="3" name="Shape 1"/>
          <p:cNvSpPr/>
          <p:nvPr/>
        </p:nvSpPr>
        <p:spPr>
          <a:xfrm>
            <a:off x="793790" y="2973586"/>
            <a:ext cx="4196358" cy="3302913"/>
          </a:xfrm>
          <a:prstGeom prst="roundRect">
            <a:avLst>
              <a:gd name="adj" fmla="val 1030"/>
            </a:avLst>
          </a:prstGeom>
          <a:solidFill>
            <a:srgbClr val="F2EEEE"/>
          </a:solidFill>
        </p:spPr>
        <p:txBody>
          <a:bodyPr/>
          <a:lstStyle/>
          <a:p>
            <a:endParaRPr/>
          </a:p>
        </p:txBody>
      </p:sp>
      <p:sp>
        <p:nvSpPr>
          <p:cNvPr id="4" name="Shape 2"/>
          <p:cNvSpPr/>
          <p:nvPr/>
        </p:nvSpPr>
        <p:spPr>
          <a:xfrm>
            <a:off x="1020604" y="3200400"/>
            <a:ext cx="680442" cy="680442"/>
          </a:xfrm>
          <a:prstGeom prst="roundRect">
            <a:avLst>
              <a:gd name="adj" fmla="val 13436980"/>
            </a:avLst>
          </a:prstGeom>
          <a:solidFill>
            <a:srgbClr val="2150FE"/>
          </a:solidFill>
        </p:spPr>
        <p:txBody>
          <a:bodyPr/>
          <a:lstStyle/>
          <a:p>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770" y="3387447"/>
            <a:ext cx="306110" cy="306110"/>
          </a:xfrm>
          <a:prstGeom prst="rect">
            <a:avLst/>
          </a:prstGeom>
        </p:spPr>
      </p:pic>
      <p:sp>
        <p:nvSpPr>
          <p:cNvPr id="6" name="Text 3"/>
          <p:cNvSpPr/>
          <p:nvPr/>
        </p:nvSpPr>
        <p:spPr>
          <a:xfrm>
            <a:off x="1020604" y="4107656"/>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Increase Buffer Times</a:t>
            </a:r>
            <a:endParaRPr lang="en-US" sz="2200"/>
          </a:p>
        </p:txBody>
      </p:sp>
      <p:sp>
        <p:nvSpPr>
          <p:cNvPr id="7" name="Text 4"/>
          <p:cNvSpPr/>
          <p:nvPr/>
        </p:nvSpPr>
        <p:spPr>
          <a:xfrm>
            <a:off x="1020604" y="4598075"/>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Airlines should add 15-20 minutes buffer at ORD during winter months to account for weather delays</a:t>
            </a:r>
            <a:endParaRPr lang="en-US" sz="1750"/>
          </a:p>
        </p:txBody>
      </p:sp>
      <p:sp>
        <p:nvSpPr>
          <p:cNvPr id="8" name="Shape 5"/>
          <p:cNvSpPr/>
          <p:nvPr/>
        </p:nvSpPr>
        <p:spPr>
          <a:xfrm>
            <a:off x="5216962" y="2973586"/>
            <a:ext cx="4196358" cy="3302913"/>
          </a:xfrm>
          <a:prstGeom prst="roundRect">
            <a:avLst>
              <a:gd name="adj" fmla="val 1030"/>
            </a:avLst>
          </a:prstGeom>
          <a:solidFill>
            <a:srgbClr val="F2EEEE"/>
          </a:solidFill>
        </p:spPr>
        <p:txBody>
          <a:bodyPr/>
          <a:lstStyle/>
          <a:p>
            <a:endParaRPr/>
          </a:p>
        </p:txBody>
      </p:sp>
      <p:sp>
        <p:nvSpPr>
          <p:cNvPr id="9" name="Shape 6"/>
          <p:cNvSpPr/>
          <p:nvPr/>
        </p:nvSpPr>
        <p:spPr>
          <a:xfrm>
            <a:off x="5443776" y="3200400"/>
            <a:ext cx="680442" cy="680442"/>
          </a:xfrm>
          <a:prstGeom prst="roundRect">
            <a:avLst>
              <a:gd name="adj" fmla="val 13436980"/>
            </a:avLst>
          </a:prstGeom>
          <a:solidFill>
            <a:srgbClr val="2150FE"/>
          </a:solidFill>
        </p:spPr>
        <p:txBody>
          <a:bodyPr/>
          <a:lstStyle/>
          <a:p>
            <a:endParaRPr/>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0942" y="3387447"/>
            <a:ext cx="306110" cy="306110"/>
          </a:xfrm>
          <a:prstGeom prst="rect">
            <a:avLst/>
          </a:prstGeom>
        </p:spPr>
      </p:pic>
      <p:sp>
        <p:nvSpPr>
          <p:cNvPr id="11" name="Text 7"/>
          <p:cNvSpPr/>
          <p:nvPr/>
        </p:nvSpPr>
        <p:spPr>
          <a:xfrm>
            <a:off x="5443776" y="4107656"/>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Optimize Routing</a:t>
            </a:r>
            <a:endParaRPr lang="en-US" sz="2200"/>
          </a:p>
        </p:txBody>
      </p:sp>
      <p:sp>
        <p:nvSpPr>
          <p:cNvPr id="12" name="Text 8"/>
          <p:cNvSpPr/>
          <p:nvPr/>
        </p:nvSpPr>
        <p:spPr>
          <a:xfrm>
            <a:off x="5443776" y="4598075"/>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Reduce connecting flights through congested hubs during peak hours to minimize cascade effects</a:t>
            </a:r>
            <a:endParaRPr lang="en-US" sz="1750"/>
          </a:p>
        </p:txBody>
      </p:sp>
      <p:sp>
        <p:nvSpPr>
          <p:cNvPr id="13" name="Shape 9"/>
          <p:cNvSpPr/>
          <p:nvPr/>
        </p:nvSpPr>
        <p:spPr>
          <a:xfrm>
            <a:off x="9640133" y="2973586"/>
            <a:ext cx="4196358" cy="3302913"/>
          </a:xfrm>
          <a:prstGeom prst="roundRect">
            <a:avLst>
              <a:gd name="adj" fmla="val 1030"/>
            </a:avLst>
          </a:prstGeom>
          <a:solidFill>
            <a:srgbClr val="F2EEEE"/>
          </a:solidFill>
        </p:spPr>
        <p:txBody>
          <a:bodyPr/>
          <a:lstStyle/>
          <a:p>
            <a:endParaRPr/>
          </a:p>
        </p:txBody>
      </p:sp>
      <p:sp>
        <p:nvSpPr>
          <p:cNvPr id="14" name="Shape 10"/>
          <p:cNvSpPr/>
          <p:nvPr/>
        </p:nvSpPr>
        <p:spPr>
          <a:xfrm>
            <a:off x="9866948" y="3200400"/>
            <a:ext cx="680442" cy="680442"/>
          </a:xfrm>
          <a:prstGeom prst="roundRect">
            <a:avLst>
              <a:gd name="adj" fmla="val 13436980"/>
            </a:avLst>
          </a:prstGeom>
          <a:solidFill>
            <a:srgbClr val="2150FE"/>
          </a:solidFill>
        </p:spPr>
        <p:txBody>
          <a:bodyPr/>
          <a:lstStyle/>
          <a:p>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4114" y="3387447"/>
            <a:ext cx="306110" cy="306110"/>
          </a:xfrm>
          <a:prstGeom prst="rect">
            <a:avLst/>
          </a:prstGeom>
        </p:spPr>
      </p:pic>
      <p:sp>
        <p:nvSpPr>
          <p:cNvPr id="16" name="Text 11"/>
          <p:cNvSpPr/>
          <p:nvPr/>
        </p:nvSpPr>
        <p:spPr>
          <a:xfrm>
            <a:off x="9866948" y="4107656"/>
            <a:ext cx="2835950"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Preventive Maintenance</a:t>
            </a:r>
            <a:endParaRPr lang="en-US" sz="2200"/>
          </a:p>
        </p:txBody>
      </p:sp>
      <p:sp>
        <p:nvSpPr>
          <p:cNvPr id="17" name="Text 12"/>
          <p:cNvSpPr/>
          <p:nvPr/>
        </p:nvSpPr>
        <p:spPr>
          <a:xfrm>
            <a:off x="9866948" y="4598075"/>
            <a:ext cx="374273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Implement predictive maintenance schedules based on seasonal patterns to reduce mechanical delays</a:t>
            </a:r>
            <a:endParaRPr lang="en-US" sz="1750"/>
          </a:p>
        </p:txBody>
      </p:sp>
      <p:sp>
        <p:nvSpPr>
          <p:cNvPr id="18" name="Rectangle 17">
            <a:extLst>
              <a:ext uri="{FF2B5EF4-FFF2-40B4-BE49-F238E27FC236}">
                <a16:creationId xmlns:a16="http://schemas.microsoft.com/office/drawing/2014/main" id="{225BA52F-6742-5422-8C48-2D31D4A40282}"/>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912025"/>
            <a:ext cx="5962055" cy="566976"/>
          </a:xfrm>
          <a:prstGeom prst="rect">
            <a:avLst/>
          </a:prstGeom>
          <a:noFill/>
        </p:spPr>
        <p:txBody>
          <a:bodyPr wrap="none" lIns="0" tIns="0" rIns="0" bIns="0" rtlCol="0" anchor="t"/>
          <a:lstStyle/>
          <a:p>
            <a:pPr marL="0" indent="0" algn="l">
              <a:lnSpc>
                <a:spcPts val="4450"/>
              </a:lnSpc>
              <a:buNone/>
            </a:pPr>
            <a:r>
              <a:rPr lang="en-US" sz="3550">
                <a:solidFill>
                  <a:srgbClr val="152D47"/>
                </a:solidFill>
                <a:latin typeface="Crimson Pro Semi Bold" pitchFamily="34" charset="0"/>
                <a:ea typeface="Crimson Pro Semi Bold" pitchFamily="34" charset="-122"/>
                <a:cs typeface="Crimson Pro Semi Bold" pitchFamily="34" charset="-120"/>
              </a:rPr>
              <a:t>Technical Challenges Overcome</a:t>
            </a:r>
            <a:endParaRPr lang="en-US" sz="3550"/>
          </a:p>
        </p:txBody>
      </p:sp>
      <p:sp>
        <p:nvSpPr>
          <p:cNvPr id="3" name="Text 1"/>
          <p:cNvSpPr/>
          <p:nvPr/>
        </p:nvSpPr>
        <p:spPr>
          <a:xfrm>
            <a:off x="793790" y="3045976"/>
            <a:ext cx="3402330" cy="425291"/>
          </a:xfrm>
          <a:prstGeom prst="rect">
            <a:avLst/>
          </a:prstGeom>
          <a:noFill/>
        </p:spPr>
        <p:txBody>
          <a:bodyPr wrap="none" lIns="0" tIns="0" rIns="0" bIns="0" rtlCol="0" anchor="t"/>
          <a:lstStyle/>
          <a:p>
            <a:pPr marL="0" indent="0" algn="l">
              <a:lnSpc>
                <a:spcPts val="3300"/>
              </a:lnSpc>
              <a:buNone/>
            </a:pPr>
            <a:r>
              <a:rPr lang="en-US" sz="2650">
                <a:solidFill>
                  <a:srgbClr val="152D47"/>
                </a:solidFill>
                <a:latin typeface="Crimson Pro Semi Bold" pitchFamily="34" charset="0"/>
                <a:ea typeface="Crimson Pro Semi Bold" pitchFamily="34" charset="-122"/>
                <a:cs typeface="Crimson Pro Semi Bold" pitchFamily="34" charset="-120"/>
              </a:rPr>
              <a:t>Memory Management</a:t>
            </a:r>
            <a:endParaRPr lang="en-US" sz="2650"/>
          </a:p>
        </p:txBody>
      </p:sp>
      <p:sp>
        <p:nvSpPr>
          <p:cNvPr id="4" name="Text 2"/>
          <p:cNvSpPr/>
          <p:nvPr/>
        </p:nvSpPr>
        <p:spPr>
          <a:xfrm>
            <a:off x="793790" y="3698081"/>
            <a:ext cx="6244709"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Processed 1.6M flight records without system crashes by implementing chunk-based processing and efficient data streaming techniques.</a:t>
            </a:r>
            <a:endParaRPr lang="en-US" sz="1750"/>
          </a:p>
        </p:txBody>
      </p:sp>
      <p:sp>
        <p:nvSpPr>
          <p:cNvPr id="5" name="Text 3"/>
          <p:cNvSpPr/>
          <p:nvPr/>
        </p:nvSpPr>
        <p:spPr>
          <a:xfrm>
            <a:off x="793790" y="4990862"/>
            <a:ext cx="6244709" cy="1247299"/>
          </a:xfrm>
          <a:prstGeom prst="rect">
            <a:avLst/>
          </a:prstGeom>
          <a:noFill/>
        </p:spPr>
        <p:txBody>
          <a:bodyPr wrap="square" lIns="0" tIns="0" rIns="0" bIns="0" rtlCol="0" anchor="t"/>
          <a:lstStyle/>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Reduced memory footprint by 70%</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Enabled real-time analysis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Scalable for future growth</a:t>
            </a:r>
            <a:endParaRPr lang="en-US" sz="1750"/>
          </a:p>
        </p:txBody>
      </p:sp>
      <p:sp>
        <p:nvSpPr>
          <p:cNvPr id="6" name="Text 4"/>
          <p:cNvSpPr/>
          <p:nvPr/>
        </p:nvSpPr>
        <p:spPr>
          <a:xfrm>
            <a:off x="7599521" y="3045976"/>
            <a:ext cx="3402330" cy="425291"/>
          </a:xfrm>
          <a:prstGeom prst="rect">
            <a:avLst/>
          </a:prstGeom>
          <a:noFill/>
        </p:spPr>
        <p:txBody>
          <a:bodyPr wrap="none" lIns="0" tIns="0" rIns="0" bIns="0" rtlCol="0" anchor="t"/>
          <a:lstStyle/>
          <a:p>
            <a:pPr marL="0" indent="0" algn="l">
              <a:lnSpc>
                <a:spcPts val="3300"/>
              </a:lnSpc>
              <a:buNone/>
            </a:pPr>
            <a:r>
              <a:rPr lang="en-US" sz="2650">
                <a:solidFill>
                  <a:srgbClr val="152D47"/>
                </a:solidFill>
                <a:latin typeface="Crimson Pro Semi Bold" pitchFamily="34" charset="0"/>
                <a:ea typeface="Crimson Pro Semi Bold" pitchFamily="34" charset="-122"/>
                <a:cs typeface="Crimson Pro Semi Bold" pitchFamily="34" charset="-120"/>
              </a:rPr>
              <a:t>Data Mapping</a:t>
            </a:r>
            <a:endParaRPr lang="en-US" sz="2650"/>
          </a:p>
        </p:txBody>
      </p:sp>
      <p:sp>
        <p:nvSpPr>
          <p:cNvPr id="7" name="Text 5"/>
          <p:cNvSpPr/>
          <p:nvPr/>
        </p:nvSpPr>
        <p:spPr>
          <a:xfrm>
            <a:off x="7599521" y="3698081"/>
            <a:ext cx="624470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Created comprehensive lookup system mapping 3,500+ airport codes to readable names and geographic coordinates.</a:t>
            </a:r>
            <a:endParaRPr lang="en-US" sz="1750"/>
          </a:p>
        </p:txBody>
      </p:sp>
      <p:sp>
        <p:nvSpPr>
          <p:cNvPr id="8" name="Text 6"/>
          <p:cNvSpPr/>
          <p:nvPr/>
        </p:nvSpPr>
        <p:spPr>
          <a:xfrm>
            <a:off x="7599521" y="4627959"/>
            <a:ext cx="6244709" cy="1247299"/>
          </a:xfrm>
          <a:prstGeom prst="rect">
            <a:avLst/>
          </a:prstGeom>
          <a:noFill/>
        </p:spPr>
        <p:txBody>
          <a:bodyPr wrap="square" lIns="0" tIns="0" rIns="0" bIns="0" rtlCol="0" anchor="t"/>
          <a:lstStyle/>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Automated code-to-name conversion</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Handled edge cases and aliases</a:t>
            </a:r>
            <a:endParaRPr lang="en-US" sz="1750"/>
          </a:p>
          <a:p>
            <a:pPr marL="342900" indent="-342900" algn="l">
              <a:lnSpc>
                <a:spcPts val="2850"/>
              </a:lnSpc>
              <a:buSzTx/>
              <a:buChar char="•"/>
            </a:pPr>
            <a:r>
              <a:rPr lang="en-US" sz="1750">
                <a:solidFill>
                  <a:srgbClr val="4C4C4D"/>
                </a:solidFill>
                <a:latin typeface="Heebo" pitchFamily="34" charset="0"/>
                <a:ea typeface="Heebo" pitchFamily="34" charset="-122"/>
                <a:cs typeface="Heebo" pitchFamily="34" charset="-120"/>
              </a:rPr>
              <a:t>99.8% accuracy achieved</a:t>
            </a:r>
            <a:endParaRPr lang="en-US" sz="1750"/>
          </a:p>
        </p:txBody>
      </p:sp>
      <p:sp>
        <p:nvSpPr>
          <p:cNvPr id="9" name="Rectangle 8">
            <a:extLst>
              <a:ext uri="{FF2B5EF4-FFF2-40B4-BE49-F238E27FC236}">
                <a16:creationId xmlns:a16="http://schemas.microsoft.com/office/drawing/2014/main" id="{8C0E2424-E54B-8852-81D2-FFDC4CEB91C5}"/>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352086"/>
            <a:ext cx="5670590"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Final Takeaways</a:t>
            </a:r>
            <a:endParaRPr lang="en-US" sz="4450"/>
          </a:p>
        </p:txBody>
      </p:sp>
      <p:sp>
        <p:nvSpPr>
          <p:cNvPr id="3" name="Text 1"/>
          <p:cNvSpPr/>
          <p:nvPr/>
        </p:nvSpPr>
        <p:spPr>
          <a:xfrm>
            <a:off x="793790" y="4514493"/>
            <a:ext cx="13042821" cy="362903"/>
          </a:xfrm>
          <a:prstGeom prst="rect">
            <a:avLst/>
          </a:prstGeom>
          <a:noFill/>
        </p:spPr>
        <p:txBody>
          <a:bodyPr wrap="non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Key insights from the aviation data analysis project that transformed complex operational data into actionable intelligence.</a:t>
            </a:r>
            <a:endParaRPr lang="en-US" sz="1750"/>
          </a:p>
        </p:txBody>
      </p:sp>
      <p:sp>
        <p:nvSpPr>
          <p:cNvPr id="4" name="Rectangle 3">
            <a:extLst>
              <a:ext uri="{FF2B5EF4-FFF2-40B4-BE49-F238E27FC236}">
                <a16:creationId xmlns:a16="http://schemas.microsoft.com/office/drawing/2014/main" id="{A985F6A4-8855-D170-9F1F-C8D96C626CBA}"/>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82140"/>
            <a:ext cx="5950506" cy="708779"/>
          </a:xfrm>
          <a:prstGeom prst="rect">
            <a:avLst/>
          </a:prstGeom>
          <a:noFill/>
        </p:spPr>
        <p:txBody>
          <a:bodyPr wrap="none" lIns="0" tIns="0" rIns="0" bIns="0" rtlCol="0" anchor="t"/>
          <a:lstStyle/>
          <a:p>
            <a:pPr marL="0" indent="0" algn="l">
              <a:lnSpc>
                <a:spcPts val="5550"/>
              </a:lnSpc>
              <a:buNone/>
            </a:pPr>
            <a:r>
              <a:rPr lang="en-US" sz="4450" dirty="0">
                <a:solidFill>
                  <a:srgbClr val="152D47"/>
                </a:solidFill>
                <a:latin typeface="Crimson Pro Semi Bold" pitchFamily="34" charset="0"/>
                <a:ea typeface="Crimson Pro Semi Bold" pitchFamily="34" charset="-122"/>
                <a:cs typeface="Crimson Pro Semi Bold" pitchFamily="34" charset="-120"/>
              </a:rPr>
              <a:t>Project Summary</a:t>
            </a:r>
            <a:endParaRPr lang="en-US" sz="4450" dirty="0"/>
          </a:p>
        </p:txBody>
      </p:sp>
      <p:sp>
        <p:nvSpPr>
          <p:cNvPr id="3" name="Shape 1"/>
          <p:cNvSpPr/>
          <p:nvPr/>
        </p:nvSpPr>
        <p:spPr>
          <a:xfrm>
            <a:off x="793790" y="3044547"/>
            <a:ext cx="4196358" cy="3302913"/>
          </a:xfrm>
          <a:prstGeom prst="roundRect">
            <a:avLst>
              <a:gd name="adj" fmla="val 1030"/>
            </a:avLst>
          </a:prstGeom>
          <a:solidFill>
            <a:srgbClr val="F2EEEE"/>
          </a:solidFill>
        </p:spPr>
        <p:txBody>
          <a:bodyPr/>
          <a:lstStyle/>
          <a:p>
            <a:endParaRPr/>
          </a:p>
        </p:txBody>
      </p:sp>
      <p:sp>
        <p:nvSpPr>
          <p:cNvPr id="4" name="Shape 2"/>
          <p:cNvSpPr/>
          <p:nvPr/>
        </p:nvSpPr>
        <p:spPr>
          <a:xfrm>
            <a:off x="1020604" y="3271361"/>
            <a:ext cx="680442" cy="680442"/>
          </a:xfrm>
          <a:prstGeom prst="roundRect">
            <a:avLst>
              <a:gd name="adj" fmla="val 13436980"/>
            </a:avLst>
          </a:prstGeom>
          <a:solidFill>
            <a:srgbClr val="2150FE"/>
          </a:solidFill>
        </p:spPr>
        <p:txBody>
          <a:bodyPr/>
          <a:lstStyle/>
          <a:p>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07770" y="3458408"/>
            <a:ext cx="306110" cy="306110"/>
          </a:xfrm>
          <a:prstGeom prst="rect">
            <a:avLst/>
          </a:prstGeom>
        </p:spPr>
      </p:pic>
      <p:sp>
        <p:nvSpPr>
          <p:cNvPr id="6" name="Text 3"/>
          <p:cNvSpPr/>
          <p:nvPr/>
        </p:nvSpPr>
        <p:spPr>
          <a:xfrm>
            <a:off x="1020604" y="4178617"/>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Data Integrity</a:t>
            </a:r>
            <a:endParaRPr lang="en-US" sz="2200"/>
          </a:p>
        </p:txBody>
      </p:sp>
      <p:sp>
        <p:nvSpPr>
          <p:cNvPr id="7" name="Text 4"/>
          <p:cNvSpPr/>
          <p:nvPr/>
        </p:nvSpPr>
        <p:spPr>
          <a:xfrm>
            <a:off x="1020604" y="4669036"/>
            <a:ext cx="374273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Successfully preprocessed a high-volume dataset while maintaining accuracy and consistency across all records.</a:t>
            </a:r>
            <a:endParaRPr lang="en-US" sz="1750"/>
          </a:p>
        </p:txBody>
      </p:sp>
      <p:sp>
        <p:nvSpPr>
          <p:cNvPr id="8" name="Shape 5"/>
          <p:cNvSpPr/>
          <p:nvPr/>
        </p:nvSpPr>
        <p:spPr>
          <a:xfrm>
            <a:off x="5216962" y="3044547"/>
            <a:ext cx="4196358" cy="3302913"/>
          </a:xfrm>
          <a:prstGeom prst="roundRect">
            <a:avLst>
              <a:gd name="adj" fmla="val 1030"/>
            </a:avLst>
          </a:prstGeom>
          <a:solidFill>
            <a:srgbClr val="F2EEEE"/>
          </a:solidFill>
        </p:spPr>
        <p:txBody>
          <a:bodyPr/>
          <a:lstStyle/>
          <a:p>
            <a:endParaRPr/>
          </a:p>
        </p:txBody>
      </p:sp>
      <p:sp>
        <p:nvSpPr>
          <p:cNvPr id="9" name="Shape 6"/>
          <p:cNvSpPr/>
          <p:nvPr/>
        </p:nvSpPr>
        <p:spPr>
          <a:xfrm>
            <a:off x="5443776" y="3271361"/>
            <a:ext cx="680442" cy="680442"/>
          </a:xfrm>
          <a:prstGeom prst="roundRect">
            <a:avLst>
              <a:gd name="adj" fmla="val 13436980"/>
            </a:avLst>
          </a:prstGeom>
          <a:solidFill>
            <a:srgbClr val="2150FE"/>
          </a:solidFill>
        </p:spPr>
        <p:txBody>
          <a:bodyPr/>
          <a:lstStyle/>
          <a:p>
            <a:endParaRPr/>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0942" y="3458408"/>
            <a:ext cx="306110" cy="306110"/>
          </a:xfrm>
          <a:prstGeom prst="rect">
            <a:avLst/>
          </a:prstGeom>
        </p:spPr>
      </p:pic>
      <p:sp>
        <p:nvSpPr>
          <p:cNvPr id="11" name="Text 7"/>
          <p:cNvSpPr/>
          <p:nvPr/>
        </p:nvSpPr>
        <p:spPr>
          <a:xfrm>
            <a:off x="5443776" y="4178617"/>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Cascading Effects</a:t>
            </a:r>
            <a:endParaRPr lang="en-US" sz="2200"/>
          </a:p>
        </p:txBody>
      </p:sp>
      <p:sp>
        <p:nvSpPr>
          <p:cNvPr id="12" name="Text 8"/>
          <p:cNvSpPr/>
          <p:nvPr/>
        </p:nvSpPr>
        <p:spPr>
          <a:xfrm>
            <a:off x="5443776" y="4669036"/>
            <a:ext cx="3742730"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Delays are rarely caused by a single factor but result from cascading late aircraft arrivals and weather pressures.</a:t>
            </a:r>
            <a:endParaRPr lang="en-US" sz="1750"/>
          </a:p>
        </p:txBody>
      </p:sp>
      <p:sp>
        <p:nvSpPr>
          <p:cNvPr id="13" name="Shape 9"/>
          <p:cNvSpPr/>
          <p:nvPr/>
        </p:nvSpPr>
        <p:spPr>
          <a:xfrm>
            <a:off x="9640133" y="3044547"/>
            <a:ext cx="4196358" cy="3302913"/>
          </a:xfrm>
          <a:prstGeom prst="roundRect">
            <a:avLst>
              <a:gd name="adj" fmla="val 1030"/>
            </a:avLst>
          </a:prstGeom>
          <a:solidFill>
            <a:srgbClr val="F2EEEE"/>
          </a:solidFill>
        </p:spPr>
        <p:txBody>
          <a:bodyPr/>
          <a:lstStyle/>
          <a:p>
            <a:endParaRPr/>
          </a:p>
        </p:txBody>
      </p:sp>
      <p:sp>
        <p:nvSpPr>
          <p:cNvPr id="14" name="Shape 10"/>
          <p:cNvSpPr/>
          <p:nvPr/>
        </p:nvSpPr>
        <p:spPr>
          <a:xfrm>
            <a:off x="9866948" y="3271361"/>
            <a:ext cx="680442" cy="680442"/>
          </a:xfrm>
          <a:prstGeom prst="roundRect">
            <a:avLst>
              <a:gd name="adj" fmla="val 13436980"/>
            </a:avLst>
          </a:prstGeom>
          <a:solidFill>
            <a:srgbClr val="2150FE"/>
          </a:solidFill>
        </p:spPr>
        <p:txBody>
          <a:bodyPr/>
          <a:lstStyle/>
          <a:p>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4114" y="3458408"/>
            <a:ext cx="306110" cy="306110"/>
          </a:xfrm>
          <a:prstGeom prst="rect">
            <a:avLst/>
          </a:prstGeom>
        </p:spPr>
      </p:pic>
      <p:sp>
        <p:nvSpPr>
          <p:cNvPr id="16" name="Text 11"/>
          <p:cNvSpPr/>
          <p:nvPr/>
        </p:nvSpPr>
        <p:spPr>
          <a:xfrm>
            <a:off x="9866948" y="4178617"/>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Visual Impact</a:t>
            </a:r>
            <a:endParaRPr lang="en-US" sz="2200"/>
          </a:p>
        </p:txBody>
      </p:sp>
      <p:sp>
        <p:nvSpPr>
          <p:cNvPr id="17" name="Text 12"/>
          <p:cNvSpPr/>
          <p:nvPr/>
        </p:nvSpPr>
        <p:spPr>
          <a:xfrm>
            <a:off x="9866948" y="4669036"/>
            <a:ext cx="3742730" cy="1088708"/>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Proven that complex aviation data can be made simple and intuitive through clean visualization.</a:t>
            </a:r>
            <a:endParaRPr lang="en-US" sz="1750"/>
          </a:p>
        </p:txBody>
      </p:sp>
      <p:sp>
        <p:nvSpPr>
          <p:cNvPr id="18" name="Rectangle 17">
            <a:extLst>
              <a:ext uri="{FF2B5EF4-FFF2-40B4-BE49-F238E27FC236}">
                <a16:creationId xmlns:a16="http://schemas.microsoft.com/office/drawing/2014/main" id="{7673FA26-CD95-6806-A89C-150447712BC4}"/>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54505"/>
            <a:ext cx="9408319"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Key Finding: The Cascading Delay Effect</a:t>
            </a:r>
            <a:endParaRPr lang="en-US" sz="4450"/>
          </a:p>
        </p:txBody>
      </p:sp>
      <p:sp>
        <p:nvSpPr>
          <p:cNvPr id="3" name="Text 1"/>
          <p:cNvSpPr/>
          <p:nvPr/>
        </p:nvSpPr>
        <p:spPr>
          <a:xfrm>
            <a:off x="793790" y="2916912"/>
            <a:ext cx="13042821"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Our analysis revealed that delays in aviation operations are rarely attributable to a single cause. Instead, they emerge from interconnected pressures that compound over time.</a:t>
            </a:r>
            <a:endParaRPr lang="en-US" sz="1750"/>
          </a:p>
        </p:txBody>
      </p:sp>
      <p:pic>
        <p:nvPicPr>
          <p:cNvPr id="4" name="Image 0" descr="preencoded.png"/>
          <p:cNvPicPr>
            <a:picLocks noChangeAspect="1"/>
          </p:cNvPicPr>
          <p:nvPr/>
        </p:nvPicPr>
        <p:blipFill>
          <a:blip r:embed="rId3"/>
          <a:stretch>
            <a:fillRect/>
          </a:stretch>
        </p:blipFill>
        <p:spPr>
          <a:xfrm>
            <a:off x="793790" y="3897868"/>
            <a:ext cx="4347567" cy="907256"/>
          </a:xfrm>
          <a:prstGeom prst="rect">
            <a:avLst/>
          </a:prstGeom>
        </p:spPr>
      </p:pic>
      <p:sp>
        <p:nvSpPr>
          <p:cNvPr id="5" name="Text 2"/>
          <p:cNvSpPr/>
          <p:nvPr/>
        </p:nvSpPr>
        <p:spPr>
          <a:xfrm>
            <a:off x="1020604" y="503193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Late Arrivals</a:t>
            </a:r>
            <a:endParaRPr lang="en-US" sz="2200"/>
          </a:p>
        </p:txBody>
      </p:sp>
      <p:sp>
        <p:nvSpPr>
          <p:cNvPr id="6" name="Text 3"/>
          <p:cNvSpPr/>
          <p:nvPr/>
        </p:nvSpPr>
        <p:spPr>
          <a:xfrm>
            <a:off x="1020604" y="5522357"/>
            <a:ext cx="389393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Aircraft arriving behind schedule create downstream effects</a:t>
            </a:r>
            <a:endParaRPr lang="en-US" sz="1750"/>
          </a:p>
        </p:txBody>
      </p:sp>
      <p:pic>
        <p:nvPicPr>
          <p:cNvPr id="7" name="Image 1" descr="preencoded.png"/>
          <p:cNvPicPr>
            <a:picLocks noChangeAspect="1"/>
          </p:cNvPicPr>
          <p:nvPr/>
        </p:nvPicPr>
        <p:blipFill>
          <a:blip r:embed="rId4"/>
          <a:stretch>
            <a:fillRect/>
          </a:stretch>
        </p:blipFill>
        <p:spPr>
          <a:xfrm>
            <a:off x="5141357" y="3897868"/>
            <a:ext cx="4347567" cy="907256"/>
          </a:xfrm>
          <a:prstGeom prst="rect">
            <a:avLst/>
          </a:prstGeom>
        </p:spPr>
      </p:pic>
      <p:sp>
        <p:nvSpPr>
          <p:cNvPr id="8" name="Text 4"/>
          <p:cNvSpPr/>
          <p:nvPr/>
        </p:nvSpPr>
        <p:spPr>
          <a:xfrm>
            <a:off x="5368171" y="503193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Weather Pressures</a:t>
            </a:r>
            <a:endParaRPr lang="en-US" sz="2200"/>
          </a:p>
        </p:txBody>
      </p:sp>
      <p:sp>
        <p:nvSpPr>
          <p:cNvPr id="9" name="Text 5"/>
          <p:cNvSpPr/>
          <p:nvPr/>
        </p:nvSpPr>
        <p:spPr>
          <a:xfrm>
            <a:off x="5368171" y="5522357"/>
            <a:ext cx="389393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Adverse conditions amplify existing delays and create new bottlenecks</a:t>
            </a:r>
            <a:endParaRPr lang="en-US" sz="1750"/>
          </a:p>
        </p:txBody>
      </p:sp>
      <p:pic>
        <p:nvPicPr>
          <p:cNvPr id="10" name="Image 2" descr="preencoded.png"/>
          <p:cNvPicPr>
            <a:picLocks noChangeAspect="1"/>
          </p:cNvPicPr>
          <p:nvPr/>
        </p:nvPicPr>
        <p:blipFill>
          <a:blip r:embed="rId5"/>
          <a:stretch>
            <a:fillRect/>
          </a:stretch>
        </p:blipFill>
        <p:spPr>
          <a:xfrm>
            <a:off x="9488924" y="3897868"/>
            <a:ext cx="4347567" cy="907256"/>
          </a:xfrm>
          <a:prstGeom prst="rect">
            <a:avLst/>
          </a:prstGeom>
        </p:spPr>
      </p:pic>
      <p:sp>
        <p:nvSpPr>
          <p:cNvPr id="11" name="Text 6"/>
          <p:cNvSpPr/>
          <p:nvPr/>
        </p:nvSpPr>
        <p:spPr>
          <a:xfrm>
            <a:off x="9715738" y="503193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Compounded Impact</a:t>
            </a:r>
            <a:endParaRPr lang="en-US" sz="2200"/>
          </a:p>
        </p:txBody>
      </p:sp>
      <p:sp>
        <p:nvSpPr>
          <p:cNvPr id="12" name="Text 7"/>
          <p:cNvSpPr/>
          <p:nvPr/>
        </p:nvSpPr>
        <p:spPr>
          <a:xfrm>
            <a:off x="9715738" y="5522357"/>
            <a:ext cx="3893939"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Multiple factors interact, creating cascading effects across the network</a:t>
            </a:r>
            <a:endParaRPr lang="en-US" sz="1750"/>
          </a:p>
        </p:txBody>
      </p:sp>
      <p:sp>
        <p:nvSpPr>
          <p:cNvPr id="13" name="Rectangle 12">
            <a:extLst>
              <a:ext uri="{FF2B5EF4-FFF2-40B4-BE49-F238E27FC236}">
                <a16:creationId xmlns:a16="http://schemas.microsoft.com/office/drawing/2014/main" id="{F00EB391-117D-7702-489D-0CA8761B7912}"/>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29734"/>
            <a:ext cx="8864084"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Transforming Complexity into Clarity</a:t>
            </a:r>
            <a:endParaRPr lang="en-US" sz="4450"/>
          </a:p>
        </p:txBody>
      </p:sp>
      <p:sp>
        <p:nvSpPr>
          <p:cNvPr id="3" name="Shape 1"/>
          <p:cNvSpPr/>
          <p:nvPr/>
        </p:nvSpPr>
        <p:spPr>
          <a:xfrm>
            <a:off x="1133951" y="2459117"/>
            <a:ext cx="6067663" cy="226814"/>
          </a:xfrm>
          <a:prstGeom prst="roundRect">
            <a:avLst>
              <a:gd name="adj" fmla="val 15001"/>
            </a:avLst>
          </a:prstGeom>
          <a:solidFill>
            <a:srgbClr val="F2EEEE"/>
          </a:solidFill>
        </p:spPr>
        <p:txBody>
          <a:bodyPr/>
          <a:lstStyle/>
          <a:p>
            <a:endParaRPr/>
          </a:p>
        </p:txBody>
      </p:sp>
      <p:sp>
        <p:nvSpPr>
          <p:cNvPr id="4" name="Shape 2"/>
          <p:cNvSpPr/>
          <p:nvPr/>
        </p:nvSpPr>
        <p:spPr>
          <a:xfrm>
            <a:off x="793790" y="2232243"/>
            <a:ext cx="680442" cy="680442"/>
          </a:xfrm>
          <a:prstGeom prst="roundRect">
            <a:avLst>
              <a:gd name="adj" fmla="val 67192"/>
            </a:avLst>
          </a:prstGeom>
          <a:solidFill>
            <a:srgbClr val="F2EEEE"/>
          </a:solidFill>
        </p:spPr>
        <p:txBody>
          <a:bodyPr/>
          <a:lstStyle/>
          <a:p>
            <a:endParaRP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3930" y="2402384"/>
            <a:ext cx="340162" cy="340162"/>
          </a:xfrm>
          <a:prstGeom prst="rect">
            <a:avLst/>
          </a:prstGeom>
        </p:spPr>
      </p:pic>
      <p:sp>
        <p:nvSpPr>
          <p:cNvPr id="6" name="Text 3"/>
          <p:cNvSpPr/>
          <p:nvPr/>
        </p:nvSpPr>
        <p:spPr>
          <a:xfrm>
            <a:off x="1020604" y="3139559"/>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Raw Data</a:t>
            </a:r>
            <a:endParaRPr lang="en-US" sz="2200"/>
          </a:p>
        </p:txBody>
      </p:sp>
      <p:sp>
        <p:nvSpPr>
          <p:cNvPr id="7" name="Text 4"/>
          <p:cNvSpPr/>
          <p:nvPr/>
        </p:nvSpPr>
        <p:spPr>
          <a:xfrm>
            <a:off x="1020604" y="3629978"/>
            <a:ext cx="5954316"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High-volume, complex operational datasets with multiple variables and time-series elements</a:t>
            </a:r>
            <a:endParaRPr lang="en-US" sz="1750"/>
          </a:p>
        </p:txBody>
      </p:sp>
      <p:sp>
        <p:nvSpPr>
          <p:cNvPr id="8" name="Shape 5"/>
          <p:cNvSpPr/>
          <p:nvPr/>
        </p:nvSpPr>
        <p:spPr>
          <a:xfrm>
            <a:off x="7768709" y="2118955"/>
            <a:ext cx="6067782" cy="226814"/>
          </a:xfrm>
          <a:prstGeom prst="roundRect">
            <a:avLst>
              <a:gd name="adj" fmla="val 15001"/>
            </a:avLst>
          </a:prstGeom>
          <a:solidFill>
            <a:srgbClr val="F2EEEE"/>
          </a:solidFill>
        </p:spPr>
        <p:txBody>
          <a:bodyPr/>
          <a:lstStyle/>
          <a:p>
            <a:endParaRPr/>
          </a:p>
        </p:txBody>
      </p:sp>
      <p:sp>
        <p:nvSpPr>
          <p:cNvPr id="9" name="Shape 6"/>
          <p:cNvSpPr/>
          <p:nvPr/>
        </p:nvSpPr>
        <p:spPr>
          <a:xfrm>
            <a:off x="7428548" y="1892082"/>
            <a:ext cx="680442" cy="680442"/>
          </a:xfrm>
          <a:prstGeom prst="roundRect">
            <a:avLst>
              <a:gd name="adj" fmla="val 67192"/>
            </a:avLst>
          </a:prstGeom>
          <a:solidFill>
            <a:srgbClr val="F2EEEE"/>
          </a:solidFill>
        </p:spPr>
        <p:txBody>
          <a:bodyPr/>
          <a:lstStyle/>
          <a:p>
            <a:endParaRPr/>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98688" y="2062222"/>
            <a:ext cx="340162" cy="340162"/>
          </a:xfrm>
          <a:prstGeom prst="rect">
            <a:avLst/>
          </a:prstGeom>
        </p:spPr>
      </p:pic>
      <p:sp>
        <p:nvSpPr>
          <p:cNvPr id="11" name="Text 7"/>
          <p:cNvSpPr/>
          <p:nvPr/>
        </p:nvSpPr>
        <p:spPr>
          <a:xfrm>
            <a:off x="7655362" y="279939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Processing</a:t>
            </a:r>
            <a:endParaRPr lang="en-US" sz="2200"/>
          </a:p>
        </p:txBody>
      </p:sp>
      <p:sp>
        <p:nvSpPr>
          <p:cNvPr id="12" name="Text 8"/>
          <p:cNvSpPr/>
          <p:nvPr/>
        </p:nvSpPr>
        <p:spPr>
          <a:xfrm>
            <a:off x="7655362" y="3289816"/>
            <a:ext cx="5954435"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Clean preprocessing pipeline maintains data integrity while standardizing formats and removing anomalies</a:t>
            </a:r>
            <a:endParaRPr lang="en-US" sz="1750"/>
          </a:p>
        </p:txBody>
      </p:sp>
      <p:sp>
        <p:nvSpPr>
          <p:cNvPr id="13" name="Shape 9"/>
          <p:cNvSpPr/>
          <p:nvPr/>
        </p:nvSpPr>
        <p:spPr>
          <a:xfrm>
            <a:off x="1133951" y="5376386"/>
            <a:ext cx="6067663" cy="226814"/>
          </a:xfrm>
          <a:prstGeom prst="roundRect">
            <a:avLst>
              <a:gd name="adj" fmla="val 15001"/>
            </a:avLst>
          </a:prstGeom>
          <a:solidFill>
            <a:srgbClr val="F2EEEE"/>
          </a:solidFill>
        </p:spPr>
        <p:txBody>
          <a:bodyPr/>
          <a:lstStyle/>
          <a:p>
            <a:endParaRPr/>
          </a:p>
        </p:txBody>
      </p:sp>
      <p:sp>
        <p:nvSpPr>
          <p:cNvPr id="14" name="Shape 10"/>
          <p:cNvSpPr/>
          <p:nvPr/>
        </p:nvSpPr>
        <p:spPr>
          <a:xfrm>
            <a:off x="793790" y="5149513"/>
            <a:ext cx="680442" cy="680442"/>
          </a:xfrm>
          <a:prstGeom prst="roundRect">
            <a:avLst>
              <a:gd name="adj" fmla="val 67192"/>
            </a:avLst>
          </a:prstGeom>
          <a:solidFill>
            <a:srgbClr val="F2EEEE"/>
          </a:solidFill>
        </p:spPr>
        <p:txBody>
          <a:bodyPr/>
          <a:lstStyle/>
          <a:p>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3930" y="5319653"/>
            <a:ext cx="340162" cy="340162"/>
          </a:xfrm>
          <a:prstGeom prst="rect">
            <a:avLst/>
          </a:prstGeom>
        </p:spPr>
      </p:pic>
      <p:sp>
        <p:nvSpPr>
          <p:cNvPr id="16" name="Text 11"/>
          <p:cNvSpPr/>
          <p:nvPr/>
        </p:nvSpPr>
        <p:spPr>
          <a:xfrm>
            <a:off x="1020604" y="6056828"/>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Visualization</a:t>
            </a:r>
            <a:endParaRPr lang="en-US" sz="2200"/>
          </a:p>
        </p:txBody>
      </p:sp>
      <p:sp>
        <p:nvSpPr>
          <p:cNvPr id="17" name="Text 12"/>
          <p:cNvSpPr/>
          <p:nvPr/>
        </p:nvSpPr>
        <p:spPr>
          <a:xfrm>
            <a:off x="1020604" y="6547247"/>
            <a:ext cx="5954316"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Intuitive, clean visualizations make patterns and correlations immediately accessible to operations teams</a:t>
            </a:r>
            <a:endParaRPr lang="en-US" sz="1750"/>
          </a:p>
        </p:txBody>
      </p:sp>
      <p:sp>
        <p:nvSpPr>
          <p:cNvPr id="18" name="Shape 13"/>
          <p:cNvSpPr/>
          <p:nvPr/>
        </p:nvSpPr>
        <p:spPr>
          <a:xfrm>
            <a:off x="7768709" y="5036225"/>
            <a:ext cx="6067782" cy="226814"/>
          </a:xfrm>
          <a:prstGeom prst="roundRect">
            <a:avLst>
              <a:gd name="adj" fmla="val 15001"/>
            </a:avLst>
          </a:prstGeom>
          <a:solidFill>
            <a:srgbClr val="F2EEEE"/>
          </a:solidFill>
        </p:spPr>
        <p:txBody>
          <a:bodyPr/>
          <a:lstStyle/>
          <a:p>
            <a:endParaRPr/>
          </a:p>
        </p:txBody>
      </p:sp>
      <p:sp>
        <p:nvSpPr>
          <p:cNvPr id="19" name="Shape 14"/>
          <p:cNvSpPr/>
          <p:nvPr/>
        </p:nvSpPr>
        <p:spPr>
          <a:xfrm>
            <a:off x="7428548" y="4809351"/>
            <a:ext cx="680442" cy="680442"/>
          </a:xfrm>
          <a:prstGeom prst="roundRect">
            <a:avLst>
              <a:gd name="adj" fmla="val 67192"/>
            </a:avLst>
          </a:prstGeom>
          <a:solidFill>
            <a:srgbClr val="F2EEEE"/>
          </a:solidFill>
        </p:spPr>
        <p:txBody>
          <a:bodyPr/>
          <a:lstStyle/>
          <a:p>
            <a:endParaRPr/>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98688" y="4979491"/>
            <a:ext cx="340162" cy="340162"/>
          </a:xfrm>
          <a:prstGeom prst="rect">
            <a:avLst/>
          </a:prstGeom>
        </p:spPr>
      </p:pic>
      <p:sp>
        <p:nvSpPr>
          <p:cNvPr id="21" name="Text 15"/>
          <p:cNvSpPr/>
          <p:nvPr/>
        </p:nvSpPr>
        <p:spPr>
          <a:xfrm>
            <a:off x="7655362" y="5716667"/>
            <a:ext cx="2835235" cy="354330"/>
          </a:xfrm>
          <a:prstGeom prst="rect">
            <a:avLst/>
          </a:prstGeom>
          <a:noFill/>
        </p:spPr>
        <p:txBody>
          <a:bodyPr wrap="none" lIns="0" tIns="0" rIns="0" bIns="0" rtlCol="0" anchor="t"/>
          <a:lstStyle/>
          <a:p>
            <a:pPr marL="0" indent="0" algn="l">
              <a:lnSpc>
                <a:spcPts val="2750"/>
              </a:lnSpc>
              <a:buNone/>
            </a:pPr>
            <a:r>
              <a:rPr lang="en-US" sz="2200">
                <a:solidFill>
                  <a:srgbClr val="4C4C4D"/>
                </a:solidFill>
                <a:latin typeface="Crimson Pro Semi Bold" pitchFamily="34" charset="0"/>
                <a:ea typeface="Crimson Pro Semi Bold" pitchFamily="34" charset="-122"/>
                <a:cs typeface="Crimson Pro Semi Bold" pitchFamily="34" charset="-120"/>
              </a:rPr>
              <a:t>Actionable Insights</a:t>
            </a:r>
            <a:endParaRPr lang="en-US" sz="2200"/>
          </a:p>
        </p:txBody>
      </p:sp>
      <p:sp>
        <p:nvSpPr>
          <p:cNvPr id="22" name="Text 16"/>
          <p:cNvSpPr/>
          <p:nvPr/>
        </p:nvSpPr>
        <p:spPr>
          <a:xfrm>
            <a:off x="7655362" y="6207085"/>
            <a:ext cx="5954435" cy="725805"/>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Data-driven intelligence that supports operational decisions and strategic planning</a:t>
            </a:r>
            <a:endParaRPr lang="en-US" sz="1750"/>
          </a:p>
        </p:txBody>
      </p:sp>
      <p:sp>
        <p:nvSpPr>
          <p:cNvPr id="23" name="Rectangle 22">
            <a:extLst>
              <a:ext uri="{FF2B5EF4-FFF2-40B4-BE49-F238E27FC236}">
                <a16:creationId xmlns:a16="http://schemas.microsoft.com/office/drawing/2014/main" id="{1FF3EE8A-1F84-D5B7-88AF-A063DAB4C6B7}"/>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58509"/>
            <a:ext cx="5670590" cy="708779"/>
          </a:xfrm>
          <a:prstGeom prst="rect">
            <a:avLst/>
          </a:prstGeom>
          <a:noFill/>
        </p:spPr>
        <p:txBody>
          <a:bodyPr wrap="none" lIns="0" tIns="0" rIns="0" bIns="0" rtlCol="0" anchor="t"/>
          <a:lstStyle/>
          <a:p>
            <a:pPr marL="0" indent="0" algn="l">
              <a:lnSpc>
                <a:spcPts val="5550"/>
              </a:lnSpc>
              <a:buNone/>
            </a:pPr>
            <a:r>
              <a:rPr lang="en-US" sz="4450">
                <a:solidFill>
                  <a:srgbClr val="152D47"/>
                </a:solidFill>
                <a:latin typeface="Crimson Pro Semi Bold" pitchFamily="34" charset="0"/>
                <a:ea typeface="Crimson Pro Semi Bold" pitchFamily="34" charset="-122"/>
                <a:cs typeface="Crimson Pro Semi Bold" pitchFamily="34" charset="-120"/>
              </a:rPr>
              <a:t>Strategic Implications</a:t>
            </a:r>
            <a:endParaRPr lang="en-US" sz="4450"/>
          </a:p>
        </p:txBody>
      </p:sp>
      <p:sp>
        <p:nvSpPr>
          <p:cNvPr id="3" name="Text 1"/>
          <p:cNvSpPr/>
          <p:nvPr/>
        </p:nvSpPr>
        <p:spPr>
          <a:xfrm>
            <a:off x="793790" y="3634264"/>
            <a:ext cx="2835235"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Operational Impact</a:t>
            </a:r>
            <a:endParaRPr lang="en-US" sz="2200"/>
          </a:p>
        </p:txBody>
      </p:sp>
      <p:sp>
        <p:nvSpPr>
          <p:cNvPr id="4" name="Text 2"/>
          <p:cNvSpPr/>
          <p:nvPr/>
        </p:nvSpPr>
        <p:spPr>
          <a:xfrm>
            <a:off x="793790" y="4215408"/>
            <a:ext cx="6244709"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Understanding cascading delays enables proactive management strategies rather than reactive responses. Operations teams can identify vulnerability points in schedules and implement buffer time strategically.</a:t>
            </a:r>
            <a:endParaRPr lang="en-US" sz="1750"/>
          </a:p>
        </p:txBody>
      </p:sp>
      <p:sp>
        <p:nvSpPr>
          <p:cNvPr id="5" name="Text 3"/>
          <p:cNvSpPr/>
          <p:nvPr/>
        </p:nvSpPr>
        <p:spPr>
          <a:xfrm>
            <a:off x="7599521" y="3634264"/>
            <a:ext cx="2835235" cy="354330"/>
          </a:xfrm>
          <a:prstGeom prst="rect">
            <a:avLst/>
          </a:prstGeom>
          <a:noFill/>
        </p:spPr>
        <p:txBody>
          <a:bodyPr wrap="none" lIns="0" tIns="0" rIns="0" bIns="0" rtlCol="0" anchor="t"/>
          <a:lstStyle/>
          <a:p>
            <a:pPr marL="0" indent="0" algn="l">
              <a:lnSpc>
                <a:spcPts val="2750"/>
              </a:lnSpc>
              <a:buNone/>
            </a:pPr>
            <a:r>
              <a:rPr lang="en-US" sz="2200">
                <a:solidFill>
                  <a:srgbClr val="152D47"/>
                </a:solidFill>
                <a:latin typeface="Crimson Pro Semi Bold" pitchFamily="34" charset="0"/>
                <a:ea typeface="Crimson Pro Semi Bold" pitchFamily="34" charset="-122"/>
                <a:cs typeface="Crimson Pro Semi Bold" pitchFamily="34" charset="-120"/>
              </a:rPr>
              <a:t>Visualization Approach</a:t>
            </a:r>
            <a:endParaRPr lang="en-US" sz="2200"/>
          </a:p>
        </p:txBody>
      </p:sp>
      <p:sp>
        <p:nvSpPr>
          <p:cNvPr id="6" name="Text 4"/>
          <p:cNvSpPr/>
          <p:nvPr/>
        </p:nvSpPr>
        <p:spPr>
          <a:xfrm>
            <a:off x="7599521" y="4215408"/>
            <a:ext cx="6244709" cy="1451610"/>
          </a:xfrm>
          <a:prstGeom prst="rect">
            <a:avLst/>
          </a:prstGeom>
          <a:noFill/>
        </p:spPr>
        <p:txBody>
          <a:bodyPr wrap="square" lIns="0" tIns="0" rIns="0" bIns="0" rtlCol="0" anchor="t"/>
          <a:lstStyle/>
          <a:p>
            <a:pPr marL="0" indent="0" algn="l">
              <a:lnSpc>
                <a:spcPts val="2850"/>
              </a:lnSpc>
              <a:buNone/>
            </a:pPr>
            <a:r>
              <a:rPr lang="en-US" sz="1750">
                <a:solidFill>
                  <a:srgbClr val="4C4C4D"/>
                </a:solidFill>
                <a:latin typeface="Heebo" pitchFamily="34" charset="0"/>
                <a:ea typeface="Heebo" pitchFamily="34" charset="-122"/>
                <a:cs typeface="Heebo" pitchFamily="34" charset="-120"/>
              </a:rPr>
              <a:t>Our clean visualization methodology demonstrates that complex aviation data can be made intuitive. This approach reduces cognitive load and accelerates decision-making for time-pressed operations managers.</a:t>
            </a:r>
            <a:endParaRPr lang="en-US" sz="1750"/>
          </a:p>
        </p:txBody>
      </p:sp>
      <p:sp>
        <p:nvSpPr>
          <p:cNvPr id="7" name="Rectangle 6">
            <a:extLst>
              <a:ext uri="{FF2B5EF4-FFF2-40B4-BE49-F238E27FC236}">
                <a16:creationId xmlns:a16="http://schemas.microsoft.com/office/drawing/2014/main" id="{32F10CD0-F47B-6ED4-A982-B2D7C2CFB790}"/>
              </a:ext>
            </a:extLst>
          </p:cNvPr>
          <p:cNvSpPr/>
          <p:nvPr/>
        </p:nvSpPr>
        <p:spPr>
          <a:xfrm>
            <a:off x="12427768" y="7283152"/>
            <a:ext cx="2129987"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36"/>
  <p:tag name="AS_OS" val="Unix 5.4.0.212"/>
  <p:tag name="AS_RELEASE_DATE" val="2024.02.14"/>
  <p:tag name="AS_TITLE" val="Aspose.Slides for .NET6"/>
  <p:tag name="AS_VERSION" val="2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2300</Words>
  <Application>Microsoft Office PowerPoint</Application>
  <PresentationFormat>Custom</PresentationFormat>
  <Paragraphs>337</Paragraphs>
  <Slides>33</Slides>
  <Notes>33</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33</vt:i4>
      </vt:variant>
    </vt:vector>
  </HeadingPairs>
  <TitlesOfParts>
    <vt:vector size="46" baseType="lpstr">
      <vt:lpstr>Crimson Pro Light</vt:lpstr>
      <vt:lpstr>Heebo</vt:lpstr>
      <vt:lpstr>Calibri</vt:lpstr>
      <vt:lpstr>Crimson Pro Semi Bold</vt:lpstr>
      <vt:lpstr>Consolas</vt:lpstr>
      <vt:lpstr>Arial</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Siddarth V Acharya</cp:lastModifiedBy>
  <cp:revision>3</cp:revision>
  <cp:lastPrinted>2026-04-02T01:48:00Z</cp:lastPrinted>
  <dcterms:created xsi:type="dcterms:W3CDTF">2026-04-02T01:48:00Z</dcterms:created>
  <dcterms:modified xsi:type="dcterms:W3CDTF">2026-04-02T02:17:01Z</dcterms:modified>
</cp:coreProperties>
</file>